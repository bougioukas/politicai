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5" r:id="rId3"/>
    <p:sldId id="307" r:id="rId4"/>
    <p:sldId id="325" r:id="rId5"/>
    <p:sldId id="317" r:id="rId6"/>
    <p:sldId id="309" r:id="rId7"/>
    <p:sldId id="323" r:id="rId8"/>
    <p:sldId id="326" r:id="rId9"/>
    <p:sldId id="322" r:id="rId10"/>
    <p:sldId id="311" r:id="rId11"/>
    <p:sldId id="331" r:id="rId12"/>
    <p:sldId id="318" r:id="rId13"/>
    <p:sldId id="333" r:id="rId14"/>
    <p:sldId id="334" r:id="rId15"/>
    <p:sldId id="319" r:id="rId16"/>
    <p:sldId id="336" r:id="rId17"/>
    <p:sldId id="337" r:id="rId18"/>
    <p:sldId id="328" r:id="rId19"/>
    <p:sldId id="330" r:id="rId20"/>
    <p:sldId id="335" r:id="rId21"/>
    <p:sldId id="3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8F1"/>
    <a:srgbClr val="C8E5C1"/>
    <a:srgbClr val="720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86030" autoAdjust="0"/>
  </p:normalViewPr>
  <p:slideViewPr>
    <p:cSldViewPr>
      <p:cViewPr varScale="1">
        <p:scale>
          <a:sx n="63" d="100"/>
          <a:sy n="63" d="100"/>
        </p:scale>
        <p:origin x="128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3/2/2026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3/2/2026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Self-driving cars. A control system based on reinforcement learning is used to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adjust acceleration, braking and steering.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Automated financial trading. The reward is based on the profit or loss for each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trade. The reinforcement learning Environment is built using historical stock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prices.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Recommendation systems. The reward is given when, for example, the users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on an item. Real-time learning improves the machine learning model or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recommendation systems are trained on historical data.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Traffic light control.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Logistics and supply chain optimization.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Control and industrial applications, e.g., for optimizing energy consumption,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efficient equipment tuning, etc.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Optimizing treatment policies or medication dosage in healthcare.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Advertising optimization.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Various types of automation.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Robotics.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Automated game play.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97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small k can overfit (too sensitive), and a large k can underfit (too smooth).</a:t>
            </a:r>
          </a:p>
          <a:p>
            <a:r>
              <a:rPr lang="en-GB" dirty="0"/>
              <a:t>Finding the right value of k usually requires cross‑validation.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564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4C26-70B6-72BE-235C-B00D80E0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3F3DA-FF33-30A1-8CF9-89DD6BC0A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5DDC6-7810-380C-97A7-FF08F1DA2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8B87-7317-19BA-EB5B-F1DAC72D7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476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534F-2F2F-BD5B-D54B-D227C59A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E99EC-A24B-236B-C95D-4B6CA3B80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3C593-78FF-A63E-4825-C4AFFFC55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small k can overfit (too sensitive), and a large k can underfit (too smooth).</a:t>
            </a:r>
          </a:p>
          <a:p>
            <a:r>
              <a:rPr lang="en-GB" dirty="0"/>
              <a:t>Finding the right value of k usually requires cross‑validation.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86DA8-1239-8F8B-647F-DFE543791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91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2.png"/><Relationship Id="rId2" Type="http://schemas.openxmlformats.org/officeDocument/2006/relationships/image" Target="../media/image6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165763"/>
            <a:ext cx="10515600" cy="1711037"/>
          </a:xfrm>
        </p:spPr>
        <p:txBody>
          <a:bodyPr/>
          <a:lstStyle/>
          <a:p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/>
                <a:ea typeface="+mj-ea"/>
                <a:cs typeface="+mj-cs"/>
              </a:rPr>
              <a:t>Machine Learning Algorithms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Konstantinos I. Bougioukas, MSc, PhD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CBCA96-627F-4168-C51B-08F79FDA1002}"/>
              </a:ext>
            </a:extLst>
          </p:cNvPr>
          <p:cNvSpPr txBox="1">
            <a:spLocks/>
          </p:cNvSpPr>
          <p:nvPr/>
        </p:nvSpPr>
        <p:spPr bwMode="white">
          <a:xfrm>
            <a:off x="11353800" y="6515100"/>
            <a:ext cx="1295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DCF7A-4B15-4C0C-C067-EA25232592FC}"/>
              </a:ext>
            </a:extLst>
          </p:cNvPr>
          <p:cNvSpPr/>
          <p:nvPr/>
        </p:nvSpPr>
        <p:spPr>
          <a:xfrm>
            <a:off x="685800" y="615390"/>
            <a:ext cx="11277600" cy="6019801"/>
          </a:xfrm>
          <a:prstGeom prst="rect">
            <a:avLst/>
          </a:prstGeom>
          <a:noFill/>
          <a:ln w="76200">
            <a:solidFill>
              <a:srgbClr val="FC68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15742-0471-2075-35BC-6277A9ADBFC1}"/>
              </a:ext>
            </a:extLst>
          </p:cNvPr>
          <p:cNvSpPr txBox="1"/>
          <p:nvPr/>
        </p:nvSpPr>
        <p:spPr>
          <a:xfrm>
            <a:off x="1371600" y="741551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C68F1"/>
                </a:solidFill>
              </a:rPr>
              <a:t>AI</a:t>
            </a:r>
            <a:endParaRPr lang="en-GB" sz="3200" b="1" dirty="0">
              <a:solidFill>
                <a:srgbClr val="FC68F1"/>
              </a:solidFill>
            </a:endParaRPr>
          </a:p>
        </p:txBody>
      </p:sp>
      <p:pic>
        <p:nvPicPr>
          <p:cNvPr id="1032" name="Picture 8" descr="Computer - Free computer icons">
            <a:extLst>
              <a:ext uri="{FF2B5EF4-FFF2-40B4-BE49-F238E27FC236}">
                <a16:creationId xmlns:a16="http://schemas.microsoft.com/office/drawing/2014/main" id="{FDACF4E2-6447-735D-5BF7-5398C115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611" y="77203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B01DAA-4B19-6617-B8E5-C7DC9A538A5B}"/>
              </a:ext>
            </a:extLst>
          </p:cNvPr>
          <p:cNvSpPr txBox="1"/>
          <p:nvPr/>
        </p:nvSpPr>
        <p:spPr>
          <a:xfrm>
            <a:off x="2747211" y="618439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C68F1"/>
                </a:solidFill>
              </a:rPr>
              <a:t>≥</a:t>
            </a:r>
            <a:endParaRPr lang="en-GB" sz="4800" b="1" dirty="0">
              <a:solidFill>
                <a:srgbClr val="FC68F1"/>
              </a:solidFill>
            </a:endParaRPr>
          </a:p>
        </p:txBody>
      </p:sp>
      <p:pic>
        <p:nvPicPr>
          <p:cNvPr id="1036" name="Picture 12" descr="Printable Wall Art, Smiley Face Print, Smile Print, White on ...">
            <a:extLst>
              <a:ext uri="{FF2B5EF4-FFF2-40B4-BE49-F238E27FC236}">
                <a16:creationId xmlns:a16="http://schemas.microsoft.com/office/drawing/2014/main" id="{F99D119F-E880-29D2-F6E3-F1DBF87C6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65046"/>
            <a:ext cx="650486" cy="81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E3F71D-F564-7EDF-D46A-E858BB2AA500}"/>
              </a:ext>
            </a:extLst>
          </p:cNvPr>
          <p:cNvSpPr txBox="1"/>
          <p:nvPr/>
        </p:nvSpPr>
        <p:spPr>
          <a:xfrm>
            <a:off x="5524902" y="682227"/>
            <a:ext cx="5604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C68F1"/>
                </a:solidFill>
              </a:rPr>
              <a:t>Symbolic AI (LISP, PROLOG)</a:t>
            </a:r>
            <a:endParaRPr lang="en-GB" sz="3200" b="1" dirty="0">
              <a:solidFill>
                <a:srgbClr val="FC68F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F9B3E-E8C2-52BB-B062-342C62F24636}"/>
              </a:ext>
            </a:extLst>
          </p:cNvPr>
          <p:cNvSpPr txBox="1"/>
          <p:nvPr/>
        </p:nvSpPr>
        <p:spPr>
          <a:xfrm>
            <a:off x="5524902" y="1046755"/>
            <a:ext cx="5604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C68F1"/>
                </a:solidFill>
                <a:latin typeface="Franklin Gothic Book" panose="020B0503020102020204" pitchFamily="34" charset="0"/>
              </a:rPr>
              <a:t>→ </a:t>
            </a:r>
            <a:r>
              <a:rPr lang="en-US" sz="3200" b="1" dirty="0">
                <a:solidFill>
                  <a:srgbClr val="FC68F1"/>
                </a:solidFill>
              </a:rPr>
              <a:t>Expert Systems</a:t>
            </a:r>
            <a:endParaRPr lang="en-GB" sz="3200" b="1" dirty="0">
              <a:solidFill>
                <a:srgbClr val="FC68F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F9DE2F-123F-AD03-A84A-B74786D467B1}"/>
              </a:ext>
            </a:extLst>
          </p:cNvPr>
          <p:cNvSpPr/>
          <p:nvPr/>
        </p:nvSpPr>
        <p:spPr>
          <a:xfrm>
            <a:off x="1560058" y="1826863"/>
            <a:ext cx="9946142" cy="4412698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E6A5F-32D3-FE2D-1EFD-8388E2B1DEDE}"/>
              </a:ext>
            </a:extLst>
          </p:cNvPr>
          <p:cNvSpPr txBox="1"/>
          <p:nvPr/>
        </p:nvSpPr>
        <p:spPr>
          <a:xfrm>
            <a:off x="1696453" y="1893039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ML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451DF-F737-5D81-9CB7-EF03783614DE}"/>
              </a:ext>
            </a:extLst>
          </p:cNvPr>
          <p:cNvSpPr/>
          <p:nvPr/>
        </p:nvSpPr>
        <p:spPr>
          <a:xfrm>
            <a:off x="2923033" y="2004013"/>
            <a:ext cx="353568" cy="358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1A747F-DE95-E97C-8DDB-FACECA838973}"/>
              </a:ext>
            </a:extLst>
          </p:cNvPr>
          <p:cNvSpPr/>
          <p:nvPr/>
        </p:nvSpPr>
        <p:spPr>
          <a:xfrm>
            <a:off x="3411376" y="1979261"/>
            <a:ext cx="417875" cy="3829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7193EC3-B289-5164-3CE0-434DCE973EA4}"/>
              </a:ext>
            </a:extLst>
          </p:cNvPr>
          <p:cNvSpPr/>
          <p:nvPr/>
        </p:nvSpPr>
        <p:spPr>
          <a:xfrm>
            <a:off x="3927086" y="2004013"/>
            <a:ext cx="340114" cy="3581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3D9C1-EFF8-E26C-84F1-8E5DBF147BD6}"/>
              </a:ext>
            </a:extLst>
          </p:cNvPr>
          <p:cNvSpPr txBox="1"/>
          <p:nvPr/>
        </p:nvSpPr>
        <p:spPr>
          <a:xfrm>
            <a:off x="4609813" y="-62687"/>
            <a:ext cx="3767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92D050"/>
                </a:solidFill>
                <a:latin typeface="Consolas"/>
              </a:rPr>
              <a:t>AI Hierarchy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7116C-EBFC-9FB9-AF84-27C006D44C39}"/>
              </a:ext>
            </a:extLst>
          </p:cNvPr>
          <p:cNvSpPr/>
          <p:nvPr/>
        </p:nvSpPr>
        <p:spPr>
          <a:xfrm>
            <a:off x="4449942" y="2025349"/>
            <a:ext cx="353568" cy="358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5A6FBA-617A-1D44-C08E-AFDB88B10073}"/>
              </a:ext>
            </a:extLst>
          </p:cNvPr>
          <p:cNvSpPr/>
          <p:nvPr/>
        </p:nvSpPr>
        <p:spPr>
          <a:xfrm>
            <a:off x="4932520" y="2025349"/>
            <a:ext cx="417875" cy="3829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86F7954-F7C1-866B-C0AE-7D70A5972A1C}"/>
              </a:ext>
            </a:extLst>
          </p:cNvPr>
          <p:cNvSpPr/>
          <p:nvPr/>
        </p:nvSpPr>
        <p:spPr>
          <a:xfrm>
            <a:off x="5464925" y="2023280"/>
            <a:ext cx="340114" cy="3581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E312ED-7A50-8465-FF0C-B00210FBC6FB}"/>
              </a:ext>
            </a:extLst>
          </p:cNvPr>
          <p:cNvSpPr/>
          <p:nvPr/>
        </p:nvSpPr>
        <p:spPr>
          <a:xfrm>
            <a:off x="5949750" y="2023279"/>
            <a:ext cx="353568" cy="358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6767A6-6AE2-8D58-53BE-B72E587CE448}"/>
              </a:ext>
            </a:extLst>
          </p:cNvPr>
          <p:cNvSpPr/>
          <p:nvPr/>
        </p:nvSpPr>
        <p:spPr>
          <a:xfrm>
            <a:off x="6502513" y="2023279"/>
            <a:ext cx="353568" cy="358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4CA73A-EEC2-B2D3-FA34-18A163F6C1C3}"/>
              </a:ext>
            </a:extLst>
          </p:cNvPr>
          <p:cNvSpPr/>
          <p:nvPr/>
        </p:nvSpPr>
        <p:spPr>
          <a:xfrm>
            <a:off x="7031683" y="2010902"/>
            <a:ext cx="417875" cy="3829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A81FB5DD-94FF-CAD7-E18C-B27CFE346EE3}"/>
              </a:ext>
            </a:extLst>
          </p:cNvPr>
          <p:cNvSpPr/>
          <p:nvPr/>
        </p:nvSpPr>
        <p:spPr>
          <a:xfrm>
            <a:off x="7567993" y="1988405"/>
            <a:ext cx="340114" cy="35818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F4A9F1-0679-1848-EFB8-EB1B9462F9B6}"/>
              </a:ext>
            </a:extLst>
          </p:cNvPr>
          <p:cNvSpPr/>
          <p:nvPr/>
        </p:nvSpPr>
        <p:spPr>
          <a:xfrm>
            <a:off x="6507261" y="2029007"/>
            <a:ext cx="353568" cy="3581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B14A23-F251-CEC6-49F9-DBE702F3A6A6}"/>
              </a:ext>
            </a:extLst>
          </p:cNvPr>
          <p:cNvSpPr txBox="1"/>
          <p:nvPr/>
        </p:nvSpPr>
        <p:spPr>
          <a:xfrm>
            <a:off x="8549044" y="1781447"/>
            <a:ext cx="32755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Franklin Gothic Book" panose="020B0503020102020204" pitchFamily="34" charset="0"/>
              </a:rPr>
              <a:t>→ Discovering Patterns </a:t>
            </a:r>
          </a:p>
          <a:p>
            <a:r>
              <a:rPr lang="en-US" sz="2000" b="1" dirty="0">
                <a:solidFill>
                  <a:srgbClr val="00B0F0"/>
                </a:solidFill>
                <a:latin typeface="Franklin Gothic Book" panose="020B0503020102020204" pitchFamily="34" charset="0"/>
              </a:rPr>
              <a:t>(e.g., Prediction)</a:t>
            </a:r>
          </a:p>
          <a:p>
            <a:r>
              <a:rPr lang="en-US" sz="2000" b="1" dirty="0">
                <a:solidFill>
                  <a:srgbClr val="00B0F0"/>
                </a:solidFill>
                <a:latin typeface="Franklin Gothic Book" panose="020B0503020102020204" pitchFamily="34" charset="0"/>
              </a:rPr>
              <a:t>→ Spotting outliers </a:t>
            </a:r>
          </a:p>
          <a:p>
            <a:r>
              <a:rPr lang="en-US" sz="2000" b="1" dirty="0">
                <a:solidFill>
                  <a:srgbClr val="00B0F0"/>
                </a:solidFill>
                <a:latin typeface="Franklin Gothic Book" panose="020B0503020102020204" pitchFamily="34" charset="0"/>
              </a:rPr>
              <a:t>(e.g., Cryptography)</a:t>
            </a:r>
            <a:endParaRPr lang="en-GB" sz="2000" b="1" dirty="0">
              <a:solidFill>
                <a:srgbClr val="00B0F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C1C787-86DD-D11C-9B2E-3E2419F29B32}"/>
              </a:ext>
            </a:extLst>
          </p:cNvPr>
          <p:cNvSpPr/>
          <p:nvPr/>
        </p:nvSpPr>
        <p:spPr>
          <a:xfrm>
            <a:off x="2307390" y="3210685"/>
            <a:ext cx="7638288" cy="2875283"/>
          </a:xfrm>
          <a:prstGeom prst="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4E88A-0399-DC8F-F289-FCF0AAE48A91}"/>
              </a:ext>
            </a:extLst>
          </p:cNvPr>
          <p:cNvSpPr txBox="1"/>
          <p:nvPr/>
        </p:nvSpPr>
        <p:spPr>
          <a:xfrm>
            <a:off x="2514600" y="3302621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</a:t>
            </a:r>
            <a:endParaRPr lang="en-GB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1AFE7-7F29-9EAC-24B4-8B2F293C147C}"/>
              </a:ext>
            </a:extLst>
          </p:cNvPr>
          <p:cNvSpPr txBox="1"/>
          <p:nvPr/>
        </p:nvSpPr>
        <p:spPr>
          <a:xfrm>
            <a:off x="3324790" y="3302621"/>
            <a:ext cx="1348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NN</a:t>
            </a:r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ranklin Gothic Book" panose="020B0503020102020204" pitchFamily="34" charset="0"/>
              </a:rPr>
              <a:t>→</a:t>
            </a:r>
            <a:endParaRPr lang="en-GB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34" name="Picture 10" descr="Artificial Intelligence Icon Brain. Vector Illustration ...">
            <a:extLst>
              <a:ext uri="{FF2B5EF4-FFF2-40B4-BE49-F238E27FC236}">
                <a16:creationId xmlns:a16="http://schemas.microsoft.com/office/drawing/2014/main" id="{4FECC626-6C2D-7F5A-5BDE-8A4638682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316" y="3272382"/>
            <a:ext cx="774567" cy="77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3E62707-81C5-DA42-7221-E4B807BC8EB3}"/>
              </a:ext>
            </a:extLst>
          </p:cNvPr>
          <p:cNvSpPr/>
          <p:nvPr/>
        </p:nvSpPr>
        <p:spPr>
          <a:xfrm>
            <a:off x="2783786" y="4043660"/>
            <a:ext cx="6741213" cy="1899940"/>
          </a:xfrm>
          <a:prstGeom prst="rect">
            <a:avLst/>
          </a:prstGeom>
          <a:noFill/>
          <a:ln w="76200">
            <a:solidFill>
              <a:srgbClr val="C8E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F1521-63B3-96D3-9097-78DE1CED60DC}"/>
              </a:ext>
            </a:extLst>
          </p:cNvPr>
          <p:cNvSpPr txBox="1"/>
          <p:nvPr/>
        </p:nvSpPr>
        <p:spPr>
          <a:xfrm>
            <a:off x="2879649" y="4083682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FM</a:t>
            </a:r>
            <a:endParaRPr lang="en-GB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50818C-3AAD-06AD-3F07-4724C8C9D135}"/>
              </a:ext>
            </a:extLst>
          </p:cNvPr>
          <p:cNvSpPr txBox="1"/>
          <p:nvPr/>
        </p:nvSpPr>
        <p:spPr>
          <a:xfrm>
            <a:off x="5627768" y="4077903"/>
            <a:ext cx="1294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LLM</a:t>
            </a:r>
            <a:endParaRPr lang="en-GB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586C05-48C1-AC16-DAC0-657EC594784C}"/>
              </a:ext>
            </a:extLst>
          </p:cNvPr>
          <p:cNvSpPr txBox="1"/>
          <p:nvPr/>
        </p:nvSpPr>
        <p:spPr>
          <a:xfrm>
            <a:off x="3772840" y="4646560"/>
            <a:ext cx="1673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 AI</a:t>
            </a:r>
            <a:endParaRPr lang="en-GB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A3C71F-D672-CB6A-572C-982ED9F463E7}"/>
              </a:ext>
            </a:extLst>
          </p:cNvPr>
          <p:cNvSpPr txBox="1"/>
          <p:nvPr/>
        </p:nvSpPr>
        <p:spPr>
          <a:xfrm>
            <a:off x="5744319" y="4838099"/>
            <a:ext cx="1203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AUD</a:t>
            </a:r>
          </a:p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VID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1C3CF5C-7394-F7BC-DE05-B42B0B4B748F}"/>
              </a:ext>
            </a:extLst>
          </p:cNvPr>
          <p:cNvSpPr/>
          <p:nvPr/>
        </p:nvSpPr>
        <p:spPr>
          <a:xfrm>
            <a:off x="6803336" y="5259133"/>
            <a:ext cx="498279" cy="275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C0D3AB-F7FC-B8B9-C4F6-EC6FB481FA25}"/>
              </a:ext>
            </a:extLst>
          </p:cNvPr>
          <p:cNvSpPr txBox="1"/>
          <p:nvPr/>
        </p:nvSpPr>
        <p:spPr>
          <a:xfrm>
            <a:off x="7570517" y="4858423"/>
            <a:ext cx="16739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DEEP FAKES</a:t>
            </a:r>
            <a:endParaRPr lang="en-GB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AC19293-36B4-CCE9-A3F4-A0D2FEFDCADD}"/>
              </a:ext>
            </a:extLst>
          </p:cNvPr>
          <p:cNvSpPr/>
          <p:nvPr/>
        </p:nvSpPr>
        <p:spPr>
          <a:xfrm>
            <a:off x="5744319" y="4862380"/>
            <a:ext cx="1034800" cy="1028655"/>
          </a:xfrm>
          <a:prstGeom prst="ellipse">
            <a:avLst/>
          </a:prstGeom>
          <a:noFill/>
          <a:ln w="508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D1BA46D9-A6B0-28D9-9C13-F10C829EE250}"/>
              </a:ext>
            </a:extLst>
          </p:cNvPr>
          <p:cNvSpPr/>
          <p:nvPr/>
        </p:nvSpPr>
        <p:spPr>
          <a:xfrm>
            <a:off x="6777691" y="4190094"/>
            <a:ext cx="498279" cy="2757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50D21A-E602-C3E1-87E8-C2BCC6E5B474}"/>
              </a:ext>
            </a:extLst>
          </p:cNvPr>
          <p:cNvSpPr txBox="1"/>
          <p:nvPr/>
        </p:nvSpPr>
        <p:spPr>
          <a:xfrm>
            <a:off x="7368299" y="4061785"/>
            <a:ext cx="1957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CHATBOT</a:t>
            </a:r>
            <a:endParaRPr lang="en-GB" sz="3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BD41B1AB-19E0-792C-7CAE-95CCBAAAF4A6}"/>
              </a:ext>
            </a:extLst>
          </p:cNvPr>
          <p:cNvSpPr/>
          <p:nvPr/>
        </p:nvSpPr>
        <p:spPr>
          <a:xfrm>
            <a:off x="5118251" y="4381817"/>
            <a:ext cx="525886" cy="1071439"/>
          </a:xfrm>
          <a:prstGeom prst="leftBrace">
            <a:avLst>
              <a:gd name="adj1" fmla="val 19533"/>
              <a:gd name="adj2" fmla="val 5206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55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/>
      <p:bldP spid="11" grpId="0"/>
      <p:bldP spid="12" grpId="0"/>
      <p:bldP spid="13" grpId="0" animBg="1"/>
      <p:bldP spid="14" grpId="0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4" grpId="0" animBg="1"/>
      <p:bldP spid="5" grpId="0"/>
      <p:bldP spid="6" grpId="0"/>
      <p:bldP spid="29" grpId="0" animBg="1"/>
      <p:bldP spid="30" grpId="0"/>
      <p:bldP spid="31" grpId="0"/>
      <p:bldP spid="32" grpId="0"/>
      <p:bldP spid="33" grpId="0"/>
      <p:bldP spid="34" grpId="0" animBg="1"/>
      <p:bldP spid="35" grpId="0"/>
      <p:bldP spid="36" grpId="0" animBg="1"/>
      <p:bldP spid="37" grpId="0" animBg="1"/>
      <p:bldP spid="38" grpId="0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2D7625-EAD7-F7D2-93B6-96FD598BCFBE}"/>
              </a:ext>
            </a:extLst>
          </p:cNvPr>
          <p:cNvSpPr txBox="1"/>
          <p:nvPr/>
        </p:nvSpPr>
        <p:spPr>
          <a:xfrm>
            <a:off x="39840" y="575655"/>
            <a:ext cx="48551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92D050"/>
                </a:solidFill>
                <a:latin typeface="Consolas"/>
              </a:rPr>
              <a:t>Supervised Learning </a:t>
            </a:r>
          </a:p>
          <a:p>
            <a:r>
              <a:rPr lang="en-GB" dirty="0">
                <a:solidFill>
                  <a:srgbClr val="92D050"/>
                </a:solidFill>
                <a:latin typeface="Consolas"/>
              </a:rPr>
              <a:t>(learns from labelled data)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900F3-8EDD-1117-D318-50022303D4AA}"/>
              </a:ext>
            </a:extLst>
          </p:cNvPr>
          <p:cNvSpPr txBox="1"/>
          <p:nvPr/>
        </p:nvSpPr>
        <p:spPr>
          <a:xfrm>
            <a:off x="4500649" y="595320"/>
            <a:ext cx="3849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92D050"/>
                </a:solidFill>
                <a:latin typeface="Consolas"/>
              </a:rPr>
              <a:t>Unsupervised Learning</a:t>
            </a:r>
          </a:p>
          <a:p>
            <a:r>
              <a:rPr lang="en-GB" dirty="0">
                <a:solidFill>
                  <a:srgbClr val="92D050"/>
                </a:solidFill>
                <a:latin typeface="Consolas"/>
              </a:rPr>
              <a:t>(finds hidden patterns)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C43FE-1907-007D-16A7-308EED531DB5}"/>
              </a:ext>
            </a:extLst>
          </p:cNvPr>
          <p:cNvSpPr txBox="1"/>
          <p:nvPr/>
        </p:nvSpPr>
        <p:spPr>
          <a:xfrm>
            <a:off x="8362632" y="595320"/>
            <a:ext cx="3962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92D050"/>
                </a:solidFill>
                <a:latin typeface="Consolas"/>
              </a:rPr>
              <a:t>Reinforcement Learning</a:t>
            </a:r>
          </a:p>
          <a:p>
            <a:r>
              <a:rPr lang="en-GB" dirty="0">
                <a:solidFill>
                  <a:srgbClr val="92D050"/>
                </a:solidFill>
                <a:latin typeface="Consolas"/>
              </a:rPr>
              <a:t>(Learns by trial and error,</a:t>
            </a:r>
          </a:p>
          <a:p>
            <a:r>
              <a:rPr lang="en-GB" dirty="0">
                <a:solidFill>
                  <a:srgbClr val="92D050"/>
                </a:solidFill>
                <a:latin typeface="Consolas"/>
              </a:rPr>
              <a:t> rewards and penalties)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68542-E3A6-1F17-1CFF-22735F65C3D0}"/>
              </a:ext>
            </a:extLst>
          </p:cNvPr>
          <p:cNvSpPr txBox="1"/>
          <p:nvPr/>
        </p:nvSpPr>
        <p:spPr>
          <a:xfrm>
            <a:off x="18288" y="1207176"/>
            <a:ext cx="46026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Regression: </a:t>
            </a:r>
            <a:r>
              <a:rPr lang="en-GB" sz="2400" dirty="0"/>
              <a:t>when the labels contain continuous values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Classification: </a:t>
            </a:r>
            <a:r>
              <a:rPr lang="en-GB" sz="2400" dirty="0"/>
              <a:t>when there are a discrete number of labels (classes)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/>
              <a:t>Classic Algorithms</a:t>
            </a:r>
          </a:p>
          <a:p>
            <a:pPr marL="463550" indent="-463550">
              <a:buFont typeface="Arial" panose="020B0604020202020204" pitchFamily="34" charset="0"/>
              <a:buChar char="•"/>
            </a:pPr>
            <a:r>
              <a:rPr lang="en-GB" sz="2400" dirty="0"/>
              <a:t>Linear</a:t>
            </a:r>
            <a:r>
              <a:rPr lang="el-GR" sz="2400" dirty="0"/>
              <a:t>, </a:t>
            </a:r>
            <a:r>
              <a:rPr lang="en-US" sz="2400" dirty="0"/>
              <a:t>Polynomial </a:t>
            </a:r>
            <a:r>
              <a:rPr lang="en-GB" sz="2400" dirty="0"/>
              <a:t>Regression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k-Nearest Neighbours (k-NN)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Support Vector Machine (SVM)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Naïve Bayes Classifier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Decision Trees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Random Forest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Simple layer artificial network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F2F01-7391-BAE4-593F-68A8AAC6E935}"/>
              </a:ext>
            </a:extLst>
          </p:cNvPr>
          <p:cNvSpPr txBox="1"/>
          <p:nvPr/>
        </p:nvSpPr>
        <p:spPr>
          <a:xfrm>
            <a:off x="4500649" y="1432944"/>
            <a:ext cx="35879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Clustering (e.g., K-means, Hierarchical Clustering, DBSCAN)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Dimensionality Reduction (e.g., </a:t>
            </a:r>
            <a:r>
              <a:rPr lang="en-GB" sz="2400" dirty="0"/>
              <a:t>PCA</a:t>
            </a:r>
            <a:r>
              <a:rPr lang="en-US" sz="24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E9FDED-1FE4-7261-EE8B-7528C16BF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582" y="1918840"/>
            <a:ext cx="3330229" cy="21337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8A75A5-3AD0-EBCE-984D-B7C9FFCB42ED}"/>
              </a:ext>
            </a:extLst>
          </p:cNvPr>
          <p:cNvSpPr txBox="1"/>
          <p:nvPr/>
        </p:nvSpPr>
        <p:spPr>
          <a:xfrm>
            <a:off x="8482582" y="4267200"/>
            <a:ext cx="38424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AdvOTab62ddd12"/>
              </a:rPr>
              <a:t>Some of the existing 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dvOTab62ddd12"/>
              </a:rPr>
              <a:t>Self-driving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dvOTab62ddd12"/>
              </a:rPr>
              <a:t>Recommendation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dvOTab62ddd12"/>
              </a:rPr>
              <a:t>Robotics.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dvOTab62ddd12"/>
              </a:rPr>
              <a:t>Automated game play.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C8DC4-071E-F785-341B-B790B92701C3}"/>
              </a:ext>
            </a:extLst>
          </p:cNvPr>
          <p:cNvSpPr txBox="1"/>
          <p:nvPr/>
        </p:nvSpPr>
        <p:spPr>
          <a:xfrm>
            <a:off x="0" y="-70676"/>
            <a:ext cx="11353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Learning methods of ML</a:t>
            </a:r>
          </a:p>
        </p:txBody>
      </p:sp>
    </p:spTree>
    <p:extLst>
      <p:ext uri="{BB962C8B-B14F-4D97-AF65-F5344CB8AC3E}">
        <p14:creationId xmlns:p14="http://schemas.microsoft.com/office/powerpoint/2010/main" val="421319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DDD84-F5AD-0D5D-08C2-53DCA1DB6C40}"/>
              </a:ext>
            </a:extLst>
          </p:cNvPr>
          <p:cNvSpPr txBox="1"/>
          <p:nvPr/>
        </p:nvSpPr>
        <p:spPr>
          <a:xfrm>
            <a:off x="1828800" y="2659559"/>
            <a:ext cx="883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Supervised Learning Example</a:t>
            </a:r>
          </a:p>
        </p:txBody>
      </p:sp>
    </p:spTree>
    <p:extLst>
      <p:ext uri="{BB962C8B-B14F-4D97-AF65-F5344CB8AC3E}">
        <p14:creationId xmlns:p14="http://schemas.microsoft.com/office/powerpoint/2010/main" val="142519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6A47-1ADA-C9E2-0568-7C8E39B3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E8788-DFAB-2BB5-18EF-5DC98D169F1D}"/>
              </a:ext>
            </a:extLst>
          </p:cNvPr>
          <p:cNvSpPr txBox="1"/>
          <p:nvPr/>
        </p:nvSpPr>
        <p:spPr>
          <a:xfrm>
            <a:off x="3760209" y="614340"/>
            <a:ext cx="64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626E3A-CE6A-4A6B-1764-0E2A5DD2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46" y="97474"/>
            <a:ext cx="549122" cy="491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A3F226-B946-B390-8F11-D03062424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93" y="178703"/>
            <a:ext cx="542736" cy="5171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60F52F-4C35-EE29-231A-BD6462BD8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270" y="56410"/>
            <a:ext cx="586791" cy="6553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D3C303-BCE6-A6C7-4BAC-E2A591E8E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526" y="21693"/>
            <a:ext cx="516058" cy="5415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1956C4-7B69-1105-7669-C50A67A0E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082" y="103335"/>
            <a:ext cx="459730" cy="4788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F2ED0E-BD47-4034-5D4E-9B1FDBD8EB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7509" y="157442"/>
            <a:ext cx="468244" cy="491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B0CF46-D23A-1759-109D-C4DA7E1C5A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8468" y="115020"/>
            <a:ext cx="580998" cy="6271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0BD36E-B02B-00DE-9617-1CE7E6E5F3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2770" y="122478"/>
            <a:ext cx="646052" cy="5415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06C077E-E75E-06EF-5EAD-40C2B97046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7291" y="-5390"/>
            <a:ext cx="549122" cy="7012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CCA9BF9-5401-D587-74AD-9FB74D32E283}"/>
              </a:ext>
            </a:extLst>
          </p:cNvPr>
          <p:cNvSpPr txBox="1"/>
          <p:nvPr/>
        </p:nvSpPr>
        <p:spPr>
          <a:xfrm>
            <a:off x="4383007" y="639550"/>
            <a:ext cx="1153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vegetable</a:t>
            </a:r>
            <a:endParaRPr lang="en-GB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9BF29CB-7E85-3E8C-0047-64FCD2BD90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7517" y="84119"/>
            <a:ext cx="598043" cy="54671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08249D7-731B-1B77-993E-F950826FDB80}"/>
              </a:ext>
            </a:extLst>
          </p:cNvPr>
          <p:cNvSpPr txBox="1"/>
          <p:nvPr/>
        </p:nvSpPr>
        <p:spPr>
          <a:xfrm>
            <a:off x="6912417" y="563236"/>
            <a:ext cx="1003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protein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7FE72D-8B35-B497-C93E-A8AEF69BCE77}"/>
              </a:ext>
            </a:extLst>
          </p:cNvPr>
          <p:cNvSpPr txBox="1"/>
          <p:nvPr/>
        </p:nvSpPr>
        <p:spPr>
          <a:xfrm>
            <a:off x="1753189" y="624741"/>
            <a:ext cx="1246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vegetable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286AF3-602C-D193-8ED1-556960374197}"/>
              </a:ext>
            </a:extLst>
          </p:cNvPr>
          <p:cNvSpPr txBox="1"/>
          <p:nvPr/>
        </p:nvSpPr>
        <p:spPr>
          <a:xfrm>
            <a:off x="7914650" y="664021"/>
            <a:ext cx="64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C5B586-07EE-910A-394F-EBD60200FF87}"/>
              </a:ext>
            </a:extLst>
          </p:cNvPr>
          <p:cNvSpPr txBox="1"/>
          <p:nvPr/>
        </p:nvSpPr>
        <p:spPr>
          <a:xfrm>
            <a:off x="8487092" y="599277"/>
            <a:ext cx="119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vegetable</a:t>
            </a:r>
            <a:endParaRPr lang="en-GB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7D3C832-147A-C7E8-8E90-AF2C6AB163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97797" y="182298"/>
            <a:ext cx="620320" cy="44194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D566C15-3BF2-D88F-CB45-C2B5BAEDD80F}"/>
              </a:ext>
            </a:extLst>
          </p:cNvPr>
          <p:cNvSpPr txBox="1"/>
          <p:nvPr/>
        </p:nvSpPr>
        <p:spPr>
          <a:xfrm>
            <a:off x="2832138" y="636767"/>
            <a:ext cx="1003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protein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B09A44-B4E7-68D3-D678-8178F29C7A14}"/>
              </a:ext>
            </a:extLst>
          </p:cNvPr>
          <p:cNvSpPr txBox="1"/>
          <p:nvPr/>
        </p:nvSpPr>
        <p:spPr>
          <a:xfrm>
            <a:off x="10594799" y="625716"/>
            <a:ext cx="64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FF010-15C0-AC07-E774-74744BB60740}"/>
              </a:ext>
            </a:extLst>
          </p:cNvPr>
          <p:cNvSpPr txBox="1"/>
          <p:nvPr/>
        </p:nvSpPr>
        <p:spPr>
          <a:xfrm>
            <a:off x="5636686" y="596684"/>
            <a:ext cx="64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</a:t>
            </a:r>
            <a:endParaRPr lang="en-GB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F3037E-FB50-7B06-AA2C-C1C505FCF9DF}"/>
              </a:ext>
            </a:extLst>
          </p:cNvPr>
          <p:cNvSpPr txBox="1"/>
          <p:nvPr/>
        </p:nvSpPr>
        <p:spPr>
          <a:xfrm>
            <a:off x="6318763" y="569033"/>
            <a:ext cx="646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fruit</a:t>
            </a:r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82B92A-2BC0-3848-F335-F140BED4044B}"/>
              </a:ext>
            </a:extLst>
          </p:cNvPr>
          <p:cNvSpPr txBox="1"/>
          <p:nvPr/>
        </p:nvSpPr>
        <p:spPr>
          <a:xfrm>
            <a:off x="9537381" y="607108"/>
            <a:ext cx="1245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vegetable</a:t>
            </a:r>
            <a:endParaRPr lang="en-GB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49AEE9-92AB-16A7-2250-8AF287A49FF9}"/>
              </a:ext>
            </a:extLst>
          </p:cNvPr>
          <p:cNvCxnSpPr>
            <a:cxnSpLocks/>
          </p:cNvCxnSpPr>
          <p:nvPr/>
        </p:nvCxnSpPr>
        <p:spPr>
          <a:xfrm>
            <a:off x="6073855" y="1087662"/>
            <a:ext cx="0" cy="77287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AB255D2-3D8C-8DD0-F326-47469B82C513}"/>
              </a:ext>
            </a:extLst>
          </p:cNvPr>
          <p:cNvSpPr txBox="1"/>
          <p:nvPr/>
        </p:nvSpPr>
        <p:spPr>
          <a:xfrm>
            <a:off x="6270546" y="1087662"/>
            <a:ext cx="3232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Feature extraction e.g., </a:t>
            </a:r>
            <a:r>
              <a:rPr lang="en-US" sz="1800" dirty="0">
                <a:solidFill>
                  <a:srgbClr val="92D050"/>
                </a:solidFill>
              </a:rPr>
              <a:t>sweetness, crunchiness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613517-CD95-BBCF-F930-092A68E95CD4}"/>
              </a:ext>
            </a:extLst>
          </p:cNvPr>
          <p:cNvSpPr txBox="1"/>
          <p:nvPr/>
        </p:nvSpPr>
        <p:spPr>
          <a:xfrm>
            <a:off x="4514487" y="4480580"/>
            <a:ext cx="328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Learning                        to label 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CB622-64BA-A784-C179-2B9C413ECB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1493" y="4313795"/>
            <a:ext cx="810552" cy="70520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671F07-3E2C-5AD2-8CBD-D8AC499ECC26}"/>
              </a:ext>
            </a:extLst>
          </p:cNvPr>
          <p:cNvCxnSpPr>
            <a:cxnSpLocks/>
          </p:cNvCxnSpPr>
          <p:nvPr/>
        </p:nvCxnSpPr>
        <p:spPr>
          <a:xfrm>
            <a:off x="6073855" y="5062916"/>
            <a:ext cx="0" cy="639502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F1CB5F-5D71-0BBB-144E-DED513F133D3}"/>
              </a:ext>
            </a:extLst>
          </p:cNvPr>
          <p:cNvSpPr txBox="1"/>
          <p:nvPr/>
        </p:nvSpPr>
        <p:spPr>
          <a:xfrm>
            <a:off x="900979" y="122478"/>
            <a:ext cx="124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Labeled  Data</a:t>
            </a:r>
            <a:endParaRPr lang="en-GB" sz="2400" b="1" dirty="0">
              <a:solidFill>
                <a:srgbClr val="92D05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B33A0E-385A-1137-7265-E119348440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4546" y="5702418"/>
            <a:ext cx="659536" cy="105647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01D2EF-3800-8C1A-ABFC-604A5291D953}"/>
              </a:ext>
            </a:extLst>
          </p:cNvPr>
          <p:cNvCxnSpPr/>
          <p:nvPr/>
        </p:nvCxnSpPr>
        <p:spPr>
          <a:xfrm>
            <a:off x="5031094" y="6230657"/>
            <a:ext cx="520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C45E15-3F2C-DB40-2A24-3D238EE27018}"/>
              </a:ext>
            </a:extLst>
          </p:cNvPr>
          <p:cNvCxnSpPr/>
          <p:nvPr/>
        </p:nvCxnSpPr>
        <p:spPr>
          <a:xfrm>
            <a:off x="6524167" y="6242463"/>
            <a:ext cx="520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3D84779-3FF2-92D5-53DB-69864BDEB88E}"/>
              </a:ext>
            </a:extLst>
          </p:cNvPr>
          <p:cNvSpPr txBox="1"/>
          <p:nvPr/>
        </p:nvSpPr>
        <p:spPr>
          <a:xfrm>
            <a:off x="6404082" y="6030602"/>
            <a:ext cx="2529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Fruit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6BA6F8-98FF-40EB-E227-C378CEDAEB60}"/>
              </a:ext>
            </a:extLst>
          </p:cNvPr>
          <p:cNvSpPr txBox="1"/>
          <p:nvPr/>
        </p:nvSpPr>
        <p:spPr>
          <a:xfrm>
            <a:off x="157490" y="2412681"/>
            <a:ext cx="3066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Supervised Learning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254764-13DF-1E95-CF30-49483E274854}"/>
              </a:ext>
            </a:extLst>
          </p:cNvPr>
          <p:cNvSpPr txBox="1"/>
          <p:nvPr/>
        </p:nvSpPr>
        <p:spPr>
          <a:xfrm>
            <a:off x="2754460" y="5028724"/>
            <a:ext cx="37697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New data (sweetness = 6, crunchiness = 4 for apricot)</a:t>
            </a:r>
            <a:endParaRPr lang="en-GB" sz="20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AD0302F-6663-C858-9190-1BE63E1F00C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1021" y="91476"/>
            <a:ext cx="792562" cy="502601"/>
          </a:xfrm>
          <a:prstGeom prst="rect">
            <a:avLst/>
          </a:prstGeom>
        </p:spPr>
      </p:pic>
      <p:cxnSp>
        <p:nvCxnSpPr>
          <p:cNvPr id="2048" name="Straight Arrow Connector 2047">
            <a:extLst>
              <a:ext uri="{FF2B5EF4-FFF2-40B4-BE49-F238E27FC236}">
                <a16:creationId xmlns:a16="http://schemas.microsoft.com/office/drawing/2014/main" id="{D2EF6B6A-4706-165B-FDD5-B80590B835A6}"/>
              </a:ext>
            </a:extLst>
          </p:cNvPr>
          <p:cNvCxnSpPr>
            <a:cxnSpLocks/>
          </p:cNvCxnSpPr>
          <p:nvPr/>
        </p:nvCxnSpPr>
        <p:spPr>
          <a:xfrm>
            <a:off x="6063428" y="4020185"/>
            <a:ext cx="0" cy="410962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TextBox 2058">
            <a:extLst>
              <a:ext uri="{FF2B5EF4-FFF2-40B4-BE49-F238E27FC236}">
                <a16:creationId xmlns:a16="http://schemas.microsoft.com/office/drawing/2014/main" id="{7E9FF565-9132-CBA5-A36B-E30382563452}"/>
              </a:ext>
            </a:extLst>
          </p:cNvPr>
          <p:cNvSpPr txBox="1"/>
          <p:nvPr/>
        </p:nvSpPr>
        <p:spPr>
          <a:xfrm>
            <a:off x="11209022" y="587605"/>
            <a:ext cx="95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protein</a:t>
            </a:r>
            <a:endParaRPr lang="en-GB" dirty="0"/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5D92ADBF-642C-5F52-EE8D-ECFD90A955F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4317" y="1909195"/>
            <a:ext cx="3410545" cy="2110989"/>
          </a:xfrm>
          <a:prstGeom prst="rect">
            <a:avLst/>
          </a:prstGeom>
        </p:spPr>
      </p:pic>
      <p:sp>
        <p:nvSpPr>
          <p:cNvPr id="2062" name="Rectangle 2061">
            <a:extLst>
              <a:ext uri="{FF2B5EF4-FFF2-40B4-BE49-F238E27FC236}">
                <a16:creationId xmlns:a16="http://schemas.microsoft.com/office/drawing/2014/main" id="{B1AE1553-2333-A5FB-17DF-A105D7C6EFF3}"/>
              </a:ext>
            </a:extLst>
          </p:cNvPr>
          <p:cNvSpPr/>
          <p:nvPr/>
        </p:nvSpPr>
        <p:spPr>
          <a:xfrm>
            <a:off x="7127517" y="1896646"/>
            <a:ext cx="645023" cy="2123539"/>
          </a:xfrm>
          <a:prstGeom prst="rect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F5C4B9E5-45B0-A9CE-1081-F816E1CB68A4}"/>
              </a:ext>
            </a:extLst>
          </p:cNvPr>
          <p:cNvSpPr txBox="1"/>
          <p:nvPr/>
        </p:nvSpPr>
        <p:spPr>
          <a:xfrm>
            <a:off x="7837264" y="2498117"/>
            <a:ext cx="1025790" cy="1015663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 output (labels)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6B1FFAC3-2D51-1680-9B39-0B45B8F9F5DB}"/>
              </a:ext>
            </a:extLst>
          </p:cNvPr>
          <p:cNvSpPr/>
          <p:nvPr/>
        </p:nvSpPr>
        <p:spPr>
          <a:xfrm>
            <a:off x="5093885" y="1918009"/>
            <a:ext cx="1968908" cy="2102175"/>
          </a:xfrm>
          <a:prstGeom prst="rect">
            <a:avLst/>
          </a:prstGeom>
          <a:noFill/>
          <a:ln w="444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C7D06876-FB7E-180D-1FD3-CD5DFD334556}"/>
              </a:ext>
            </a:extLst>
          </p:cNvPr>
          <p:cNvSpPr txBox="1"/>
          <p:nvPr/>
        </p:nvSpPr>
        <p:spPr>
          <a:xfrm>
            <a:off x="5548293" y="2612736"/>
            <a:ext cx="1141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</a:rPr>
              <a:t>Features</a:t>
            </a:r>
            <a:endParaRPr lang="en-GB" sz="20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4A5E38A3-D324-491C-0CDB-F3D9CE90A2F5}"/>
              </a:ext>
            </a:extLst>
          </p:cNvPr>
          <p:cNvSpPr txBox="1"/>
          <p:nvPr/>
        </p:nvSpPr>
        <p:spPr>
          <a:xfrm>
            <a:off x="7837250" y="3563460"/>
            <a:ext cx="1562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Experts labeled the foods</a:t>
            </a:r>
            <a:endParaRPr lang="en-GB" dirty="0"/>
          </a:p>
        </p:txBody>
      </p:sp>
      <p:pic>
        <p:nvPicPr>
          <p:cNvPr id="2073" name="Picture 14" descr="Apricot - Free food icons">
            <a:extLst>
              <a:ext uri="{FF2B5EF4-FFF2-40B4-BE49-F238E27FC236}">
                <a16:creationId xmlns:a16="http://schemas.microsoft.com/office/drawing/2014/main" id="{D352B4F6-F419-2DC3-5569-E99310892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415" y="5748132"/>
            <a:ext cx="909691" cy="90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0C615E-D0E0-5235-25A4-341B709380C8}"/>
              </a:ext>
            </a:extLst>
          </p:cNvPr>
          <p:cNvSpPr txBox="1"/>
          <p:nvPr/>
        </p:nvSpPr>
        <p:spPr>
          <a:xfrm>
            <a:off x="2875373" y="4416035"/>
            <a:ext cx="1599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Algorithm</a:t>
            </a:r>
            <a:endParaRPr lang="en-GB" sz="2400" b="1" dirty="0">
              <a:solidFill>
                <a:srgbClr val="92D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CB845-912C-823D-BFA1-5935F2A7E635}"/>
              </a:ext>
            </a:extLst>
          </p:cNvPr>
          <p:cNvSpPr txBox="1"/>
          <p:nvPr/>
        </p:nvSpPr>
        <p:spPr>
          <a:xfrm>
            <a:off x="5583391" y="6312860"/>
            <a:ext cx="1374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Model</a:t>
            </a:r>
            <a:endParaRPr lang="en-GB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4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2" grpId="0"/>
      <p:bldP spid="33" grpId="0"/>
      <p:bldP spid="34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46" grpId="0"/>
      <p:bldP spid="17" grpId="0"/>
      <p:bldP spid="30" grpId="0"/>
      <p:bldP spid="52" grpId="0"/>
      <p:bldP spid="2059" grpId="0"/>
      <p:bldP spid="2062" grpId="0" animBg="1"/>
      <p:bldP spid="2063" grpId="0" animBg="1"/>
      <p:bldP spid="2064" grpId="0" animBg="1"/>
      <p:bldP spid="2065" grpId="0"/>
      <p:bldP spid="2072" grpId="0"/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7FA19-D748-3561-C237-B068A7664232}"/>
              </a:ext>
            </a:extLst>
          </p:cNvPr>
          <p:cNvSpPr txBox="1"/>
          <p:nvPr/>
        </p:nvSpPr>
        <p:spPr>
          <a:xfrm>
            <a:off x="0" y="67056"/>
            <a:ext cx="122681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rgbClr val="92D050"/>
                </a:solidFill>
                <a:latin typeface="Consolas"/>
              </a:rPr>
              <a:t>Classification Example: k-Nearest Neighbours (k-NN)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BDA67F-9AFA-AE68-9059-31F4265BCC6C}"/>
              </a:ext>
            </a:extLst>
          </p:cNvPr>
          <p:cNvCxnSpPr>
            <a:cxnSpLocks/>
          </p:cNvCxnSpPr>
          <p:nvPr/>
        </p:nvCxnSpPr>
        <p:spPr>
          <a:xfrm>
            <a:off x="914400" y="1447800"/>
            <a:ext cx="0" cy="426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94C197-1F4D-FF53-4F37-16E1B7E1A5ED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25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03E4A39-4984-CB30-73D2-10491774A2A3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4D277B-5101-09C7-C79D-B496AC0E78F4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BAE844-72F4-8476-63E6-C62DFC04DABC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22E6E5-6D77-7232-26EC-D7623078A3B9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02310-8D6B-8C35-C50F-2B536FEE5AD2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4DCA7E-BCEF-A6CB-B757-89B1B01F31F9}"/>
              </a:ext>
            </a:extLst>
          </p:cNvPr>
          <p:cNvSpPr txBox="1"/>
          <p:nvPr/>
        </p:nvSpPr>
        <p:spPr>
          <a:xfrm>
            <a:off x="1162868" y="2182830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027A9F-69AA-B117-0984-F1A21E3D8CB6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72366-E01E-E8D5-8E0F-86FB4D89C0DD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54A559-F087-152B-8AB9-B5B71D66A977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A33DA-02F3-3F0D-393B-5925A4F043E9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96669F-5B47-937C-5A34-5C24DE858C6E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6C78C5-765B-8E80-F9BF-C539C37F5E58}"/>
              </a:ext>
            </a:extLst>
          </p:cNvPr>
          <p:cNvSpPr txBox="1"/>
          <p:nvPr/>
        </p:nvSpPr>
        <p:spPr>
          <a:xfrm>
            <a:off x="1423461" y="487086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55A46A-8E9F-1C7E-A807-9E3894C8E2F2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A67EB7-6BCB-2A35-917A-6F0B2ABCD7ED}"/>
              </a:ext>
            </a:extLst>
          </p:cNvPr>
          <p:cNvSpPr txBox="1"/>
          <p:nvPr/>
        </p:nvSpPr>
        <p:spPr>
          <a:xfrm>
            <a:off x="1463901" y="4366456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FA905B-CC17-03F2-48E7-4FE103392A3B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7530C6-7BCA-3CF9-8B54-EB924B2BDE0D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CD497C-7441-40DD-C56D-D663FBDD90A8}"/>
              </a:ext>
            </a:extLst>
          </p:cNvPr>
          <p:cNvSpPr txBox="1"/>
          <p:nvPr/>
        </p:nvSpPr>
        <p:spPr>
          <a:xfrm>
            <a:off x="4129261" y="572078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7316FB-1380-C4B3-CF9A-D635B5147489}"/>
              </a:ext>
            </a:extLst>
          </p:cNvPr>
          <p:cNvSpPr txBox="1"/>
          <p:nvPr/>
        </p:nvSpPr>
        <p:spPr>
          <a:xfrm rot="16200000">
            <a:off x="-398072" y="2258836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580CD7B-9D26-48C6-18DC-F315761BE83E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98A914-CA78-988C-C348-2B80D5BAF125}"/>
              </a:ext>
            </a:extLst>
          </p:cNvPr>
          <p:cNvSpPr txBox="1"/>
          <p:nvPr/>
        </p:nvSpPr>
        <p:spPr>
          <a:xfrm>
            <a:off x="4574339" y="506115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3F80DD-B8EE-7BD2-7268-83A803FC8E6F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3245C9-9F86-CD5F-639B-252A95899230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B1331E-F58B-CE4F-BEA4-864AC672A38B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A86921-D872-E67F-A169-3F8406046195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C6B6D0F-1676-60B0-8949-FE5FEBAAAA73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91D607-D72C-8287-6C0E-9DA340DF1761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258244C-437C-7E34-9816-982CF315E2E9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51035F-FE49-962A-852B-63734F766ABA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B49B26-D5CF-AC76-2103-52CF56E4F965}"/>
              </a:ext>
            </a:extLst>
          </p:cNvPr>
          <p:cNvSpPr txBox="1"/>
          <p:nvPr/>
        </p:nvSpPr>
        <p:spPr>
          <a:xfrm>
            <a:off x="7117392" y="1376239"/>
            <a:ext cx="50199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en-GB" sz="2800" dirty="0"/>
              <a:t>Choose a value for k (the number of "neighbours" we want to look at). For example, k=3.</a:t>
            </a:r>
          </a:p>
          <a:p>
            <a:pPr marL="457200" indent="-457200">
              <a:buAutoNum type="arabicParenR"/>
            </a:pPr>
            <a:r>
              <a:rPr lang="en-GB" sz="2800" dirty="0"/>
              <a:t>Choose distance metric (e.g., Euclidean distance)</a:t>
            </a:r>
          </a:p>
          <a:p>
            <a:pPr marL="457200" indent="-457200">
              <a:buAutoNum type="arabicParenR"/>
            </a:pPr>
            <a:r>
              <a:rPr lang="en-GB" sz="2800" dirty="0"/>
              <a:t>For a new data point: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Compute distance to all training points</a:t>
            </a:r>
          </a:p>
          <a:p>
            <a:pPr marL="457200" indent="-457200">
              <a:buFontTx/>
              <a:buChar char="-"/>
            </a:pPr>
            <a:r>
              <a:rPr lang="en-GB" sz="2800" dirty="0"/>
              <a:t>Select the 3 closest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Majority Vote: </a:t>
            </a:r>
            <a:r>
              <a:rPr lang="en-US" sz="2800" dirty="0">
                <a:solidFill>
                  <a:schemeClr val="accent5"/>
                </a:solidFill>
              </a:rPr>
              <a:t>2 reds </a:t>
            </a:r>
            <a:r>
              <a:rPr lang="en-US" sz="2800" dirty="0"/>
              <a:t>,</a:t>
            </a:r>
            <a:r>
              <a:rPr lang="en-US" sz="2800" dirty="0">
                <a:solidFill>
                  <a:schemeClr val="accent5"/>
                </a:solidFill>
              </a:rPr>
              <a:t> </a:t>
            </a:r>
            <a:r>
              <a:rPr lang="en-US" sz="2800" dirty="0">
                <a:solidFill>
                  <a:srgbClr val="00B0F0"/>
                </a:solidFill>
              </a:rPr>
              <a:t>1 blue</a:t>
            </a:r>
            <a:endParaRPr lang="en-US" sz="2800" dirty="0"/>
          </a:p>
          <a:p>
            <a:pPr marL="457200" indent="-457200">
              <a:buAutoNum type="arabicParenR"/>
            </a:pPr>
            <a:endParaRPr lang="en-GB" sz="28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4C34CEB-536E-7DF1-7B5D-095C77823CB5}"/>
              </a:ext>
            </a:extLst>
          </p:cNvPr>
          <p:cNvCxnSpPr>
            <a:cxnSpLocks/>
          </p:cNvCxnSpPr>
          <p:nvPr/>
        </p:nvCxnSpPr>
        <p:spPr>
          <a:xfrm>
            <a:off x="2313450" y="4140229"/>
            <a:ext cx="115808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C1CCD6-58D8-7F9D-9BDD-16C297590C7F}"/>
              </a:ext>
            </a:extLst>
          </p:cNvPr>
          <p:cNvCxnSpPr>
            <a:cxnSpLocks/>
            <a:stCxn id="108" idx="6"/>
            <a:endCxn id="32" idx="2"/>
          </p:cNvCxnSpPr>
          <p:nvPr/>
        </p:nvCxnSpPr>
        <p:spPr>
          <a:xfrm flipV="1">
            <a:off x="3445774" y="3868482"/>
            <a:ext cx="1196191" cy="29118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35027FC-6382-B03D-7231-D634F6E3082E}"/>
              </a:ext>
            </a:extLst>
          </p:cNvPr>
          <p:cNvCxnSpPr>
            <a:cxnSpLocks/>
            <a:stCxn id="108" idx="5"/>
            <a:endCxn id="30" idx="1"/>
          </p:cNvCxnSpPr>
          <p:nvPr/>
        </p:nvCxnSpPr>
        <p:spPr>
          <a:xfrm>
            <a:off x="3423456" y="4213541"/>
            <a:ext cx="596565" cy="5405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855DBA7-E964-0BCF-7A19-DC728E62A536}"/>
              </a:ext>
            </a:extLst>
          </p:cNvPr>
          <p:cNvSpPr/>
          <p:nvPr/>
        </p:nvSpPr>
        <p:spPr>
          <a:xfrm>
            <a:off x="3304536" y="408994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FBF2D3-F4FF-1E47-44BA-3C1770B59243}"/>
              </a:ext>
            </a:extLst>
          </p:cNvPr>
          <p:cNvSpPr txBox="1"/>
          <p:nvPr/>
        </p:nvSpPr>
        <p:spPr>
          <a:xfrm>
            <a:off x="7959796" y="4304129"/>
            <a:ext cx="266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200" dirty="0">
              <a:solidFill>
                <a:srgbClr val="00B0F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9D1048-8DB4-7F1F-86E1-2CC6E617BEBA}"/>
              </a:ext>
            </a:extLst>
          </p:cNvPr>
          <p:cNvSpPr txBox="1"/>
          <p:nvPr/>
        </p:nvSpPr>
        <p:spPr>
          <a:xfrm>
            <a:off x="1571442" y="1063526"/>
            <a:ext cx="1287491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Vegetable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E05434-7F27-846A-BC92-2268191BEC77}"/>
              </a:ext>
            </a:extLst>
          </p:cNvPr>
          <p:cNvSpPr txBox="1"/>
          <p:nvPr/>
        </p:nvSpPr>
        <p:spPr>
          <a:xfrm>
            <a:off x="1020343" y="3836468"/>
            <a:ext cx="1052137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Protein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A55FE7-5B5A-1D7C-F12E-CB615DB941D9}"/>
              </a:ext>
            </a:extLst>
          </p:cNvPr>
          <p:cNvSpPr txBox="1"/>
          <p:nvPr/>
        </p:nvSpPr>
        <p:spPr>
          <a:xfrm>
            <a:off x="5638799" y="1447800"/>
            <a:ext cx="883877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Fruit</a:t>
            </a:r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CA13962-4AF9-6374-81D5-EE4E34BA235E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1548957" y="3005123"/>
            <a:ext cx="1777897" cy="11071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61C9BAC-CBEA-4CFA-AD3E-E1BD3C0F5D5E}"/>
              </a:ext>
            </a:extLst>
          </p:cNvPr>
          <p:cNvCxnSpPr>
            <a:cxnSpLocks/>
            <a:endCxn id="61" idx="5"/>
          </p:cNvCxnSpPr>
          <p:nvPr/>
        </p:nvCxnSpPr>
        <p:spPr>
          <a:xfrm>
            <a:off x="1965535" y="2592116"/>
            <a:ext cx="1469080" cy="162790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23E9A28-378D-FFA4-B28F-AB7C4460E2E2}"/>
              </a:ext>
            </a:extLst>
          </p:cNvPr>
          <p:cNvCxnSpPr>
            <a:cxnSpLocks/>
            <a:stCxn id="9" idx="5"/>
            <a:endCxn id="61" idx="1"/>
          </p:cNvCxnSpPr>
          <p:nvPr/>
        </p:nvCxnSpPr>
        <p:spPr>
          <a:xfrm>
            <a:off x="1977261" y="2042912"/>
            <a:ext cx="1349593" cy="20693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4E477AF-422A-D5CE-C176-022A92E7D5E2}"/>
              </a:ext>
            </a:extLst>
          </p:cNvPr>
          <p:cNvCxnSpPr>
            <a:cxnSpLocks/>
            <a:endCxn id="61" idx="4"/>
          </p:cNvCxnSpPr>
          <p:nvPr/>
        </p:nvCxnSpPr>
        <p:spPr>
          <a:xfrm>
            <a:off x="2660042" y="1823025"/>
            <a:ext cx="720693" cy="241930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7FB18F4-DCAA-67A5-BB2A-4C4FAFC14D2E}"/>
              </a:ext>
            </a:extLst>
          </p:cNvPr>
          <p:cNvCxnSpPr>
            <a:cxnSpLocks/>
            <a:stCxn id="34" idx="3"/>
          </p:cNvCxnSpPr>
          <p:nvPr/>
        </p:nvCxnSpPr>
        <p:spPr>
          <a:xfrm flipH="1">
            <a:off x="3292480" y="2137836"/>
            <a:ext cx="2295488" cy="207596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2C94E9A-D205-09C8-878C-F472DA04BF66}"/>
              </a:ext>
            </a:extLst>
          </p:cNvPr>
          <p:cNvCxnSpPr>
            <a:cxnSpLocks/>
            <a:endCxn id="61" idx="2"/>
          </p:cNvCxnSpPr>
          <p:nvPr/>
        </p:nvCxnSpPr>
        <p:spPr>
          <a:xfrm flipH="1">
            <a:off x="3304536" y="3100900"/>
            <a:ext cx="2322502" cy="10652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4FFB7A9-0450-5308-9214-1B290AA41F97}"/>
              </a:ext>
            </a:extLst>
          </p:cNvPr>
          <p:cNvCxnSpPr>
            <a:cxnSpLocks/>
          </p:cNvCxnSpPr>
          <p:nvPr/>
        </p:nvCxnSpPr>
        <p:spPr>
          <a:xfrm>
            <a:off x="3382989" y="4143058"/>
            <a:ext cx="1524867" cy="72839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C151CE8-799F-649C-D12F-3979AF8AC25F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1501962" y="4166138"/>
            <a:ext cx="1802574" cy="2672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E6F7811-C9F5-AB0E-7C9A-FED1B7F0E40C}"/>
              </a:ext>
            </a:extLst>
          </p:cNvPr>
          <p:cNvCxnSpPr>
            <a:cxnSpLocks/>
          </p:cNvCxnSpPr>
          <p:nvPr/>
        </p:nvCxnSpPr>
        <p:spPr>
          <a:xfrm flipV="1">
            <a:off x="1565204" y="4149605"/>
            <a:ext cx="1799808" cy="7813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BAD9E59-8084-42AA-D36D-AB96D65631C8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1394611" y="4166138"/>
            <a:ext cx="1909925" cy="1094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12B01853-BA14-80CF-F21D-DDF63263A9E2}"/>
              </a:ext>
            </a:extLst>
          </p:cNvPr>
          <p:cNvSpPr/>
          <p:nvPr/>
        </p:nvSpPr>
        <p:spPr>
          <a:xfrm>
            <a:off x="2071638" y="2869125"/>
            <a:ext cx="2809839" cy="258130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43454F1-8120-AE25-1220-E9C520C4C5C5}"/>
              </a:ext>
            </a:extLst>
          </p:cNvPr>
          <p:cNvSpPr/>
          <p:nvPr/>
        </p:nvSpPr>
        <p:spPr>
          <a:xfrm>
            <a:off x="3293377" y="4083465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3D4CD-3BE6-9CA2-976C-F6292831D381}"/>
              </a:ext>
            </a:extLst>
          </p:cNvPr>
          <p:cNvSpPr txBox="1"/>
          <p:nvPr/>
        </p:nvSpPr>
        <p:spPr>
          <a:xfrm>
            <a:off x="2898197" y="3483292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data (apricot)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403EA-6438-AF87-C073-131671D478EB}"/>
              </a:ext>
            </a:extLst>
          </p:cNvPr>
          <p:cNvSpPr txBox="1"/>
          <p:nvPr/>
        </p:nvSpPr>
        <p:spPr>
          <a:xfrm>
            <a:off x="7571573" y="836770"/>
            <a:ext cx="3655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k‑NN</a:t>
            </a:r>
          </a:p>
        </p:txBody>
      </p:sp>
    </p:spTree>
    <p:extLst>
      <p:ext uri="{BB962C8B-B14F-4D97-AF65-F5344CB8AC3E}">
        <p14:creationId xmlns:p14="http://schemas.microsoft.com/office/powerpoint/2010/main" val="89448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/>
      <p:bldP spid="107" grpId="0" animBg="1"/>
      <p:bldP spid="108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BC6991-714E-30F6-EA7A-9B66569034AF}"/>
              </a:ext>
            </a:extLst>
          </p:cNvPr>
          <p:cNvSpPr txBox="1"/>
          <p:nvPr/>
        </p:nvSpPr>
        <p:spPr>
          <a:xfrm>
            <a:off x="877824" y="4666566"/>
            <a:ext cx="107381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Choice of k Is Crucial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b="1" dirty="0"/>
              <a:t>Poor Performance with Imbalanced Classes</a:t>
            </a:r>
          </a:p>
          <a:p>
            <a:r>
              <a:rPr lang="en-GB" sz="2400" dirty="0"/>
              <a:t>For classification, k‑NN may be biased toward majority classes if data is imbalanced.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32B31-9286-FFBE-BD18-04C5A3BE5116}"/>
              </a:ext>
            </a:extLst>
          </p:cNvPr>
          <p:cNvSpPr txBox="1"/>
          <p:nvPr/>
        </p:nvSpPr>
        <p:spPr>
          <a:xfrm>
            <a:off x="947928" y="650081"/>
            <a:ext cx="10668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Easy Algorithm</a:t>
            </a:r>
          </a:p>
          <a:p>
            <a:r>
              <a:rPr lang="en-GB" sz="2400" dirty="0"/>
              <a:t>Algorithm = distance + </a:t>
            </a:r>
            <a:r>
              <a:rPr lang="en-GB" sz="2400" dirty="0" err="1"/>
              <a:t>neighbor</a:t>
            </a:r>
            <a:r>
              <a:rPr lang="en-GB" sz="2400" dirty="0"/>
              <a:t> selection procedure</a:t>
            </a:r>
          </a:p>
          <a:p>
            <a:r>
              <a:rPr lang="en-GB" sz="2400" dirty="0"/>
              <a:t>(k-NN is considered a </a:t>
            </a:r>
            <a:r>
              <a:rPr lang="en-GB" sz="2400" b="1" dirty="0"/>
              <a:t>lazy learning algorithm</a:t>
            </a:r>
            <a:r>
              <a:rPr lang="en-GB" sz="2400" dirty="0"/>
              <a:t> because it doesn’t really train a model in advance)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Simple Model</a:t>
            </a:r>
          </a:p>
          <a:p>
            <a:r>
              <a:rPr lang="en-GB" sz="2400" dirty="0"/>
              <a:t>Model = stored dataset + chosen k + distance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87800-1D87-B3B1-B9CE-2C8E00FD300B}"/>
              </a:ext>
            </a:extLst>
          </p:cNvPr>
          <p:cNvSpPr txBox="1"/>
          <p:nvPr/>
        </p:nvSpPr>
        <p:spPr>
          <a:xfrm>
            <a:off x="381000" y="252442"/>
            <a:ext cx="571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Advantages of k‑NN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1012B-F39B-2A2E-D193-4CE464968CBF}"/>
              </a:ext>
            </a:extLst>
          </p:cNvPr>
          <p:cNvSpPr txBox="1"/>
          <p:nvPr/>
        </p:nvSpPr>
        <p:spPr>
          <a:xfrm>
            <a:off x="566928" y="3965799"/>
            <a:ext cx="571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Disadvantages of k‑NN</a:t>
            </a:r>
          </a:p>
        </p:txBody>
      </p:sp>
    </p:spTree>
    <p:extLst>
      <p:ext uri="{BB962C8B-B14F-4D97-AF65-F5344CB8AC3E}">
        <p14:creationId xmlns:p14="http://schemas.microsoft.com/office/powerpoint/2010/main" val="378132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4AA7C-33EC-1672-A745-03226E76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0E703D-F690-9166-9E65-500148C9A4C1}"/>
              </a:ext>
            </a:extLst>
          </p:cNvPr>
          <p:cNvSpPr txBox="1"/>
          <p:nvPr/>
        </p:nvSpPr>
        <p:spPr>
          <a:xfrm>
            <a:off x="1409700" y="2659559"/>
            <a:ext cx="9372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Un</a:t>
            </a:r>
            <a:r>
              <a:rPr lang="en-GB" sz="4400" dirty="0">
                <a:solidFill>
                  <a:srgbClr val="92D050"/>
                </a:solidFill>
                <a:latin typeface="Consolas"/>
              </a:rPr>
              <a:t>s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upervised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Learning Example</a:t>
            </a:r>
          </a:p>
        </p:txBody>
      </p:sp>
    </p:spTree>
    <p:extLst>
      <p:ext uri="{BB962C8B-B14F-4D97-AF65-F5344CB8AC3E}">
        <p14:creationId xmlns:p14="http://schemas.microsoft.com/office/powerpoint/2010/main" val="324915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0165-F062-5D55-209A-17294B59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C98238-39EF-E6F7-EBD2-C6554D933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46" y="97474"/>
            <a:ext cx="549122" cy="491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BB24E6-11EE-DD19-7EAC-68A65B28C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93" y="178703"/>
            <a:ext cx="542736" cy="5171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A8CABC-BE3F-BAE5-1EC6-717FE1264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270" y="56410"/>
            <a:ext cx="586791" cy="6553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29A61F-3A5D-B8D8-F849-68823D57B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526" y="21693"/>
            <a:ext cx="516058" cy="5415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FF59E1-2A4A-BCBC-58BF-F72F251602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082" y="103335"/>
            <a:ext cx="459730" cy="4788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9C255F-E963-0553-EE90-6DF5FB2164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7509" y="157442"/>
            <a:ext cx="468244" cy="491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ACA0E5-1322-F9F3-BA94-802C22E8A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8468" y="115020"/>
            <a:ext cx="580998" cy="6271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B901B1B-7C6E-CB61-272E-059E5325F1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2770" y="122478"/>
            <a:ext cx="646052" cy="5415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F96BDA-EE26-7797-81D2-C3F1DA12E1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7291" y="-5390"/>
            <a:ext cx="549122" cy="7012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67BD100-6E78-4176-4799-5583EAE0FF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7517" y="84119"/>
            <a:ext cx="598043" cy="546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73EFFB6-E7C2-C8B6-0DB4-6286C02CD3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97797" y="182298"/>
            <a:ext cx="620320" cy="44194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563E1-1AB5-F0F9-A69C-145932084FCE}"/>
              </a:ext>
            </a:extLst>
          </p:cNvPr>
          <p:cNvCxnSpPr>
            <a:cxnSpLocks/>
          </p:cNvCxnSpPr>
          <p:nvPr/>
        </p:nvCxnSpPr>
        <p:spPr>
          <a:xfrm>
            <a:off x="6063428" y="841824"/>
            <a:ext cx="0" cy="772870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1B59060-3A1E-1C50-8CB0-453F3DD86B27}"/>
              </a:ext>
            </a:extLst>
          </p:cNvPr>
          <p:cNvSpPr txBox="1"/>
          <p:nvPr/>
        </p:nvSpPr>
        <p:spPr>
          <a:xfrm>
            <a:off x="6313419" y="872197"/>
            <a:ext cx="3232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Feature extraction e.g., </a:t>
            </a:r>
            <a:r>
              <a:rPr lang="en-US" sz="1800" dirty="0">
                <a:solidFill>
                  <a:srgbClr val="92D050"/>
                </a:solidFill>
              </a:rPr>
              <a:t>sweetness, crunchiness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5DF3DD-9B03-8161-731A-7E8EEF230E5A}"/>
              </a:ext>
            </a:extLst>
          </p:cNvPr>
          <p:cNvSpPr txBox="1"/>
          <p:nvPr/>
        </p:nvSpPr>
        <p:spPr>
          <a:xfrm>
            <a:off x="4514487" y="4480580"/>
            <a:ext cx="328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Learning                        to cluster 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86A02F-9B7B-BB6D-8603-33C9354F4FD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1493" y="4313795"/>
            <a:ext cx="810552" cy="70520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8E86C4-598D-A933-B74E-0E99093B0D23}"/>
              </a:ext>
            </a:extLst>
          </p:cNvPr>
          <p:cNvCxnSpPr>
            <a:cxnSpLocks/>
          </p:cNvCxnSpPr>
          <p:nvPr/>
        </p:nvCxnSpPr>
        <p:spPr>
          <a:xfrm>
            <a:off x="6073855" y="5062916"/>
            <a:ext cx="0" cy="639502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F42984-2004-918C-BE0F-B573E46C3C92}"/>
              </a:ext>
            </a:extLst>
          </p:cNvPr>
          <p:cNvSpPr txBox="1"/>
          <p:nvPr/>
        </p:nvSpPr>
        <p:spPr>
          <a:xfrm>
            <a:off x="535129" y="122478"/>
            <a:ext cx="1612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Unlabeled  Data</a:t>
            </a:r>
            <a:endParaRPr lang="en-GB" sz="2400" b="1" dirty="0">
              <a:solidFill>
                <a:srgbClr val="92D05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40E30D-9228-63B6-8C2E-68010C8A79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4546" y="5702418"/>
            <a:ext cx="659536" cy="105647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96626A-9615-8160-F2F9-28A1DAE7ED21}"/>
              </a:ext>
            </a:extLst>
          </p:cNvPr>
          <p:cNvCxnSpPr/>
          <p:nvPr/>
        </p:nvCxnSpPr>
        <p:spPr>
          <a:xfrm>
            <a:off x="5031094" y="6230657"/>
            <a:ext cx="520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217546-B159-F5B4-746B-D362630C6B91}"/>
              </a:ext>
            </a:extLst>
          </p:cNvPr>
          <p:cNvCxnSpPr/>
          <p:nvPr/>
        </p:nvCxnSpPr>
        <p:spPr>
          <a:xfrm>
            <a:off x="6524167" y="6242463"/>
            <a:ext cx="520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6FC75E-9E02-2AEA-0BD9-05BD0DB21326}"/>
              </a:ext>
            </a:extLst>
          </p:cNvPr>
          <p:cNvSpPr txBox="1"/>
          <p:nvPr/>
        </p:nvSpPr>
        <p:spPr>
          <a:xfrm>
            <a:off x="154258" y="2286468"/>
            <a:ext cx="3271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Unsupervised Learning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F284C4-2680-23F0-5FC0-08AA1B0447D9}"/>
              </a:ext>
            </a:extLst>
          </p:cNvPr>
          <p:cNvSpPr txBox="1"/>
          <p:nvPr/>
        </p:nvSpPr>
        <p:spPr>
          <a:xfrm>
            <a:off x="2834360" y="5025477"/>
            <a:ext cx="3193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New data (sweetness = 6, crunchiness =4 for apricot)</a:t>
            </a:r>
            <a:endParaRPr lang="en-GB" sz="20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3ABE152-9060-62F0-315C-6F5352FEBD4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1021" y="91476"/>
            <a:ext cx="792562" cy="502601"/>
          </a:xfrm>
          <a:prstGeom prst="rect">
            <a:avLst/>
          </a:prstGeom>
        </p:spPr>
      </p:pic>
      <p:cxnSp>
        <p:nvCxnSpPr>
          <p:cNvPr id="2048" name="Straight Arrow Connector 2047">
            <a:extLst>
              <a:ext uri="{FF2B5EF4-FFF2-40B4-BE49-F238E27FC236}">
                <a16:creationId xmlns:a16="http://schemas.microsoft.com/office/drawing/2014/main" id="{FB63B776-4D2C-F7A5-36A7-B40554A2C18A}"/>
              </a:ext>
            </a:extLst>
          </p:cNvPr>
          <p:cNvCxnSpPr>
            <a:cxnSpLocks/>
          </p:cNvCxnSpPr>
          <p:nvPr/>
        </p:nvCxnSpPr>
        <p:spPr>
          <a:xfrm>
            <a:off x="6063428" y="4020185"/>
            <a:ext cx="0" cy="410962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3" name="Picture 14" descr="Apricot - Free food icons">
            <a:extLst>
              <a:ext uri="{FF2B5EF4-FFF2-40B4-BE49-F238E27FC236}">
                <a16:creationId xmlns:a16="http://schemas.microsoft.com/office/drawing/2014/main" id="{295EA50D-B8DE-CC81-0C81-C15D1346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415" y="5748132"/>
            <a:ext cx="909691" cy="90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ABC62-5FA6-3878-877A-946E920BC72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7097" y="1664127"/>
            <a:ext cx="2999508" cy="23896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FEC67C-DDFD-E795-ACB1-8A6EC2946F19}"/>
              </a:ext>
            </a:extLst>
          </p:cNvPr>
          <p:cNvSpPr/>
          <p:nvPr/>
        </p:nvSpPr>
        <p:spPr>
          <a:xfrm>
            <a:off x="5438654" y="1654616"/>
            <a:ext cx="2176971" cy="2362797"/>
          </a:xfrm>
          <a:prstGeom prst="rect">
            <a:avLst/>
          </a:prstGeom>
          <a:noFill/>
          <a:ln w="444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3722C-2721-CC2C-ED1F-5B72FCDB216B}"/>
              </a:ext>
            </a:extLst>
          </p:cNvPr>
          <p:cNvSpPr txBox="1"/>
          <p:nvPr/>
        </p:nvSpPr>
        <p:spPr>
          <a:xfrm>
            <a:off x="5910940" y="2567714"/>
            <a:ext cx="1262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</a:rPr>
              <a:t>Features</a:t>
            </a:r>
            <a:endParaRPr lang="en-GB" sz="20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27DC31-464D-C0C6-3B34-9EDEB5D86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605" y="6296066"/>
            <a:ext cx="549122" cy="4916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59CDC6-78D3-B2B8-EDF0-2E6F36065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473" y="6158397"/>
            <a:ext cx="586791" cy="6553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8E8D3A-4D69-A752-E504-AA5611897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7989" y="5807476"/>
            <a:ext cx="459730" cy="478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B7DEB6-C26A-65C0-872D-2742EDD67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410" y="5567448"/>
            <a:ext cx="516058" cy="541543"/>
          </a:xfrm>
          <a:prstGeom prst="rect">
            <a:avLst/>
          </a:prstGeom>
        </p:spPr>
      </p:pic>
      <p:pic>
        <p:nvPicPr>
          <p:cNvPr id="25" name="Picture 14" descr="Apricot - Free food icons">
            <a:extLst>
              <a:ext uri="{FF2B5EF4-FFF2-40B4-BE49-F238E27FC236}">
                <a16:creationId xmlns:a16="http://schemas.microsoft.com/office/drawing/2014/main" id="{E27A6AE7-A685-3174-0A6A-6C17E8492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422" y="5838219"/>
            <a:ext cx="549122" cy="54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66DB59-0162-CC28-513F-DA80D98FAC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6492" y="4476895"/>
            <a:ext cx="620320" cy="44194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2D956D1-47E0-158C-09E7-CD82D30A14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3372" y="3984836"/>
            <a:ext cx="598043" cy="5467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2C109BA-F3ED-1C9B-5653-A7C78BA865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4668" y="4600445"/>
            <a:ext cx="792562" cy="502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0BA4A35-A28E-B92D-0550-283A5DEA7B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071" y="6127087"/>
            <a:ext cx="468244" cy="49165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1C80487-1FE7-B58C-FF20-FD80889E8F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1055" y="5419809"/>
            <a:ext cx="580998" cy="62710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EB36CD3-CF51-D1AF-2FC6-31F9D4F86C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7205" y="6180434"/>
            <a:ext cx="646052" cy="54154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EF555E9-F2C8-78A8-14AA-FCB18FAD67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2147" y="5487575"/>
            <a:ext cx="549122" cy="7012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0819D4-7C9A-CA59-4401-2BEC1C4D2B54}"/>
              </a:ext>
            </a:extLst>
          </p:cNvPr>
          <p:cNvSpPr txBox="1"/>
          <p:nvPr/>
        </p:nvSpPr>
        <p:spPr>
          <a:xfrm>
            <a:off x="5583391" y="6312860"/>
            <a:ext cx="1374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Model</a:t>
            </a:r>
            <a:endParaRPr lang="en-GB" sz="2400" b="1" dirty="0">
              <a:solidFill>
                <a:srgbClr val="92D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94DA1-AB6A-2D1E-6F64-404C22261349}"/>
              </a:ext>
            </a:extLst>
          </p:cNvPr>
          <p:cNvSpPr txBox="1"/>
          <p:nvPr/>
        </p:nvSpPr>
        <p:spPr>
          <a:xfrm>
            <a:off x="2875373" y="4416035"/>
            <a:ext cx="1599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Algorithm</a:t>
            </a:r>
            <a:endParaRPr lang="en-GB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58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2" grpId="0"/>
      <p:bldP spid="7" grpId="0" animBg="1"/>
      <p:bldP spid="9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94D4-156B-48E0-06A3-AF39F0E8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9FE78-6CFA-1A4A-D7F3-B833A67C1196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3DE6AB-3B44-2FA4-BD94-E0163AC03D01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7F13855-7D8D-17E8-53B7-EE459C9C5C09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8C663D-3972-1E99-2CE0-BFE1030C804F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4E779F-EA5F-2E8B-95D7-89643FAC12D3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9C6A70-D575-BDEA-687E-4037CE437491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02CF21-5D5E-570B-860E-8C408BCA888F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735D74-C77D-AACE-C44F-4CCFC66A3D1C}"/>
              </a:ext>
            </a:extLst>
          </p:cNvPr>
          <p:cNvSpPr txBox="1"/>
          <p:nvPr/>
        </p:nvSpPr>
        <p:spPr>
          <a:xfrm>
            <a:off x="1088246" y="2109372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75F5F-1936-C758-8BDC-F154FD5D0030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5F72C-DA80-511A-EAB5-13495D913420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A38141-520C-19C6-5917-C8578F6C54BD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693F89-3816-7A45-1097-1718666F3354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CFFDDA-60F3-C542-28BB-10B2FE545B73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7D56B6-8897-8389-CD90-D32805257FC6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A58725-27EB-AF96-E5EB-91DAC2BB47A1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CEF410-CD11-CECD-C0F8-63004F6C9AC6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032D6E-4115-F710-3D5A-E52AA1384DE7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772B1-61A2-00F7-697C-95A42D79BD30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6E6072-5996-97F7-80EA-89144337292A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716D6E-B544-6562-0841-75CA5B58DDDE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93259E5-7E96-1515-B087-05383D822ECE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71052-9E31-CC14-59FE-5DE50F9305DD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CCF821C-2B72-432C-2348-85BA417E409E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C07778-0153-2A0A-0080-030DC0C2A25F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C3EACB1-00FC-BBA1-C605-6832DE0921FA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C1B562-6C45-95C7-B241-01C9137E89A4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3A48FE-0D12-941D-43E4-8D2720AD603B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B7BE34-0932-F00D-F6A3-BD9A963FCB46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37F5996-2560-A17D-F306-C5996C23F253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E76D1B-64F6-0680-5A5D-8EF132C85165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4E45E7-B56A-FF9F-306B-0755E2473D26}"/>
              </a:ext>
            </a:extLst>
          </p:cNvPr>
          <p:cNvSpPr txBox="1"/>
          <p:nvPr/>
        </p:nvSpPr>
        <p:spPr>
          <a:xfrm>
            <a:off x="6763513" y="946159"/>
            <a:ext cx="53673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GB" sz="2400" dirty="0"/>
              <a:t>Choose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indent="-457200">
              <a:buAutoNum type="arabicParenR"/>
            </a:pPr>
            <a:r>
              <a:rPr lang="en-GB" sz="2400" dirty="0"/>
              <a:t>Measure the distance from the first data point (Green Bean) to each of the cluster centroids.</a:t>
            </a:r>
          </a:p>
          <a:p>
            <a:pPr marL="457200" indent="-457200">
              <a:buAutoNum type="arabicParenR"/>
            </a:pPr>
            <a:r>
              <a:rPr lang="en-GB" sz="2400" dirty="0"/>
              <a:t>Assign the point to the cluster that is closest to it.</a:t>
            </a:r>
            <a:endParaRPr lang="en-GB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C429F-5C5F-C951-2EBF-DBFE0A0BCA1A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6E0B2-8A71-2B9D-7972-0AC8F32638B0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42BED8-D5F9-343F-7645-3FD92B52D3EF}"/>
              </a:ext>
            </a:extLst>
          </p:cNvPr>
          <p:cNvCxnSpPr>
            <a:cxnSpLocks/>
          </p:cNvCxnSpPr>
          <p:nvPr/>
        </p:nvCxnSpPr>
        <p:spPr>
          <a:xfrm flipH="1" flipV="1">
            <a:off x="2054427" y="2641017"/>
            <a:ext cx="274112" cy="8379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FF8FB38-3505-D049-86CE-12543F33847B}"/>
              </a:ext>
            </a:extLst>
          </p:cNvPr>
          <p:cNvCxnSpPr>
            <a:cxnSpLocks/>
          </p:cNvCxnSpPr>
          <p:nvPr/>
        </p:nvCxnSpPr>
        <p:spPr>
          <a:xfrm flipH="1" flipV="1">
            <a:off x="2011816" y="2605566"/>
            <a:ext cx="1048421" cy="16739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CBD49A-4A15-CFB5-5EAF-A330380AAF48}"/>
              </a:ext>
            </a:extLst>
          </p:cNvPr>
          <p:cNvCxnSpPr>
            <a:cxnSpLocks/>
          </p:cNvCxnSpPr>
          <p:nvPr/>
        </p:nvCxnSpPr>
        <p:spPr>
          <a:xfrm flipH="1">
            <a:off x="2075952" y="2536211"/>
            <a:ext cx="2188385" cy="848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84EFCB8-CD62-F5A2-66B2-7C77F3658BC3}"/>
              </a:ext>
            </a:extLst>
          </p:cNvPr>
          <p:cNvSpPr/>
          <p:nvPr/>
        </p:nvSpPr>
        <p:spPr>
          <a:xfrm>
            <a:off x="1919628" y="2540771"/>
            <a:ext cx="152397" cy="15239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89CA0A-9BEC-37BD-5E23-5A7E3D059FB7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95F16-BC17-92BD-1CE9-3F4B0F89FF17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72276-EBA6-1E60-2129-2876874F0A0E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</p:spTree>
    <p:extLst>
      <p:ext uri="{BB962C8B-B14F-4D97-AF65-F5344CB8AC3E}">
        <p14:creationId xmlns:p14="http://schemas.microsoft.com/office/powerpoint/2010/main" val="342286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0" grpId="0" animBg="1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B5AA-406E-BA8A-8B9A-D6604125C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C8AEB9-B056-43F9-1616-ED61B4636C14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2BA8C-3131-05A8-C6C7-28FE09983AD1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42E2C34-B014-48F5-41DA-E118D3EFA6FC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4C3A7B-E7B2-B76D-806F-0CF313CDC36A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390227-D8E9-225A-7369-59400BA53806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AC37E5-7BAB-675C-14BB-560D7DBD9BAD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F0AAC8-1520-5836-CA39-06C20F8320F8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71170-64B0-A52B-031C-C9699C421CB5}"/>
              </a:ext>
            </a:extLst>
          </p:cNvPr>
          <p:cNvSpPr txBox="1"/>
          <p:nvPr/>
        </p:nvSpPr>
        <p:spPr>
          <a:xfrm>
            <a:off x="1088246" y="2109372"/>
            <a:ext cx="849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2B7CB-FFD8-2DD6-E0DB-0E3711FED1BE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870CFB-18A7-0A00-BB31-B39AB526CE52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03A19B-2AEC-C580-FC88-FA54080F3C48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9C1B0-970E-CF40-F149-25FC91F0C068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17AD9C-2486-7A56-2703-FDFAC351E07E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142C8-2E20-7D10-0894-1FB7975160C3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6555776-7FC3-E07E-1F25-33E02B533E92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9A241-051F-688B-2F66-31A019E9FDFF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F91742-E1CC-F0CC-C1FD-1C403FEEA808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C48EC5-3840-6FDA-ACB3-A6CF8FA77349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5DC18F-CB94-5292-A417-0FF56B784339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9B221-78FF-C731-514B-790054A87354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087DCF3-4959-E2BE-4B4D-E7D4CF31E0A0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40C1D4-AE28-AD2D-22FA-6C0C24D4067D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62E1B8-8FFE-E659-00AD-F048B52F2534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C5EDB9-FF56-0430-114D-68A764B2D56A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D9FFF48-F654-9CF1-E060-2B961043C03C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692C5E-A0C7-FD5D-43A0-461EDCAEC3A3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DD50B9-301D-19C0-3026-C9F2AFCE7DC0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748459-81A7-5C0F-4237-2C44BC897680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C86A79-CB78-C923-3A20-F2F6CEC82A7C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5D5AE4-DEF1-99FC-F78C-D979A92B642A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0531C-EFC5-C1E2-D68A-080A607F3D72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4F2E4-0A76-6779-70B7-E4DA01506157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BCE451-57F1-0EC9-135D-252A2075B4AA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1426100" y="2732141"/>
            <a:ext cx="943559" cy="1750594"/>
          </a:xfrm>
          <a:prstGeom prst="line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3C09A6-8AA6-5786-1079-C5B840126BC3}"/>
              </a:ext>
            </a:extLst>
          </p:cNvPr>
          <p:cNvCxnSpPr>
            <a:cxnSpLocks/>
            <a:endCxn id="22" idx="6"/>
          </p:cNvCxnSpPr>
          <p:nvPr/>
        </p:nvCxnSpPr>
        <p:spPr>
          <a:xfrm flipH="1">
            <a:off x="1556179" y="4389674"/>
            <a:ext cx="1496934" cy="39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6A42A11-EFC1-95CE-27F6-06F660C0F52B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1533861" y="2588852"/>
            <a:ext cx="2831066" cy="17861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373C154-8F67-CA2B-EE02-175DACE7F826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F9BDE8-BB90-0523-8CA8-533686415DBF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6AE3BE-7A07-B5D3-8818-C4C7B94E8075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8FC316-A220-B955-F776-E1158EBB6099}"/>
              </a:ext>
            </a:extLst>
          </p:cNvPr>
          <p:cNvSpPr txBox="1"/>
          <p:nvPr/>
        </p:nvSpPr>
        <p:spPr>
          <a:xfrm>
            <a:off x="6763513" y="946159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GB" sz="2400" dirty="0"/>
              <a:t>Choose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indent="-457200">
              <a:buAutoNum type="arabicParenR"/>
            </a:pPr>
            <a:r>
              <a:rPr lang="en-GB" sz="2400" dirty="0"/>
              <a:t>Measure the distance from the first data point (Green Bean) to each of the cluster centroids.</a:t>
            </a:r>
          </a:p>
          <a:p>
            <a:pPr marL="457200" indent="-457200">
              <a:buAutoNum type="arabicParenR"/>
            </a:pPr>
            <a:r>
              <a:rPr lang="en-GB" sz="2400" dirty="0"/>
              <a:t>Assign the point to the cluster that is closest to it.</a:t>
            </a:r>
          </a:p>
          <a:p>
            <a:pPr marL="457200" lvl="0" indent="-457200">
              <a:buFontTx/>
              <a:buAutoNum type="arabicParenR"/>
            </a:pPr>
            <a:r>
              <a:rPr lang="en-GB" sz="2400" dirty="0">
                <a:solidFill>
                  <a:prstClr val="white"/>
                </a:solidFill>
              </a:rPr>
              <a:t>Repeat for all data points (e.g., Steak) to be initially assigned to a cluster.</a:t>
            </a:r>
            <a:endParaRPr lang="en-GB" sz="2800" dirty="0">
              <a:solidFill>
                <a:prstClr val="white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E48524-8251-EC2B-CDF9-21EE5C9BB30B}"/>
              </a:ext>
            </a:extLst>
          </p:cNvPr>
          <p:cNvCxnSpPr>
            <a:cxnSpLocks/>
          </p:cNvCxnSpPr>
          <p:nvPr/>
        </p:nvCxnSpPr>
        <p:spPr>
          <a:xfrm flipH="1">
            <a:off x="1470088" y="2755703"/>
            <a:ext cx="858606" cy="16500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DF52031-5513-6BE7-55C0-79B36DBDA0A4}"/>
              </a:ext>
            </a:extLst>
          </p:cNvPr>
          <p:cNvSpPr/>
          <p:nvPr/>
        </p:nvSpPr>
        <p:spPr>
          <a:xfrm>
            <a:off x="1411761" y="4357168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674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0228-C0CC-F807-2BFD-10A20018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6BB7E5-3188-8840-3418-59A5453E4705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36CB1C-F4B5-A879-8D2E-0E47E0C1FB18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E0B0281-2EB3-7DBA-22EC-48F091307C70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538DB6-B64E-48D1-6761-C3262898635B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38F8AC-2DB6-F2A4-64F5-535CDBEAF7EF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5CC98A-92A1-1087-65DE-4F233462F167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3A0C4-1E81-6C21-F74D-66DA0882F074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8AD0E-E9A0-2CB2-1F0B-9F43AADF603B}"/>
              </a:ext>
            </a:extLst>
          </p:cNvPr>
          <p:cNvSpPr txBox="1"/>
          <p:nvPr/>
        </p:nvSpPr>
        <p:spPr>
          <a:xfrm>
            <a:off x="1088247" y="2109372"/>
            <a:ext cx="81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BAB0E-1B44-9E19-1574-83EC27F64E59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56C8F-E921-05C5-F2C3-1614FDCFEEC7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E740E0-2BAE-5C35-AE8C-50FE348FF4DD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31B2A-89B5-2A45-382C-26099DB369DE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0CAECF-1DA3-DDCF-2C79-6B5EB747E783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B933D4-3D70-4872-26FE-1AC923486EC8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57FBF4-EEBF-75AE-7BD5-3770D1ED61D3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689588-32BF-2BC1-3670-6D33413DEDD3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C7F158-9053-133A-3B8F-F1C23ADF5BC2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E2CF8C-C795-F192-69A7-5519B0A10B7E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621D6-600D-0301-1B6B-13A05D8B9656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20C8C21-519B-B498-9249-1BCBCFFFE635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1734F5-5C8A-5843-9A10-CDF64632B5AC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6A3FC6F-C61B-DD98-6893-C900B32EBF6E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8B042C-DC22-7B51-D9F5-1EB278093094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A1B2817-658E-AE2D-AF9E-374D656EA9BB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D79F45-BA0C-15DD-BACE-73286E414D1C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C996FD2-02D9-6041-A835-772A58368FC8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72D5EF-1A9B-5970-1496-25617F0E7C96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BB8E2A-94A6-860B-2175-4D5BFE923861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4FCEF2-05C1-A207-221C-B687C8DD74A1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70BA6-1963-D0FD-465E-EE58B4BF7B52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7A383-CDB2-508C-9E4A-B79669761378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6C198D-C11C-886E-EF7E-CCD0A76BA7F0}"/>
              </a:ext>
            </a:extLst>
          </p:cNvPr>
          <p:cNvCxnSpPr>
            <a:cxnSpLocks/>
            <a:endCxn id="50" idx="5"/>
          </p:cNvCxnSpPr>
          <p:nvPr/>
        </p:nvCxnSpPr>
        <p:spPr>
          <a:xfrm>
            <a:off x="2369659" y="2732141"/>
            <a:ext cx="2689612" cy="226434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A800606-34DA-0A7A-79EC-C500B4825409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3164465" y="4428943"/>
            <a:ext cx="1787045" cy="459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0C8455-B332-922C-172A-6C9F932D2545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4364927" y="2588852"/>
            <a:ext cx="586583" cy="22998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10C85EE-3DCD-24B5-4E7F-3273D1B165A5}"/>
              </a:ext>
            </a:extLst>
          </p:cNvPr>
          <p:cNvSpPr/>
          <p:nvPr/>
        </p:nvSpPr>
        <p:spPr>
          <a:xfrm>
            <a:off x="4929192" y="4866412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4BE123-0A93-2F9D-302B-B01E50E5FF54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56BDFC-AFED-60E9-3789-9D5C6D4F7B6E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AF9EC7-5042-7D8A-12B5-E6AB9D7EF0F3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67938C-0E9E-EA5E-C4CE-F0DAB5BCA688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lvl="0" indent="-457200">
              <a:buFontTx/>
              <a:buAutoNum type="arabicParenR"/>
            </a:pPr>
            <a:r>
              <a:rPr lang="en-GB" sz="2400" dirty="0">
                <a:solidFill>
                  <a:prstClr val="white"/>
                </a:solidFill>
              </a:rPr>
              <a:t>Repeat for all data points (e.g., Banana) to be initially assigned to a cluster.</a:t>
            </a:r>
            <a:endParaRPr lang="en-GB" sz="2800" dirty="0">
              <a:solidFill>
                <a:prstClr val="white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02978BD-7894-7F03-FE62-C76E1D31D07C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308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314B-AA9D-88F1-AA48-EDAC4BB2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40A35F-6D45-52C1-D043-14125A3690F2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9DC1F-34FE-8CA4-FEFD-DE4628FFEEBB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DF87BAB-80D1-7B19-1812-F6EA8318F3C5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EF837D-1697-B478-392F-EFC07FA20350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FFD6A0-4EA3-FFF4-6D7A-A3113715B935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43692B-4CA4-D5A8-AA24-4D102DDE6B3C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5B4C5-8C95-A1E5-5DF1-E4E106277991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4D698-0CBF-6923-A72D-7B9B45B5E428}"/>
              </a:ext>
            </a:extLst>
          </p:cNvPr>
          <p:cNvSpPr txBox="1"/>
          <p:nvPr/>
        </p:nvSpPr>
        <p:spPr>
          <a:xfrm>
            <a:off x="1088247" y="2109372"/>
            <a:ext cx="81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9BDB3F-F81A-7047-9FF9-3CE5B1546003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923E0-9C3B-9F5B-B743-D6944F0B5999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9E2BC5-2845-E227-666B-B112D313CF0F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65B341-286F-A4B0-9A4A-8183C4B3C88A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187A94-20BB-5499-ED0B-42EAD86DA1E5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A13DCB-2D2E-9DA6-7E5D-83DDF4BFD7D1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AFCAF1-66FE-EFB8-BEB5-41AFAAD98604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C988C-8958-479D-30D8-0847BC044363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61C70F-B661-A61C-2572-9D89B5BD89B8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5FDA9F-D879-5C11-AA24-6F4E79EC0971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00D63C-B7D2-45A9-D077-39CF5214971A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7873F2-E274-22FF-71CE-79E8E5605A82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DDEB70-F27F-49C4-F595-EAA41C535B29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67B048-8483-AA3A-96D2-2E144288DBF3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BA1010-5872-4044-BE3B-91B9B1B97A71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66E21B-BFCE-AFE8-AC59-6D64871FEDAA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D970FC-CC96-C90B-76DD-A2036769890B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1122B2A-11CD-8C93-4196-A0BC97E1C806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5B8006-683D-E56D-6492-095C44D0665A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CAE6D7-3486-BA4E-3D6B-4873BD410FEB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830122-9C70-67AE-08AC-660E2A7E059B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A3097-EEA0-9330-D17F-1B7D052F6946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B13DF-ACFE-23C9-5171-23CEAD014B07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1AE8C5-EA3A-F9D2-0DB8-19A3EBECC9A8}"/>
              </a:ext>
            </a:extLst>
          </p:cNvPr>
          <p:cNvCxnSpPr>
            <a:cxnSpLocks/>
          </p:cNvCxnSpPr>
          <p:nvPr/>
        </p:nvCxnSpPr>
        <p:spPr>
          <a:xfrm>
            <a:off x="1906664" y="1972064"/>
            <a:ext cx="1141336" cy="235283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268962D-C938-D3AD-6C4C-62DF62310600}"/>
              </a:ext>
            </a:extLst>
          </p:cNvPr>
          <p:cNvCxnSpPr>
            <a:cxnSpLocks/>
            <a:endCxn id="9" idx="5"/>
          </p:cNvCxnSpPr>
          <p:nvPr/>
        </p:nvCxnSpPr>
        <p:spPr>
          <a:xfrm flipH="1" flipV="1">
            <a:off x="1977261" y="2042912"/>
            <a:ext cx="351433" cy="5667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895549-5F5A-0DDB-34CF-F94882B7940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946349" y="2006743"/>
            <a:ext cx="2291475" cy="5180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B4B1D8B-6E9F-6137-97AB-1D2F6C485294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73E66E-DFDF-3368-40D4-BDAF97275624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A331F-9E52-E4B9-9218-8939A6E14E7F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1779BE-A2F5-4F48-B8CA-B10882AF5947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lvl="0" indent="-457200">
              <a:buFontTx/>
              <a:buAutoNum type="arabicParenR"/>
            </a:pPr>
            <a:r>
              <a:rPr lang="en-GB" sz="2400" dirty="0">
                <a:solidFill>
                  <a:prstClr val="white"/>
                </a:solidFill>
              </a:rPr>
              <a:t>Repeat for all data points (e.g., Celery) to be initially assigned to a cluster.</a:t>
            </a:r>
            <a:endParaRPr lang="en-GB" sz="2800" dirty="0">
              <a:solidFill>
                <a:prstClr val="white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5F5699-57A4-02CB-D4DE-1F7C32E58BEB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9795C81-69F2-52F8-E7FC-EBB491A63959}"/>
              </a:ext>
            </a:extLst>
          </p:cNvPr>
          <p:cNvSpPr/>
          <p:nvPr/>
        </p:nvSpPr>
        <p:spPr>
          <a:xfrm>
            <a:off x="1850431" y="1912836"/>
            <a:ext cx="152397" cy="15239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075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D4D9-89DA-5622-90E1-857E39EB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5E6A24-D891-8D5C-361B-DBAEDB61E4B3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D18B96-F588-3076-84D4-B25C2ED959F0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0E9C23-B0D6-D52A-9129-51183A7FF49D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63DD4E-8870-688E-4470-A885433EC548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91F5E0-2921-D066-0B02-A49FFFDF938A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08473A-4B17-7837-B66C-DFB77373FDF3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F5153-0CB3-7BC1-7575-812B72BE939D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B318D-2A33-8CB7-F478-7B2A590BCABE}"/>
              </a:ext>
            </a:extLst>
          </p:cNvPr>
          <p:cNvSpPr txBox="1"/>
          <p:nvPr/>
        </p:nvSpPr>
        <p:spPr>
          <a:xfrm>
            <a:off x="1088247" y="2109372"/>
            <a:ext cx="81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82BCC-FFE4-3E1F-1225-09B337E04FA0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F94B85-74F0-5346-99A3-68F4C4905BA6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CF2444-E7B7-7FA2-1E38-EAEDA4185A8B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FCE8E-D74D-0D01-9578-3150E9B871A3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6AF801-E142-6BC4-2F38-84A35A9362E1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F0887A-6023-0FB9-11C1-646B71B8D57F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D7D4D2-B064-63EC-7C97-D11B0128803D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BB33F-4761-B2BF-79C4-9EE102AA1CD3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D438E2-7032-57E5-A063-633F2A02F547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2E9CA7-B8F8-247D-E490-B404A07535A1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37A70C-D4F6-B999-0A56-0C8F58CACFB7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AC42AA-3182-AC3A-8760-8851BDACD00B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22470-010E-5524-D8D0-0C629D774FF0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F822254-1C9E-577B-B053-656041587888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C1F97A-B426-0DA8-8692-762D2185D369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FCBFD4-6A94-065A-38F1-8ABDCE53D603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46C601-CDDF-5E8E-3C84-9B236244215D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73F5070-71E7-AB7D-AB8E-3F6316846AB1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7034B8-DE6B-AA91-C114-6ECE1F6B14F8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E63DAD-AD8A-1D44-572C-D12EADA6DB46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283F1C-9BA5-B43A-0061-25F9E1C9BA1A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69A5-6CD3-4528-4B47-0CDDCDF90161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07704-7DD2-D66F-4FC8-33FE29280B85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20419C-A68C-BF4C-009D-E223B9C07453}"/>
              </a:ext>
            </a:extLst>
          </p:cNvPr>
          <p:cNvCxnSpPr>
            <a:cxnSpLocks/>
            <a:stCxn id="39" idx="6"/>
          </p:cNvCxnSpPr>
          <p:nvPr/>
        </p:nvCxnSpPr>
        <p:spPr>
          <a:xfrm flipH="1">
            <a:off x="3048000" y="3081320"/>
            <a:ext cx="2670047" cy="12435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8FF0F3-2A58-A9F5-F381-FBC4F6357630}"/>
              </a:ext>
            </a:extLst>
          </p:cNvPr>
          <p:cNvCxnSpPr>
            <a:cxnSpLocks/>
            <a:stCxn id="39" idx="5"/>
          </p:cNvCxnSpPr>
          <p:nvPr/>
        </p:nvCxnSpPr>
        <p:spPr>
          <a:xfrm flipH="1" flipV="1">
            <a:off x="2413326" y="2685910"/>
            <a:ext cx="3282403" cy="4492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495C2C-B227-BF8B-0BED-2D4AAFBC7E14}"/>
              </a:ext>
            </a:extLst>
          </p:cNvPr>
          <p:cNvCxnSpPr>
            <a:cxnSpLocks/>
            <a:endCxn id="39" idx="5"/>
          </p:cNvCxnSpPr>
          <p:nvPr/>
        </p:nvCxnSpPr>
        <p:spPr>
          <a:xfrm>
            <a:off x="4505115" y="2527669"/>
            <a:ext cx="1190614" cy="6075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499E8BD-23B4-0A76-6C99-E351E63B6874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3922A-1E23-ED2C-318D-F35D0AC29663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937D93-A492-B9CE-BC0A-18DE9A52E9D8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F4DE23-26D8-A447-D0F4-8CD53F1E31BC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lvl="0" indent="-457200">
              <a:buFontTx/>
              <a:buAutoNum type="arabicParenR"/>
            </a:pPr>
            <a:r>
              <a:rPr lang="en-GB" sz="2400" dirty="0">
                <a:solidFill>
                  <a:prstClr val="white"/>
                </a:solidFill>
              </a:rPr>
              <a:t>Repeat for all data points (e.g., Pear) to be initially assigned to a cluster.</a:t>
            </a:r>
            <a:endParaRPr lang="en-GB" sz="2800" dirty="0">
              <a:solidFill>
                <a:prstClr val="white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991A037-F8CB-E3B3-2B8E-45A5371B4F94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B1635F-CF19-AA0C-F53A-7B26E1A43147}"/>
              </a:ext>
            </a:extLst>
          </p:cNvPr>
          <p:cNvSpPr/>
          <p:nvPr/>
        </p:nvSpPr>
        <p:spPr>
          <a:xfrm>
            <a:off x="5566835" y="3005123"/>
            <a:ext cx="152397" cy="1523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30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D0CC-5FC4-69D2-537A-344934E7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55365-315A-03A5-2DCF-25CB46F705FF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4AE3DA-7BF4-D8DF-F2F4-387DEEC9D39C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342D9FB-8098-E183-F9DD-A678CD1D81AB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070CC5-D34D-B141-FEF8-D7ECB36F5C3D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E2F9A2-5927-32D2-ADDA-DB9288E04BE6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41BAEED-6B09-9AA3-DA15-CBC5FBCB7FD9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5AA93F-25FE-AD68-3563-B7A8BD74B2E9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847B0D-5614-5DCA-4A54-60519386E665}"/>
              </a:ext>
            </a:extLst>
          </p:cNvPr>
          <p:cNvSpPr txBox="1"/>
          <p:nvPr/>
        </p:nvSpPr>
        <p:spPr>
          <a:xfrm>
            <a:off x="1088247" y="2109372"/>
            <a:ext cx="795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2E619-E65D-214B-F9A1-6715C9C2650B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EEEE25-FBF6-992F-ACE5-BAC9D6FB8C29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FEE039-1817-F9A5-A4D1-6FBA0279C10A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3B292-859B-C833-527E-82C42492B7F9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2620B7-D81E-E884-F854-E68C3E43B87E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A7258-4A35-70F0-4551-7D6FF170AFE4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FB93255-CAE2-8588-8E21-4EF5C473CAC0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015CE9-238D-B314-F404-B0ADEE8180DF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0CB4436-22B5-302D-3D1E-6F8989D8CF38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E74BF0-390C-3103-1BA2-00929C917E95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C9D51D-8736-FF91-1BB5-03512C3B41FD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1FB920-6E11-90C0-A641-E4400EA31F19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C1DC37E-09D5-70D7-F245-992EB7313327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78BC7A-59E1-9ABC-F0F1-3027623985FB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FA03BB4-0053-C918-A103-93B5105B39B3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D88F4-797B-8991-1949-7E673EE3AB75}"/>
              </a:ext>
            </a:extLst>
          </p:cNvPr>
          <p:cNvSpPr txBox="1"/>
          <p:nvPr/>
        </p:nvSpPr>
        <p:spPr>
          <a:xfrm>
            <a:off x="3404662" y="479337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871721-1000-3E30-B843-85EC1F5D1CA7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F85611-8434-BDB0-88C8-433CDBB4B44F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13A013-D9D7-4FA7-D727-DE14904D5D1D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1A1F2F-8197-915B-D189-B451B18C6A99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5082FC-9FA8-BF08-7236-0D50004A43A9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373F7C-1C96-8C4A-DB19-F5E58ECE4F1D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F7BC7-0AEA-D821-2A05-569D424375CF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8640C-960C-878E-43BC-F4FD183CEB93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DC19D-4B04-FEC4-5A6C-52B0E7B33C21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2369659" y="2732141"/>
            <a:ext cx="2272306" cy="113634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353C13A-DD97-8C85-D063-9759DEF30E9E}"/>
              </a:ext>
            </a:extLst>
          </p:cNvPr>
          <p:cNvCxnSpPr>
            <a:cxnSpLocks/>
            <a:stCxn id="32" idx="3"/>
          </p:cNvCxnSpPr>
          <p:nvPr/>
        </p:nvCxnSpPr>
        <p:spPr>
          <a:xfrm flipH="1">
            <a:off x="3124200" y="3922361"/>
            <a:ext cx="1540083" cy="4302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7AE9A2-D216-9E80-81C0-B5C8DB8611F8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4419600" y="2609633"/>
            <a:ext cx="298564" cy="11826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9A75094-FE1F-6057-C658-1D3D467C0885}"/>
              </a:ext>
            </a:extLst>
          </p:cNvPr>
          <p:cNvSpPr/>
          <p:nvPr/>
        </p:nvSpPr>
        <p:spPr>
          <a:xfrm>
            <a:off x="4648072" y="3789441"/>
            <a:ext cx="152397" cy="1523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2C0A01-5FCA-4CAD-BE41-FE0B2D8C8D87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7D2E9-E995-8927-C38A-6205CD6EBA4E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7EE8AD-98BE-A699-4120-B98D8E69730D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E656FC-38EB-3FF1-DFD8-9D47B7EBDC4D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Repeat for all data points (e.g., Grape) to be initially assigned to a cluster.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299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E931-5918-1412-6DE5-5EB0B9B7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2700FC-1E89-96BA-1945-1697FAA7D1DA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10B733-6A33-A681-A13F-3AAFC349C8E3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E433B47-A88D-6CFB-752E-601A74460683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08B7E5-2FAA-B6B5-7E13-9FD564ABD2A1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0E0740-C53B-4D45-D347-EDAD0401B04E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1CFA67-76BF-A58B-1EE5-C2D8C5B19E92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388540-A87B-0A68-E64A-8B50857880C7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2262B1-87D3-48CB-A2AE-39B38FD0E5E4}"/>
              </a:ext>
            </a:extLst>
          </p:cNvPr>
          <p:cNvSpPr txBox="1"/>
          <p:nvPr/>
        </p:nvSpPr>
        <p:spPr>
          <a:xfrm>
            <a:off x="1088247" y="2109372"/>
            <a:ext cx="795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FB434-02AE-C26D-70D8-5737E7EC6D87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08D67A-D0EC-8F29-691E-E1CF46B9B9D7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59CC34-F2B2-E86F-016B-B49DDB07A1E1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B79EC-D227-DE24-84F2-FAA572882988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0F2277B-8E4F-0D07-DEEE-CF824EA7D207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5F5E49-1A0B-0B29-798E-EC4A486B6D75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A6C922-7008-AE87-172B-0D62D8B49E44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47560E-A1CF-F87F-B476-DA53C7ED7970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C46FB46-EC15-F8B5-7D81-FAAA5A1D5FA5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2BC77A-020F-4EBA-9CE3-1EAF167D8589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B7CD5-1E49-69FE-86A5-F59F50E3D03F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0D98D1-64A4-C471-C1A6-E8DD47E3134D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87DF38-C77E-E50E-63E6-535B46384870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10564-5FD0-4A04-24F0-E91AC850A04D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D0FF10-11AC-C53A-C8E2-A409D30F0559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1EBB4-993C-161E-6D8E-AD90211CD633}"/>
              </a:ext>
            </a:extLst>
          </p:cNvPr>
          <p:cNvSpPr txBox="1"/>
          <p:nvPr/>
        </p:nvSpPr>
        <p:spPr>
          <a:xfrm>
            <a:off x="3404662" y="479337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CB3922D-2ECB-0A84-A0B5-855FF5B5C0A1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7F39CC-85E5-F296-A5C4-AF24FD4C880D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F549716-5944-E479-4B6D-434A3D6A12AC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270C59-3DAC-BA84-7E9D-0032476D5D6B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A4FBEE9-8426-87D4-81B6-5D1914FCDC1D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04D665-F1B7-350F-56F4-AF7E2DD6B9E2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6A4BD-D14F-40F3-C70D-649EF7A2A606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1089C-CA86-52D7-5761-DFD157D6D992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FEB6F5-F029-D2C6-3DC3-B081EF308C4C}"/>
              </a:ext>
            </a:extLst>
          </p:cNvPr>
          <p:cNvCxnSpPr>
            <a:cxnSpLocks/>
            <a:endCxn id="20" idx="7"/>
          </p:cNvCxnSpPr>
          <p:nvPr/>
        </p:nvCxnSpPr>
        <p:spPr>
          <a:xfrm flipH="1">
            <a:off x="1567192" y="2755703"/>
            <a:ext cx="788933" cy="21278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F2A06C-E607-6FF0-7047-9E8FF827F0B7}"/>
              </a:ext>
            </a:extLst>
          </p:cNvPr>
          <p:cNvCxnSpPr>
            <a:cxnSpLocks/>
          </p:cNvCxnSpPr>
          <p:nvPr/>
        </p:nvCxnSpPr>
        <p:spPr>
          <a:xfrm flipH="1">
            <a:off x="1494371" y="4377204"/>
            <a:ext cx="1590293" cy="55484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6035D1-FC5F-EFA5-37E6-C0589C23ECC9}"/>
              </a:ext>
            </a:extLst>
          </p:cNvPr>
          <p:cNvCxnSpPr>
            <a:cxnSpLocks/>
            <a:endCxn id="20" idx="7"/>
          </p:cNvCxnSpPr>
          <p:nvPr/>
        </p:nvCxnSpPr>
        <p:spPr>
          <a:xfrm flipH="1">
            <a:off x="1567192" y="2617461"/>
            <a:ext cx="2764692" cy="226612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46B1D6F-D95C-70B4-0B57-93B77D631613}"/>
              </a:ext>
            </a:extLst>
          </p:cNvPr>
          <p:cNvSpPr/>
          <p:nvPr/>
        </p:nvSpPr>
        <p:spPr>
          <a:xfrm>
            <a:off x="1430066" y="4846410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FFD4B0-6170-F3FC-CD97-F74E87EA8783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5782F8-8512-450D-C66B-102C0FC647C3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EDBB0-D001-6BCE-EB7E-C3B5157277FC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6CB01A-962B-78A9-7C4A-B2D9F7FB9C4B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Repeat for all data points (e.g., Chicken) to be initially assigned to a cluster.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65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BD7B8-23E2-D94F-03B9-AAFA9899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5A63F1-09AB-E566-5E8C-735C5BE0735B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0AFA8F-33CD-B407-B2C7-B0DA58FA63F1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2EC278C-C7CA-FA90-C47B-1392EAE06C67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24F99A-7411-F01A-D4BE-3AE60988A945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C8CF48-2F08-925C-C07D-884DA7710385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C7C054-E4B8-339D-ADD2-F85063C3A9AE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181E6C-D4D5-CCFB-FFFB-3B76CC0F7C39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943D03-BC22-EED7-E598-F06FEEA6FC22}"/>
              </a:ext>
            </a:extLst>
          </p:cNvPr>
          <p:cNvSpPr txBox="1"/>
          <p:nvPr/>
        </p:nvSpPr>
        <p:spPr>
          <a:xfrm>
            <a:off x="1088247" y="2109372"/>
            <a:ext cx="795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78E3A-1464-7CAB-3ECE-331B8825C13F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17B9B5-4151-CCC6-9067-B960E7CBCDAA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6BFB720-658B-783C-2461-E6D35D2A9311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9E0D5-43DE-0DDC-4E9C-5779D51C9C83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EFBE9B-F16C-1DF4-7471-C7055F3EEDC6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B28E8C-F625-B626-0242-F1AFEB62A84C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D740B6-B8E0-F5D8-F8F8-273AADDBF895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D1F056-52B0-154A-881A-F913FA67E24A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47F638-DCB7-DA91-88EE-CF81CD0D5C32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6BEF27-AC8B-FF9B-D7E3-71245863B880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BFEB4E-37D6-D0B7-5671-8C5C29A453B6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B4E780-5697-CC88-1B98-91D3493CFD8E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3FE8B8E-2953-47BA-F010-E546B1710084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5C39E2-7E0F-F8A0-8F7A-94551CD15FB0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FD1FCE-4EAF-DFA9-98ED-96FAAE625A9F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D10DEB-9C5D-BF16-59F2-ADE1549BBB22}"/>
              </a:ext>
            </a:extLst>
          </p:cNvPr>
          <p:cNvSpPr txBox="1"/>
          <p:nvPr/>
        </p:nvSpPr>
        <p:spPr>
          <a:xfrm>
            <a:off x="3404662" y="479337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828832-6706-BE9D-2F5F-07A4E81943A6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E3DC06-E06C-1AFE-880E-76A55FC590CE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5194173-AA9B-59C0-40E2-079C94ECF1F3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A6AAB4-DDA4-8933-BD36-8E272F137B5C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A07327-6B18-7A32-21CF-CA912B97A88D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F4C748-D619-A630-C84D-CC6D056098F1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8B5D8-5DFF-445C-7C45-1387EF8566AA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77934-05B8-9DB5-1925-0C61AFA352AB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11FC8C-DC3B-9F9F-4A07-FBFB9FF5BC8E}"/>
              </a:ext>
            </a:extLst>
          </p:cNvPr>
          <p:cNvCxnSpPr>
            <a:cxnSpLocks/>
          </p:cNvCxnSpPr>
          <p:nvPr/>
        </p:nvCxnSpPr>
        <p:spPr>
          <a:xfrm>
            <a:off x="2427718" y="2754365"/>
            <a:ext cx="1722382" cy="20690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6F2CD0E-B239-12E0-6013-CE57AC790E30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3084664" y="4377204"/>
            <a:ext cx="989238" cy="3546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07181F6-4B83-4D11-AEA0-8DB617B06DEA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4073902" y="2617461"/>
            <a:ext cx="257982" cy="211435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490E48D-1773-B248-9B5E-BF61F07557D0}"/>
              </a:ext>
            </a:extLst>
          </p:cNvPr>
          <p:cNvSpPr/>
          <p:nvPr/>
        </p:nvSpPr>
        <p:spPr>
          <a:xfrm>
            <a:off x="4004867" y="4731811"/>
            <a:ext cx="152397" cy="1523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CF77B8-16DE-C0AA-C067-64B147FA5D09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EDEF0-C478-D006-186A-C5379B18DA40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982602-3F5D-EBF0-9EA8-88B54448BA9D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837ACF-C807-083F-4B11-E2958C44A83B}"/>
              </a:ext>
            </a:extLst>
          </p:cNvPr>
          <p:cNvSpPr txBox="1"/>
          <p:nvPr/>
        </p:nvSpPr>
        <p:spPr>
          <a:xfrm>
            <a:off x="6772657" y="960635"/>
            <a:ext cx="53673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Repeat for all data points (e.g., Orange) to be initially assigned to a cluster.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758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9B05-5729-7374-D2EA-935B3BB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993693-6971-B492-565C-5ADF2CDFD91B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2BE4D6-1514-D6D4-1A6B-F8281F295B7D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03646AC-A74F-2EE3-1302-F961F58DE143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0FC062-A440-0AFC-7800-2D90E5924EAB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2343F0-2796-6C61-C558-C88C558FEC5B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2450AB-6538-2C28-19B4-4D2AA4B2E261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A189B-2739-EBC6-8B3E-F3C16F68B46B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DEF00F-4213-7282-50F0-87FDF0AE8B90}"/>
              </a:ext>
            </a:extLst>
          </p:cNvPr>
          <p:cNvSpPr txBox="1"/>
          <p:nvPr/>
        </p:nvSpPr>
        <p:spPr>
          <a:xfrm>
            <a:off x="1088246" y="2109372"/>
            <a:ext cx="793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9017D-3451-C888-95B2-10C4649EAFBA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BBA54-3AEB-9C32-4E5C-09FCE2F5008C}"/>
              </a:ext>
            </a:extLst>
          </p:cNvPr>
          <p:cNvSpPr txBox="1"/>
          <p:nvPr/>
        </p:nvSpPr>
        <p:spPr>
          <a:xfrm>
            <a:off x="1109496" y="1581295"/>
            <a:ext cx="89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B6C0BA-0953-0A97-4014-59376E2E2C29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185115-54D2-AE25-6E02-F56FC4DDDDE2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CA1F4C-837C-FE4A-5815-71C85F5047CF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8CDA03-B9D4-0531-1F09-C5D471243C3D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F335E8-7DD7-C8DE-2272-71C0CC7B3C25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59831-0D07-3D55-219A-B92C26E2DB1E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3B60E5-AA02-A6D0-0765-57CF5A06CF9A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C8B3AF-1FF3-5263-F635-97AE028FD803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E0C65-21C0-2F7A-AB37-1649AA0CE799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727C66-C804-1818-A6D8-D2D8EAA7CD2B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D53651C-BE80-F304-6819-77FB7428CA5B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87CA1C-43F3-6D85-911A-3F63C5DA00AD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02D28F7-05E3-3C0C-FD5A-1017A8467A8B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B22233-DEDB-3341-0B09-2D15778A3262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FC41EEA-B54E-332F-2289-C9CFBB3F613E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91327D-1DAB-85D5-111D-722D2211D6D7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7039CA-0465-FB6F-6A05-7136127C759B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A63099-7A33-3515-3669-2779BBAB765F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987C189-1ECC-9388-EFC4-9CBAC51C95C3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E844ED-4B99-DA62-05B1-E92F3D22B4A6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848478-AD7E-0608-41B2-47FABB8A4921}"/>
              </a:ext>
            </a:extLst>
          </p:cNvPr>
          <p:cNvSpPr/>
          <p:nvPr/>
        </p:nvSpPr>
        <p:spPr>
          <a:xfrm>
            <a:off x="1447315" y="2941082"/>
            <a:ext cx="152397" cy="15239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3F836E-6AA6-38BB-CA81-98A65F994703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40F0AB-F22C-E674-7CD1-7C53D9AC75A4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AA08C-D58D-5FAB-A82E-3E2B21E75324}"/>
              </a:ext>
            </a:extLst>
          </p:cNvPr>
          <p:cNvSpPr txBox="1"/>
          <p:nvPr/>
        </p:nvSpPr>
        <p:spPr>
          <a:xfrm>
            <a:off x="6772657" y="960635"/>
            <a:ext cx="53673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lvl="0" indent="-457200">
              <a:buFontTx/>
              <a:buAutoNum type="arabicParenR"/>
              <a:defRPr/>
            </a:pPr>
            <a:r>
              <a:rPr lang="en-GB" sz="2400" dirty="0">
                <a:solidFill>
                  <a:prstClr val="white"/>
                </a:solidFill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en-GB" sz="2400" dirty="0"/>
              <a:t>Repeat for all the points to be initially assigned to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Update centroids (mean of assigned points).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78E0504-DB66-E033-BFB2-32DE89299D2F}"/>
              </a:ext>
            </a:extLst>
          </p:cNvPr>
          <p:cNvSpPr/>
          <p:nvPr/>
        </p:nvSpPr>
        <p:spPr>
          <a:xfrm rot="2658500">
            <a:off x="1524284" y="1279820"/>
            <a:ext cx="806296" cy="2180699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3C5EB3D-DA36-DDAE-37B1-6D1C782B8CFD}"/>
              </a:ext>
            </a:extLst>
          </p:cNvPr>
          <p:cNvSpPr/>
          <p:nvPr/>
        </p:nvSpPr>
        <p:spPr>
          <a:xfrm rot="1433404">
            <a:off x="4731940" y="1843304"/>
            <a:ext cx="1018009" cy="2402298"/>
          </a:xfrm>
          <a:prstGeom prst="ellipse">
            <a:avLst/>
          </a:prstGeom>
          <a:solidFill>
            <a:schemeClr val="accent5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6D9CFAE-8BE3-9974-6E75-3E6C00D2B36F}"/>
              </a:ext>
            </a:extLst>
          </p:cNvPr>
          <p:cNvSpPr/>
          <p:nvPr/>
        </p:nvSpPr>
        <p:spPr>
          <a:xfrm rot="5868824">
            <a:off x="2056146" y="2781843"/>
            <a:ext cx="1988431" cy="4309379"/>
          </a:xfrm>
          <a:prstGeom prst="ellipse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385FB82-A4FA-D443-BA59-B6A0BC02BB08}"/>
              </a:ext>
            </a:extLst>
          </p:cNvPr>
          <p:cNvCxnSpPr>
            <a:cxnSpLocks/>
          </p:cNvCxnSpPr>
          <p:nvPr/>
        </p:nvCxnSpPr>
        <p:spPr>
          <a:xfrm flipH="1" flipV="1">
            <a:off x="1999578" y="2388306"/>
            <a:ext cx="251148" cy="212242"/>
          </a:xfrm>
          <a:prstGeom prst="straightConnector1">
            <a:avLst/>
          </a:prstGeom>
          <a:ln w="2222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85C6463-4DED-B23F-D3E9-FCF578944E90}"/>
              </a:ext>
            </a:extLst>
          </p:cNvPr>
          <p:cNvSpPr txBox="1"/>
          <p:nvPr/>
        </p:nvSpPr>
        <p:spPr>
          <a:xfrm>
            <a:off x="1734852" y="2140193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3B3990-588F-47CC-FD3C-84C9F8B8D352}"/>
              </a:ext>
            </a:extLst>
          </p:cNvPr>
          <p:cNvSpPr txBox="1"/>
          <p:nvPr/>
        </p:nvSpPr>
        <p:spPr>
          <a:xfrm>
            <a:off x="2220669" y="249395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X</a:t>
            </a:r>
            <a:endParaRPr lang="en-GB" sz="2000" b="1" dirty="0">
              <a:solidFill>
                <a:schemeClr val="tx2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D3E1C9-DE39-2EE1-4B92-069E6C5E1868}"/>
              </a:ext>
            </a:extLst>
          </p:cNvPr>
          <p:cNvSpPr txBox="1"/>
          <p:nvPr/>
        </p:nvSpPr>
        <p:spPr>
          <a:xfrm>
            <a:off x="4237824" y="2324699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X</a:t>
            </a:r>
            <a:endParaRPr lang="en-GB" sz="2000" b="1" dirty="0">
              <a:solidFill>
                <a:schemeClr val="tx2">
                  <a:lumMod val="90000"/>
                </a:schemeClr>
              </a:solidFill>
              <a:latin typeface="+mj-lt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C063129-EAB8-26C5-09C6-9077644BC9DB}"/>
              </a:ext>
            </a:extLst>
          </p:cNvPr>
          <p:cNvCxnSpPr>
            <a:cxnSpLocks/>
          </p:cNvCxnSpPr>
          <p:nvPr/>
        </p:nvCxnSpPr>
        <p:spPr>
          <a:xfrm>
            <a:off x="4594582" y="2657870"/>
            <a:ext cx="421847" cy="335324"/>
          </a:xfrm>
          <a:prstGeom prst="straightConnector1">
            <a:avLst/>
          </a:prstGeom>
          <a:ln w="222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533C208-787C-3DE9-9E1E-E780FC93829A}"/>
              </a:ext>
            </a:extLst>
          </p:cNvPr>
          <p:cNvSpPr txBox="1"/>
          <p:nvPr/>
        </p:nvSpPr>
        <p:spPr>
          <a:xfrm>
            <a:off x="5062545" y="2948507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A610A36-DC57-85B2-4427-B3C2EB0D442B}"/>
              </a:ext>
            </a:extLst>
          </p:cNvPr>
          <p:cNvCxnSpPr>
            <a:cxnSpLocks/>
          </p:cNvCxnSpPr>
          <p:nvPr/>
        </p:nvCxnSpPr>
        <p:spPr>
          <a:xfrm flipH="1">
            <a:off x="2766465" y="4542912"/>
            <a:ext cx="242858" cy="304808"/>
          </a:xfrm>
          <a:prstGeom prst="straightConnector1">
            <a:avLst/>
          </a:prstGeom>
          <a:ln w="222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A8D1107-3CE9-F0C0-29ED-BDA19D79CB4D}"/>
              </a:ext>
            </a:extLst>
          </p:cNvPr>
          <p:cNvSpPr txBox="1"/>
          <p:nvPr/>
        </p:nvSpPr>
        <p:spPr>
          <a:xfrm>
            <a:off x="2550207" y="4788873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4B4BBD-0331-A251-09AC-ADC86B129EE1}"/>
              </a:ext>
            </a:extLst>
          </p:cNvPr>
          <p:cNvSpPr txBox="1"/>
          <p:nvPr/>
        </p:nvSpPr>
        <p:spPr>
          <a:xfrm>
            <a:off x="2925346" y="4179286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X</a:t>
            </a:r>
            <a:endParaRPr lang="en-GB" sz="2000" b="1" dirty="0">
              <a:solidFill>
                <a:schemeClr val="tx2">
                  <a:lumMod val="9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44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  <p:bldP spid="54" grpId="0" animBg="1"/>
      <p:bldP spid="65" grpId="0"/>
      <p:bldP spid="69" grpId="0"/>
      <p:bldP spid="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DD61-D011-2671-2B67-454FD238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D575F0-8A23-931A-7633-54BEB6216A05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60BE19-864B-48FF-181D-DDE0FBEC1180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DF62AEA-0E44-D174-A2FB-BEE622A24B6B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43B76A-0B26-E770-AAC2-6DC759BD7682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F6FC20-C0DA-D32F-12A7-112EB41DDAF5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5F207-77C5-A49B-250A-F5C8833115BB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DF80F-8670-D876-98E6-020F81676671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5F477E-1199-EA46-1981-AFF395135371}"/>
              </a:ext>
            </a:extLst>
          </p:cNvPr>
          <p:cNvSpPr txBox="1"/>
          <p:nvPr/>
        </p:nvSpPr>
        <p:spPr>
          <a:xfrm>
            <a:off x="1088246" y="2109372"/>
            <a:ext cx="793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99262-D8F7-B535-74DC-49B596DE05A9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E203F-0ED2-0766-188D-85C8E0C3170B}"/>
              </a:ext>
            </a:extLst>
          </p:cNvPr>
          <p:cNvSpPr txBox="1"/>
          <p:nvPr/>
        </p:nvSpPr>
        <p:spPr>
          <a:xfrm>
            <a:off x="1109496" y="1581295"/>
            <a:ext cx="89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E68E18-CA10-C206-B8E9-0C7EC8A5C6E8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A0C7B-16D4-51D5-8F1C-3495F99DAA55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0CA4D6-BEEB-AE36-3D5A-592D7DFDC8FB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1854E0-42C9-BE01-2643-C2266DF6D66B}"/>
              </a:ext>
            </a:extLst>
          </p:cNvPr>
          <p:cNvSpPr txBox="1"/>
          <p:nvPr/>
        </p:nvSpPr>
        <p:spPr>
          <a:xfrm>
            <a:off x="1595165" y="4856283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05602C-AD59-3B29-D236-4D6F77D26A02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451E6-CE1F-2A95-C64A-CCCB8728973F}"/>
              </a:ext>
            </a:extLst>
          </p:cNvPr>
          <p:cNvSpPr txBox="1"/>
          <p:nvPr/>
        </p:nvSpPr>
        <p:spPr>
          <a:xfrm>
            <a:off x="1607204" y="4427539"/>
            <a:ext cx="121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30B5D1-15BB-FD51-4C2E-D7A1EB54D24D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E344D4-74DE-52D0-E168-F3543CC628A0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EE1405-934B-A57A-9D13-5CE63579F8CE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A0C623-359B-96D3-EF39-2A6F9CEE9EAC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E4B266-B22E-3204-AB99-9662DFD5D3F6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6C230-323E-3C51-F940-B8986C15A95D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984C4B-0856-4862-E9A4-37923E6B9A78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3D6FB2-181A-D2DC-0144-607AF87EBE98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BAFE709-24B9-28DA-0144-626C059CFF7A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80E67B-D819-5A8A-D88E-592A26778AF1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E5B115-7BDA-CF65-121E-2A6A5FE42784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32DE88-CA44-27C6-DAC5-8250752B541F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9B47E2-DBCE-DF13-528B-3207082C5D3D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E57804-E3EE-83CD-EE5F-56A074A6CB09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CF353-6106-20A5-B7B6-2FFF9187140E}"/>
              </a:ext>
            </a:extLst>
          </p:cNvPr>
          <p:cNvSpPr txBox="1"/>
          <p:nvPr/>
        </p:nvSpPr>
        <p:spPr>
          <a:xfrm>
            <a:off x="1733678" y="2130737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57ACB-7D63-972E-78F7-DD48FDC1396B}"/>
              </a:ext>
            </a:extLst>
          </p:cNvPr>
          <p:cNvSpPr txBox="1"/>
          <p:nvPr/>
        </p:nvSpPr>
        <p:spPr>
          <a:xfrm>
            <a:off x="2550207" y="451156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C0F0B-FAC4-4125-F261-6F1B2126FC2B}"/>
              </a:ext>
            </a:extLst>
          </p:cNvPr>
          <p:cNvSpPr txBox="1"/>
          <p:nvPr/>
        </p:nvSpPr>
        <p:spPr>
          <a:xfrm>
            <a:off x="5121164" y="3005123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80A49-38BA-E534-AA7A-59F9686D18E5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07E4EB-E95B-1620-50EC-0CA1E54FB119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30073-60E0-8278-6F27-EBF6E554D442}"/>
              </a:ext>
            </a:extLst>
          </p:cNvPr>
          <p:cNvSpPr txBox="1"/>
          <p:nvPr/>
        </p:nvSpPr>
        <p:spPr>
          <a:xfrm>
            <a:off x="6772657" y="960635"/>
            <a:ext cx="536739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lvl="0" indent="-457200">
              <a:buFontTx/>
              <a:buAutoNum type="arabicParenR"/>
              <a:defRPr/>
            </a:pPr>
            <a:r>
              <a:rPr lang="en-GB" sz="2400" dirty="0">
                <a:solidFill>
                  <a:prstClr val="white"/>
                </a:solidFill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en-GB" sz="2400" dirty="0"/>
              <a:t>Repeat for all the points to be initially assigned to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Update centroids (mean of assigned points).</a:t>
            </a:r>
          </a:p>
          <a:p>
            <a:pPr marL="457200" lvl="0" indent="-457200">
              <a:buFontTx/>
              <a:buAutoNum type="arabicParenR"/>
              <a:defRPr/>
            </a:pPr>
            <a:r>
              <a:rPr lang="en-GB" sz="2400" dirty="0">
                <a:solidFill>
                  <a:prstClr val="white"/>
                </a:solidFill>
              </a:rPr>
              <a:t>Repeat Steps 3 to 6.</a:t>
            </a:r>
            <a:endParaRPr lang="en-GB" sz="2800" dirty="0">
              <a:solidFill>
                <a:prstClr val="white"/>
              </a:solidFill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2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218E-FF4C-6E44-A21E-208F030D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619828-AB92-9BB7-6D60-953D869FBD2C}"/>
              </a:ext>
            </a:extLst>
          </p:cNvPr>
          <p:cNvCxnSpPr/>
          <p:nvPr/>
        </p:nvCxnSpPr>
        <p:spPr>
          <a:xfrm>
            <a:off x="914400" y="1295400"/>
            <a:ext cx="0" cy="441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D6C380-825D-1452-A5ED-621596B94716}"/>
              </a:ext>
            </a:extLst>
          </p:cNvPr>
          <p:cNvCxnSpPr>
            <a:cxnSpLocks/>
          </p:cNvCxnSpPr>
          <p:nvPr/>
        </p:nvCxnSpPr>
        <p:spPr>
          <a:xfrm>
            <a:off x="914400" y="5715000"/>
            <a:ext cx="556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0C724C6-EE2D-F631-B1CC-C372C50F571E}"/>
              </a:ext>
            </a:extLst>
          </p:cNvPr>
          <p:cNvSpPr/>
          <p:nvPr/>
        </p:nvSpPr>
        <p:spPr>
          <a:xfrm>
            <a:off x="1847182" y="1912836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AD6513-3C41-F824-474B-207EB53FBD45}"/>
              </a:ext>
            </a:extLst>
          </p:cNvPr>
          <p:cNvSpPr/>
          <p:nvPr/>
        </p:nvSpPr>
        <p:spPr>
          <a:xfrm>
            <a:off x="2566462" y="1740819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D30D4F-1D78-F03D-AD31-6A3B714BCF9F}"/>
              </a:ext>
            </a:extLst>
          </p:cNvPr>
          <p:cNvSpPr/>
          <p:nvPr/>
        </p:nvSpPr>
        <p:spPr>
          <a:xfrm>
            <a:off x="1450848" y="2948507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DE49A9-5A9E-A8FF-4C92-7891B86056D0}"/>
              </a:ext>
            </a:extLst>
          </p:cNvPr>
          <p:cNvSpPr/>
          <p:nvPr/>
        </p:nvSpPr>
        <p:spPr>
          <a:xfrm>
            <a:off x="1923380" y="2533492"/>
            <a:ext cx="152397" cy="152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EA462-6970-A2A6-F4F1-79A37B4838D8}"/>
              </a:ext>
            </a:extLst>
          </p:cNvPr>
          <p:cNvSpPr txBox="1"/>
          <p:nvPr/>
        </p:nvSpPr>
        <p:spPr>
          <a:xfrm>
            <a:off x="917448" y="313586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Broccoli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18C205-ECB2-56BA-5ED2-687B777D48B5}"/>
              </a:ext>
            </a:extLst>
          </p:cNvPr>
          <p:cNvSpPr txBox="1"/>
          <p:nvPr/>
        </p:nvSpPr>
        <p:spPr>
          <a:xfrm>
            <a:off x="1162868" y="2182830"/>
            <a:ext cx="1219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 Bean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F3C9E-7A1B-0046-0571-49DF88E3B838}"/>
              </a:ext>
            </a:extLst>
          </p:cNvPr>
          <p:cNvSpPr txBox="1"/>
          <p:nvPr/>
        </p:nvSpPr>
        <p:spPr>
          <a:xfrm>
            <a:off x="2475065" y="138713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Carrot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F7C2F-58D2-B625-7E0F-F12858120909}"/>
              </a:ext>
            </a:extLst>
          </p:cNvPr>
          <p:cNvSpPr txBox="1"/>
          <p:nvPr/>
        </p:nvSpPr>
        <p:spPr>
          <a:xfrm>
            <a:off x="1109495" y="158129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Celery</a:t>
            </a:r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53BC28-84E4-83BE-9EA4-E97382897CED}"/>
              </a:ext>
            </a:extLst>
          </p:cNvPr>
          <p:cNvSpPr/>
          <p:nvPr/>
        </p:nvSpPr>
        <p:spPr>
          <a:xfrm>
            <a:off x="1283252" y="5162706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962BB3-8C9F-73DF-BCB6-86D7D2D81243}"/>
              </a:ext>
            </a:extLst>
          </p:cNvPr>
          <p:cNvSpPr txBox="1"/>
          <p:nvPr/>
        </p:nvSpPr>
        <p:spPr>
          <a:xfrm>
            <a:off x="1136926" y="5300284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</a:t>
            </a:r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680AB6-24B3-7664-6B74-DA56A38403EF}"/>
              </a:ext>
            </a:extLst>
          </p:cNvPr>
          <p:cNvSpPr/>
          <p:nvPr/>
        </p:nvSpPr>
        <p:spPr>
          <a:xfrm rot="1044499">
            <a:off x="1423461" y="4842683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4F41E-06E2-4418-4544-E93835C273BF}"/>
              </a:ext>
            </a:extLst>
          </p:cNvPr>
          <p:cNvSpPr txBox="1"/>
          <p:nvPr/>
        </p:nvSpPr>
        <p:spPr>
          <a:xfrm>
            <a:off x="1423461" y="487086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Chicken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D28F80-9261-9B7D-442A-025424EBD70D}"/>
              </a:ext>
            </a:extLst>
          </p:cNvPr>
          <p:cNvSpPr/>
          <p:nvPr/>
        </p:nvSpPr>
        <p:spPr>
          <a:xfrm>
            <a:off x="1403782" y="4352659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9425BB-C6BF-7146-7D4A-9CB25CC90993}"/>
              </a:ext>
            </a:extLst>
          </p:cNvPr>
          <p:cNvSpPr txBox="1"/>
          <p:nvPr/>
        </p:nvSpPr>
        <p:spPr>
          <a:xfrm>
            <a:off x="1463901" y="4366456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Steak</a:t>
            </a:r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7EED4E-FB99-2DF3-2DAE-551AE8D267CD}"/>
              </a:ext>
            </a:extLst>
          </p:cNvPr>
          <p:cNvSpPr/>
          <p:nvPr/>
        </p:nvSpPr>
        <p:spPr>
          <a:xfrm>
            <a:off x="2136647" y="4052935"/>
            <a:ext cx="152397" cy="15239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E9E08F-58DD-869D-52B0-933E92267246}"/>
              </a:ext>
            </a:extLst>
          </p:cNvPr>
          <p:cNvSpPr txBox="1"/>
          <p:nvPr/>
        </p:nvSpPr>
        <p:spPr>
          <a:xfrm>
            <a:off x="2060506" y="3668547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Bacon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453970-ACD7-0222-524B-DA629941318E}"/>
              </a:ext>
            </a:extLst>
          </p:cNvPr>
          <p:cNvSpPr txBox="1"/>
          <p:nvPr/>
        </p:nvSpPr>
        <p:spPr>
          <a:xfrm>
            <a:off x="4648200" y="5764728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Sweetness  Score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F4A178-F4AF-2657-9A75-606189F097FC}"/>
              </a:ext>
            </a:extLst>
          </p:cNvPr>
          <p:cNvSpPr txBox="1"/>
          <p:nvPr/>
        </p:nvSpPr>
        <p:spPr>
          <a:xfrm rot="16200000">
            <a:off x="-435602" y="2215634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Crunchiness  Score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11D171D-46D5-4B98-01B6-653B10D94A4C}"/>
              </a:ext>
            </a:extLst>
          </p:cNvPr>
          <p:cNvSpPr/>
          <p:nvPr/>
        </p:nvSpPr>
        <p:spPr>
          <a:xfrm>
            <a:off x="4920048" y="4861990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CF9328-143B-4C81-296B-D19DC4D5D11E}"/>
              </a:ext>
            </a:extLst>
          </p:cNvPr>
          <p:cNvSpPr txBox="1"/>
          <p:nvPr/>
        </p:nvSpPr>
        <p:spPr>
          <a:xfrm>
            <a:off x="4495801" y="5225615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Banana</a:t>
            </a:r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BCD36F3-29BC-4B7F-4A0E-CD4DEE199296}"/>
              </a:ext>
            </a:extLst>
          </p:cNvPr>
          <p:cNvSpPr/>
          <p:nvPr/>
        </p:nvSpPr>
        <p:spPr>
          <a:xfrm>
            <a:off x="3997703" y="4731811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D72619-56CF-365D-4634-BF9E56F9F159}"/>
              </a:ext>
            </a:extLst>
          </p:cNvPr>
          <p:cNvSpPr txBox="1"/>
          <p:nvPr/>
        </p:nvSpPr>
        <p:spPr>
          <a:xfrm>
            <a:off x="3422766" y="480415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Orange</a:t>
            </a:r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2AA41B7-0D55-50B7-1723-6A728C629B6C}"/>
              </a:ext>
            </a:extLst>
          </p:cNvPr>
          <p:cNvSpPr/>
          <p:nvPr/>
        </p:nvSpPr>
        <p:spPr>
          <a:xfrm>
            <a:off x="4641965" y="3792285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4BDC1D-671E-DC15-701C-FBCE81506349}"/>
              </a:ext>
            </a:extLst>
          </p:cNvPr>
          <p:cNvSpPr txBox="1"/>
          <p:nvPr/>
        </p:nvSpPr>
        <p:spPr>
          <a:xfrm>
            <a:off x="4648290" y="3955563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Grape</a:t>
            </a:r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B369AD0-D7CF-2D6C-89A8-F0E43AE2842A}"/>
              </a:ext>
            </a:extLst>
          </p:cNvPr>
          <p:cNvSpPr/>
          <p:nvPr/>
        </p:nvSpPr>
        <p:spPr>
          <a:xfrm>
            <a:off x="5565650" y="2007760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6475D-3297-0B99-F6CB-65550339F575}"/>
              </a:ext>
            </a:extLst>
          </p:cNvPr>
          <p:cNvSpPr txBox="1"/>
          <p:nvPr/>
        </p:nvSpPr>
        <p:spPr>
          <a:xfrm>
            <a:off x="5544314" y="2240301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Apple</a:t>
            </a:r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BA21713-5BFC-A0C0-3DBA-CAC2FD864E42}"/>
              </a:ext>
            </a:extLst>
          </p:cNvPr>
          <p:cNvSpPr/>
          <p:nvPr/>
        </p:nvSpPr>
        <p:spPr>
          <a:xfrm>
            <a:off x="5565650" y="3005123"/>
            <a:ext cx="152397" cy="15239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4F4FB1-D251-B9A7-0712-7A81F0C151B0}"/>
              </a:ext>
            </a:extLst>
          </p:cNvPr>
          <p:cNvSpPr txBox="1"/>
          <p:nvPr/>
        </p:nvSpPr>
        <p:spPr>
          <a:xfrm>
            <a:off x="5486399" y="326018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B57B-0E23-36AB-B14E-A058D3D95756}"/>
              </a:ext>
            </a:extLst>
          </p:cNvPr>
          <p:cNvSpPr txBox="1"/>
          <p:nvPr/>
        </p:nvSpPr>
        <p:spPr>
          <a:xfrm>
            <a:off x="1852931" y="2118548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E0149-3C11-AF55-7BBB-0A237F27F7DF}"/>
              </a:ext>
            </a:extLst>
          </p:cNvPr>
          <p:cNvSpPr txBox="1"/>
          <p:nvPr/>
        </p:nvSpPr>
        <p:spPr>
          <a:xfrm>
            <a:off x="1712463" y="4588707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+mj-lt"/>
              </a:rPr>
              <a:t>X</a:t>
            </a:r>
            <a:endParaRPr lang="en-GB" sz="2000" b="1" dirty="0">
              <a:solidFill>
                <a:srgbClr val="00B0F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95B7F-363F-4347-A193-0E0973159044}"/>
              </a:ext>
            </a:extLst>
          </p:cNvPr>
          <p:cNvSpPr txBox="1"/>
          <p:nvPr/>
        </p:nvSpPr>
        <p:spPr>
          <a:xfrm>
            <a:off x="4903793" y="3478634"/>
            <a:ext cx="337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  <a:latin typeface="+mj-lt"/>
              </a:rPr>
              <a:t>X</a:t>
            </a:r>
            <a:endParaRPr lang="en-GB" sz="20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64AA77-5367-32AB-9499-DAA3EEA1E7D1}"/>
              </a:ext>
            </a:extLst>
          </p:cNvPr>
          <p:cNvSpPr/>
          <p:nvPr/>
        </p:nvSpPr>
        <p:spPr>
          <a:xfrm rot="2658500">
            <a:off x="1429523" y="1311418"/>
            <a:ext cx="1126425" cy="2304222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B0FF25-9C4E-1702-508F-7847B1F1C196}"/>
              </a:ext>
            </a:extLst>
          </p:cNvPr>
          <p:cNvSpPr/>
          <p:nvPr/>
        </p:nvSpPr>
        <p:spPr>
          <a:xfrm rot="7202031">
            <a:off x="766125" y="4011869"/>
            <a:ext cx="2181528" cy="1235238"/>
          </a:xfrm>
          <a:prstGeom prst="ellipse">
            <a:avLst/>
          </a:prstGeom>
          <a:solidFill>
            <a:srgbClr val="00B0F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70AAF7-37BE-7F72-F3BA-0DD0D66417A0}"/>
              </a:ext>
            </a:extLst>
          </p:cNvPr>
          <p:cNvSpPr/>
          <p:nvPr/>
        </p:nvSpPr>
        <p:spPr>
          <a:xfrm rot="1433404">
            <a:off x="4005213" y="1781307"/>
            <a:ext cx="1913562" cy="3642212"/>
          </a:xfrm>
          <a:prstGeom prst="ellipse">
            <a:avLst/>
          </a:prstGeom>
          <a:solidFill>
            <a:schemeClr val="accent5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334196-EA0A-C19D-5EE0-27D9E6885DA6}"/>
              </a:ext>
            </a:extLst>
          </p:cNvPr>
          <p:cNvSpPr txBox="1"/>
          <p:nvPr/>
        </p:nvSpPr>
        <p:spPr>
          <a:xfrm>
            <a:off x="135724" y="-43022"/>
            <a:ext cx="11463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Clustering </a:t>
            </a:r>
            <a:r>
              <a:rPr lang="en-GB" sz="3600" dirty="0">
                <a:solidFill>
                  <a:srgbClr val="92D050"/>
                </a:solidFill>
                <a:latin typeface="Consolas"/>
              </a:rPr>
              <a:t>Example: k-means (unsupervised)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D87F04-BABC-2A52-B3D7-AE57E1EDAF42}"/>
              </a:ext>
            </a:extLst>
          </p:cNvPr>
          <p:cNvSpPr txBox="1"/>
          <p:nvPr/>
        </p:nvSpPr>
        <p:spPr>
          <a:xfrm>
            <a:off x="7239000" y="520704"/>
            <a:ext cx="4211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Algorithm of k‑means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171828-803A-D899-D28E-24B130D6F5E8}"/>
              </a:ext>
            </a:extLst>
          </p:cNvPr>
          <p:cNvSpPr txBox="1"/>
          <p:nvPr/>
        </p:nvSpPr>
        <p:spPr>
          <a:xfrm>
            <a:off x="6772657" y="960635"/>
            <a:ext cx="536739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Choose</a:t>
            </a:r>
            <a:r>
              <a:rPr lang="en-GB" sz="2400" dirty="0"/>
              <a:t> k (the number of clusters). In this example, k=3.</a:t>
            </a:r>
          </a:p>
          <a:p>
            <a:pPr marL="457200" indent="-457200">
              <a:buAutoNum type="arabicParenR"/>
            </a:pPr>
            <a:r>
              <a:rPr lang="en-GB" sz="2400" dirty="0"/>
              <a:t>Initialize 3 positions for centroids randomly. Each of the centroids now represents a cluster.</a:t>
            </a:r>
          </a:p>
          <a:p>
            <a:pPr marL="457200" lvl="0" indent="-457200">
              <a:buFontTx/>
              <a:buAutoNum type="arabicParenR"/>
              <a:defRPr/>
            </a:pPr>
            <a:r>
              <a:rPr lang="en-GB" sz="2400" dirty="0">
                <a:solidFill>
                  <a:prstClr val="white"/>
                </a:solidFill>
              </a:rPr>
              <a:t>Measure the distance from the first data point (Green Bean) to each of the cluster centroids.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Assign the point to the cluster that is closest to it.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en-GB" sz="2400" dirty="0"/>
              <a:t>Repeat for all the points to be initially assigned to a cluster.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Update centroids (mean of assigned points).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Repeat Steps 3 to 6 until the centroids stop moving.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1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70D8-CE79-2DA9-8F6F-C211E1EB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D2881E-E771-CD9D-667A-253D1ADEE365}"/>
              </a:ext>
            </a:extLst>
          </p:cNvPr>
          <p:cNvSpPr txBox="1"/>
          <p:nvPr/>
        </p:nvSpPr>
        <p:spPr>
          <a:xfrm>
            <a:off x="903732" y="4099715"/>
            <a:ext cx="107381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Choice of k Is Crucial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</a:t>
            </a:r>
            <a:r>
              <a:rPr lang="en-GB" sz="2400" b="1" dirty="0"/>
              <a:t>Sensitive to Initialization</a:t>
            </a:r>
          </a:p>
          <a:p>
            <a:r>
              <a:rPr lang="en-GB" sz="2400" dirty="0"/>
              <a:t>The initial placement of centroids can significantly influence the final clustering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Assumes Spherical Clusters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0CDB8-6D9E-AFB0-DF75-5828CDC14510}"/>
              </a:ext>
            </a:extLst>
          </p:cNvPr>
          <p:cNvSpPr txBox="1"/>
          <p:nvPr/>
        </p:nvSpPr>
        <p:spPr>
          <a:xfrm>
            <a:off x="938784" y="575608"/>
            <a:ext cx="10668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Simple and Easy to Understand</a:t>
            </a:r>
          </a:p>
          <a:p>
            <a:r>
              <a:rPr lang="it-IT" sz="2400" dirty="0"/>
              <a:t>Algorithm = iterative centroid update procedure</a:t>
            </a:r>
          </a:p>
          <a:p>
            <a:r>
              <a:rPr lang="en-GB" sz="2400" dirty="0"/>
              <a:t>Model = the learned centroid positions</a:t>
            </a:r>
            <a:endParaRPr lang="en-GB" sz="2400" b="1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Converges Quickly</a:t>
            </a:r>
          </a:p>
          <a:p>
            <a:r>
              <a:rPr lang="en-GB" sz="2400" dirty="0"/>
              <a:t>It typically reaches a stable set of centroids within a few iterations.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379DDD-FF13-4D3F-36BF-81F504DE18FE}"/>
              </a:ext>
            </a:extLst>
          </p:cNvPr>
          <p:cNvSpPr txBox="1"/>
          <p:nvPr/>
        </p:nvSpPr>
        <p:spPr>
          <a:xfrm>
            <a:off x="381000" y="252442"/>
            <a:ext cx="571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Advantages of k‑means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3EB43-05F5-8FBB-4744-83B07BCCD35B}"/>
              </a:ext>
            </a:extLst>
          </p:cNvPr>
          <p:cNvSpPr txBox="1"/>
          <p:nvPr/>
        </p:nvSpPr>
        <p:spPr>
          <a:xfrm>
            <a:off x="533400" y="3453384"/>
            <a:ext cx="6452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Disadvantages of k‑means</a:t>
            </a:r>
          </a:p>
        </p:txBody>
      </p:sp>
    </p:spTree>
    <p:extLst>
      <p:ext uri="{BB962C8B-B14F-4D97-AF65-F5344CB8AC3E}">
        <p14:creationId xmlns:p14="http://schemas.microsoft.com/office/powerpoint/2010/main" val="2414324536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4725</TotalTime>
  <Words>2004</Words>
  <Application>Microsoft Office PowerPoint</Application>
  <PresentationFormat>Widescreen</PresentationFormat>
  <Paragraphs>442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AdvOTab62ddd12</vt:lpstr>
      <vt:lpstr>Arial</vt:lpstr>
      <vt:lpstr>Candara</vt:lpstr>
      <vt:lpstr>Consolas</vt:lpstr>
      <vt:lpstr>Franklin Gothic Book</vt:lpstr>
      <vt:lpstr>Tech Computer 16x9</vt:lpstr>
      <vt:lpstr>Machine Learning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Bougioukas</dc:creator>
  <cp:lastModifiedBy>Konstantinos Bougioukas</cp:lastModifiedBy>
  <cp:revision>360</cp:revision>
  <dcterms:created xsi:type="dcterms:W3CDTF">2026-02-07T19:38:03Z</dcterms:created>
  <dcterms:modified xsi:type="dcterms:W3CDTF">2026-03-02T18:10:20Z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
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56" r:id="rId2"/>
    <p:sldId id="308" r:id="rId3"/>
    <p:sldId id="332" r:id="rId4"/>
    <p:sldId id="305" r:id="rId5"/>
    <p:sldId id="311" r:id="rId6"/>
    <p:sldId id="309" r:id="rId7"/>
    <p:sldId id="310" r:id="rId8"/>
    <p:sldId id="312" r:id="rId9"/>
    <p:sldId id="337" r:id="rId10"/>
    <p:sldId id="314" r:id="rId11"/>
    <p:sldId id="334" r:id="rId12"/>
    <p:sldId id="333" r:id="rId13"/>
    <p:sldId id="315" r:id="rId14"/>
    <p:sldId id="336" r:id="rId15"/>
    <p:sldId id="335" r:id="rId16"/>
    <p:sldId id="338" r:id="rId17"/>
    <p:sldId id="316" r:id="rId18"/>
    <p:sldId id="320" r:id="rId19"/>
    <p:sldId id="319" r:id="rId20"/>
    <p:sldId id="321" r:id="rId21"/>
    <p:sldId id="322" r:id="rId22"/>
    <p:sldId id="323" r:id="rId23"/>
    <p:sldId id="324" r:id="rId24"/>
    <p:sldId id="325" r:id="rId25"/>
    <p:sldId id="326" r:id="rId26"/>
    <p:sldId id="331" r:id="rId27"/>
    <p:sldId id="327" r:id="rId28"/>
    <p:sldId id="329" r:id="rId29"/>
    <p:sldId id="328" r:id="rId30"/>
    <p:sldId id="318" r:id="rId31"/>
    <p:sldId id="339" r:id="rId32"/>
    <p:sldId id="340" r:id="rId33"/>
    <p:sldId id="341"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19DC"/>
    <a:srgbClr val="C8E5C1"/>
    <a:srgbClr val="FC68F1"/>
    <a:srgbClr val="7202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6" autoAdjust="0"/>
    <p:restoredTop sz="92808" autoAdjust="0"/>
  </p:normalViewPr>
  <p:slideViewPr>
    <p:cSldViewPr>
      <p:cViewPr varScale="1">
        <p:scale>
          <a:sx n="69" d="100"/>
          <a:sy n="69" d="100"/>
        </p:scale>
        <p:origin x="1066" y="38"/>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t>3/18/2026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t>3/18/2026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these layers we have </a:t>
            </a:r>
            <a:r>
              <a:rPr lang="en-US" dirty="0" err="1"/>
              <a:t>sth</a:t>
            </a:r>
            <a:r>
              <a:rPr lang="en-US" dirty="0"/>
              <a:t> called filters. And it’s the filters that perform the pattern recognition.</a:t>
            </a:r>
          </a:p>
          <a:p>
            <a:r>
              <a:rPr lang="en-US" dirty="0"/>
              <a:t>A filter is basically a 3x3 block. Within the block we can specify a pattern to look for.</a:t>
            </a:r>
            <a:endParaRPr lang="en-GB" dirty="0"/>
          </a:p>
        </p:txBody>
      </p:sp>
      <p:sp>
        <p:nvSpPr>
          <p:cNvPr id="4" name="Slide Number Placeholder 3"/>
          <p:cNvSpPr>
            <a:spLocks noGrp="1"/>
          </p:cNvSpPr>
          <p:nvPr>
            <p:ph type="sldNum" sz="quarter" idx="5"/>
          </p:nvPr>
        </p:nvSpPr>
        <p:spPr/>
        <p:txBody>
          <a:bodyPr/>
          <a:lstStyle/>
          <a:p>
            <a:fld id="{5EE2CF44-2B13-41B4-A334-1CDF534EEBBF}" type="slidenum">
              <a:rPr lang="en-GB" smtClean="0"/>
              <a:t>32</a:t>
            </a:fld>
            <a:endParaRPr lang="en-GB"/>
          </a:p>
        </p:txBody>
      </p:sp>
    </p:spTree>
    <p:extLst>
      <p:ext uri="{BB962C8B-B14F-4D97-AF65-F5344CB8AC3E}">
        <p14:creationId xmlns:p14="http://schemas.microsoft.com/office/powerpoint/2010/main" val="282863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bwMode="white">
          <a:xfrm>
            <a:off x="1066800" y="3165763"/>
            <a:ext cx="10058400" cy="1711037"/>
          </a:xfrm>
        </p:spPr>
        <p:txBody>
          <a:bodyPr anchor="b">
            <a:norm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bwMode="white">
          <a:xfrm>
            <a:off x="1066800" y="4953000"/>
            <a:ext cx="10058400" cy="685800"/>
          </a:xfrm>
        </p:spPr>
        <p:txBody>
          <a:bodyPr>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9886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3/18/2026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anchor="b">
            <a:normAutofit/>
          </a:bodyPr>
          <a:lstStyle>
            <a:lvl1pPr>
              <a:defRPr sz="54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524000" y="4589463"/>
            <a:ext cx="9144000" cy="1506537"/>
          </a:xfrm>
        </p:spPr>
        <p:txBody>
          <a:bodyPr>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3/18/2026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5270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70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76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76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7CC0096-1860-4642-9CD2-0079EA5E7CD1}" type="datetimeFigureOut">
              <a:rPr lang="en-US" smtClean="0"/>
              <a:t>3/18/2026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7CC0096-1860-4642-9CD2-0079EA5E7CD1}" type="datetimeFigureOut">
              <a:rPr lang="en-US" smtClean="0"/>
              <a:t>3/18/2026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CC0096-1860-4642-9CD2-0079EA5E7CD1}" type="datetimeFigureOut">
              <a:rPr lang="en-US" smtClean="0"/>
              <a:t>3/18/2026</a:t>
            </a:fld>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14681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a:t>Click to edit Master title style</a:t>
            </a:r>
            <a:endParaRPr lang="en-US" dirty="0"/>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3/18/2026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6737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anchor="b">
            <a:normAutofit/>
          </a:bodyPr>
          <a:lstStyle>
            <a:lvl1pPr>
              <a:defRPr sz="3400"/>
            </a:lvl1pPr>
          </a:lstStyle>
          <a:p>
            <a:r>
              <a:rPr lang="en-US"/>
              <a:t>Click to edit Master title style</a:t>
            </a:r>
          </a:p>
        </p:txBody>
      </p:sp>
      <p:sp>
        <p:nvSpPr>
          <p:cNvPr id="3" name="Picture Placeholder 2"/>
          <p:cNvSpPr>
            <a:spLocks noGrp="1"/>
          </p:cNvSpPr>
          <p:nvPr>
            <p:ph type="pic" idx="1"/>
          </p:nvPr>
        </p:nvSpPr>
        <p:spPr>
          <a:xfrm>
            <a:off x="781251" y="777240"/>
            <a:ext cx="6400800" cy="530352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97952" y="3429000"/>
            <a:ext cx="3127248"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3/18/2026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97724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3/18/2026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0" y="457199"/>
            <a:ext cx="7048500" cy="56388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3/18/2026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endParaRPr lang="en-US" dirty="0"/>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37CC0096-1860-4642-9CD2-0079EA5E7CD1}" type="datetimeFigureOut">
              <a:rPr lang="en-US" smtClean="0"/>
              <a:pPr/>
              <a:t>3/18/2026</a:t>
            </a:fld>
            <a:endParaRPr lang="en-US"/>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mlsysbook.ai/book/contents/core/dl_primer/dl_primer.html"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1.xml"/><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3165763"/>
            <a:ext cx="10515600" cy="1711037"/>
          </a:xfrm>
        </p:spPr>
        <p:txBody>
          <a:bodyPr/>
          <a:lstStyle/>
          <a:p>
            <a:r>
              <a:rPr kumimoji="0" lang="en-US" sz="5400" b="0" i="0" u="none" strike="noStrike" kern="1200" cap="none" spc="0" normalizeH="0" baseline="0" noProof="0" dirty="0">
                <a:ln>
                  <a:noFill/>
                </a:ln>
                <a:solidFill>
                  <a:prstClr val="white"/>
                </a:solidFill>
                <a:effectLst/>
                <a:uLnTx/>
                <a:uFillTx/>
                <a:latin typeface="Consolas"/>
                <a:ea typeface="+mj-ea"/>
                <a:cs typeface="+mj-cs"/>
              </a:rPr>
              <a:t>Deep Learning</a:t>
            </a:r>
            <a:endParaRPr dirty="0"/>
          </a:p>
        </p:txBody>
      </p:sp>
      <p:sp>
        <p:nvSpPr>
          <p:cNvPr id="3" name="Subtitle 2"/>
          <p:cNvSpPr>
            <a:spLocks noGrp="1"/>
          </p:cNvSpPr>
          <p:nvPr>
            <p:ph type="subTitle" idx="1"/>
          </p:nvPr>
        </p:nvSpPr>
        <p:spPr/>
        <p:txBody>
          <a:bodyPr/>
          <a:lstStyle/>
          <a:p>
            <a:pPr marL="0" marR="0" lvl="0" indent="0" algn="l" defTabSz="914400" rtl="0" eaLnBrk="1" fontAlgn="auto" latinLnBrk="0" hangingPunct="1">
              <a:lnSpc>
                <a:spcPct val="90000"/>
              </a:lnSpc>
              <a:spcBef>
                <a:spcPts val="0"/>
              </a:spcBef>
              <a:spcAft>
                <a:spcPts val="0"/>
              </a:spcAft>
              <a:buClr>
                <a:srgbClr val="92D050"/>
              </a:buClr>
              <a:buSzTx/>
              <a:buFont typeface="Arial" pitchFamily="34" charset="0"/>
              <a:buNone/>
              <a:tabLst/>
              <a:defRPr/>
            </a:pPr>
            <a:r>
              <a:rPr kumimoji="0" lang="en-US" sz="2000" b="0" i="0" u="none" strike="noStrike" kern="1200" cap="none" spc="0" normalizeH="0" baseline="0" noProof="0" dirty="0">
                <a:ln>
                  <a:noFill/>
                </a:ln>
                <a:solidFill>
                  <a:srgbClr val="92D050"/>
                </a:solidFill>
                <a:effectLst/>
                <a:uLnTx/>
                <a:uFillTx/>
                <a:latin typeface="Consolas"/>
                <a:ea typeface="+mn-ea"/>
                <a:cs typeface="+mn-cs"/>
              </a:rPr>
              <a:t>Konstantinos I. Bougioukas, MSc, PhD</a:t>
            </a:r>
          </a:p>
        </p:txBody>
      </p:sp>
      <p:sp>
        <p:nvSpPr>
          <p:cNvPr id="4" name="Subtitle 2">
            <a:extLst>
              <a:ext uri="{FF2B5EF4-FFF2-40B4-BE49-F238E27FC236}">
                <a16:creationId xmlns:a16="http://schemas.microsoft.com/office/drawing/2014/main" id="{DBCBCA96-627F-4168-C51B-08F79FDA1002}"/>
              </a:ext>
            </a:extLst>
          </p:cNvPr>
          <p:cNvSpPr txBox="1">
            <a:spLocks/>
          </p:cNvSpPr>
          <p:nvPr/>
        </p:nvSpPr>
        <p:spPr bwMode="white">
          <a:xfrm>
            <a:off x="11353800" y="6515100"/>
            <a:ext cx="1295400" cy="6858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Clr>
                <a:schemeClr val="accent1"/>
              </a:buClr>
              <a:buFont typeface="Arial" pitchFamily="34" charset="0"/>
              <a:buNone/>
              <a:defRPr sz="2000" kern="1200">
                <a:solidFill>
                  <a:schemeClr val="accent1"/>
                </a:solidFill>
                <a:latin typeface="+mj-lt"/>
                <a:ea typeface="+mn-ea"/>
                <a:cs typeface="+mn-cs"/>
              </a:defRPr>
            </a:lvl1pPr>
            <a:lvl2pPr marL="457200" indent="0" algn="ctr" defTabSz="914400" rtl="0" eaLnBrk="1" latinLnBrk="0" hangingPunct="1">
              <a:lnSpc>
                <a:spcPct val="90000"/>
              </a:lnSpc>
              <a:spcBef>
                <a:spcPts val="1000"/>
              </a:spcBef>
              <a:buClr>
                <a:schemeClr val="accent1"/>
              </a:buClr>
              <a:buFont typeface="Arial" pitchFamily="34" charset="0"/>
              <a:buNone/>
              <a:defRPr sz="2000" kern="1200">
                <a:solidFill>
                  <a:schemeClr val="tx1">
                    <a:lumMod val="85000"/>
                  </a:schemeClr>
                </a:solidFill>
                <a:latin typeface="+mn-lt"/>
                <a:ea typeface="+mn-ea"/>
                <a:cs typeface="+mn-cs"/>
              </a:defRPr>
            </a:lvl2pPr>
            <a:lvl3pPr marL="914400" indent="0" algn="ctr" defTabSz="914400" rtl="0" eaLnBrk="1" latinLnBrk="0" hangingPunct="1">
              <a:lnSpc>
                <a:spcPct val="90000"/>
              </a:lnSpc>
              <a:spcBef>
                <a:spcPts val="800"/>
              </a:spcBef>
              <a:buClr>
                <a:schemeClr val="accent1"/>
              </a:buClr>
              <a:buFont typeface="Arial" pitchFamily="34" charset="0"/>
              <a:buNone/>
              <a:defRPr sz="1800" kern="1200">
                <a:solidFill>
                  <a:schemeClr val="tx1">
                    <a:lumMod val="85000"/>
                  </a:schemeClr>
                </a:solidFill>
                <a:latin typeface="+mn-lt"/>
                <a:ea typeface="+mn-ea"/>
                <a:cs typeface="+mn-cs"/>
              </a:defRPr>
            </a:lvl3pPr>
            <a:lvl4pPr marL="1371600" indent="0" algn="ctr" defTabSz="914400" rtl="0" eaLnBrk="1" latinLnBrk="0" hangingPunct="1">
              <a:lnSpc>
                <a:spcPct val="90000"/>
              </a:lnSpc>
              <a:spcBef>
                <a:spcPts val="800"/>
              </a:spcBef>
              <a:buClr>
                <a:schemeClr val="accent1"/>
              </a:buClr>
              <a:buFont typeface="Arial" pitchFamily="34" charset="0"/>
              <a:buNone/>
              <a:defRPr sz="1600" kern="1200">
                <a:solidFill>
                  <a:schemeClr val="tx1">
                    <a:lumMod val="85000"/>
                  </a:schemeClr>
                </a:solidFill>
                <a:latin typeface="+mn-lt"/>
                <a:ea typeface="+mn-ea"/>
                <a:cs typeface="+mn-cs"/>
              </a:defRPr>
            </a:lvl4pPr>
            <a:lvl5pPr marL="1828800" indent="0" algn="ctr" defTabSz="914400" rtl="0" eaLnBrk="1" latinLnBrk="0" hangingPunct="1">
              <a:lnSpc>
                <a:spcPct val="90000"/>
              </a:lnSpc>
              <a:spcBef>
                <a:spcPts val="800"/>
              </a:spcBef>
              <a:buClr>
                <a:schemeClr val="accent1"/>
              </a:buClr>
              <a:buFont typeface="Arial" pitchFamily="34" charset="0"/>
              <a:buNone/>
              <a:defRPr sz="1600" kern="1200">
                <a:solidFill>
                  <a:schemeClr val="tx1">
                    <a:lumMod val="85000"/>
                  </a:schemeClr>
                </a:solidFill>
                <a:latin typeface="+mn-lt"/>
                <a:ea typeface="+mn-ea"/>
                <a:cs typeface="+mn-cs"/>
              </a:defRPr>
            </a:lvl5pPr>
            <a:lvl6pPr marL="2286000" indent="0" algn="ctr" defTabSz="914400" rtl="0" eaLnBrk="1" latinLnBrk="0" hangingPunct="1">
              <a:lnSpc>
                <a:spcPct val="90000"/>
              </a:lnSpc>
              <a:spcBef>
                <a:spcPts val="800"/>
              </a:spcBef>
              <a:buClr>
                <a:schemeClr val="accent1"/>
              </a:buClr>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800"/>
              </a:spcBef>
              <a:buClr>
                <a:schemeClr val="accent1"/>
              </a:buClr>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800"/>
              </a:spcBef>
              <a:buClr>
                <a:schemeClr val="accent1"/>
              </a:buClr>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800"/>
              </a:spcBef>
              <a:buClr>
                <a:schemeClr val="accent1"/>
              </a:buClr>
              <a:buFont typeface="Arial" pitchFamily="34" charset="0"/>
              <a:buNone/>
              <a:defRPr sz="1600" kern="1200">
                <a:solidFill>
                  <a:schemeClr val="tx1"/>
                </a:solidFill>
                <a:latin typeface="+mn-lt"/>
                <a:ea typeface="+mn-ea"/>
                <a:cs typeface="+mn-cs"/>
              </a:defRPr>
            </a:lvl9pPr>
          </a:lstStyle>
          <a:p>
            <a:r>
              <a:rPr lang="en-US" dirty="0">
                <a:solidFill>
                  <a:schemeClr val="tx1"/>
                </a:solidFill>
              </a:rPr>
              <a:t>2026</a:t>
            </a:r>
          </a:p>
        </p:txBody>
      </p:sp>
    </p:spTree>
    <p:extLst>
      <p:ext uri="{BB962C8B-B14F-4D97-AF65-F5344CB8AC3E}">
        <p14:creationId xmlns:p14="http://schemas.microsoft.com/office/powerpoint/2010/main" val="24245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6C47695-C932-8FD6-2C79-FCF65220289B}"/>
              </a:ext>
            </a:extLst>
          </p:cNvPr>
          <p:cNvGraphicFramePr>
            <a:graphicFrameLocks noGrp="1"/>
          </p:cNvGraphicFramePr>
          <p:nvPr>
            <p:extLst>
              <p:ext uri="{D42A27DB-BD31-4B8C-83A1-F6EECF244321}">
                <p14:modId xmlns:p14="http://schemas.microsoft.com/office/powerpoint/2010/main" val="443300816"/>
              </p:ext>
            </p:extLst>
          </p:nvPr>
        </p:nvGraphicFramePr>
        <p:xfrm>
          <a:off x="381000" y="855189"/>
          <a:ext cx="3733801" cy="2392680"/>
        </p:xfrm>
        <a:graphic>
          <a:graphicData uri="http://schemas.openxmlformats.org/drawingml/2006/table">
            <a:tbl>
              <a:tblPr>
                <a:tableStyleId>{BC89EF96-8CEA-46FF-86C4-4CE0E7609802}</a:tableStyleId>
              </a:tblPr>
              <a:tblGrid>
                <a:gridCol w="1642872">
                  <a:extLst>
                    <a:ext uri="{9D8B030D-6E8A-4147-A177-3AD203B41FA5}">
                      <a16:colId xmlns:a16="http://schemas.microsoft.com/office/drawing/2014/main" val="779527785"/>
                    </a:ext>
                  </a:extLst>
                </a:gridCol>
                <a:gridCol w="768541">
                  <a:extLst>
                    <a:ext uri="{9D8B030D-6E8A-4147-A177-3AD203B41FA5}">
                      <a16:colId xmlns:a16="http://schemas.microsoft.com/office/drawing/2014/main" val="3321882512"/>
                    </a:ext>
                  </a:extLst>
                </a:gridCol>
                <a:gridCol w="1322388">
                  <a:extLst>
                    <a:ext uri="{9D8B030D-6E8A-4147-A177-3AD203B41FA5}">
                      <a16:colId xmlns:a16="http://schemas.microsoft.com/office/drawing/2014/main" val="1669279110"/>
                    </a:ext>
                  </a:extLst>
                </a:gridCol>
              </a:tblGrid>
              <a:tr h="360981">
                <a:tc>
                  <a:txBody>
                    <a:bodyPr/>
                    <a:lstStyle/>
                    <a:p>
                      <a:pPr>
                        <a:buNone/>
                      </a:pPr>
                      <a:r>
                        <a:rPr lang="en-GB" sz="1800" b="1" dirty="0">
                          <a:solidFill>
                            <a:schemeClr val="bg1"/>
                          </a:solidFill>
                        </a:rPr>
                        <a:t>Feature</a:t>
                      </a:r>
                    </a:p>
                  </a:txBody>
                  <a:tcPr anchor="ctr">
                    <a:solidFill>
                      <a:schemeClr val="accent1"/>
                    </a:solidFill>
                  </a:tcPr>
                </a:tc>
                <a:tc>
                  <a:txBody>
                    <a:bodyPr/>
                    <a:lstStyle/>
                    <a:p>
                      <a:pPr algn="ctr">
                        <a:buNone/>
                      </a:pPr>
                      <a:r>
                        <a:rPr lang="en-GB" sz="1800" b="1" dirty="0">
                          <a:solidFill>
                            <a:schemeClr val="bg1"/>
                          </a:solidFill>
                        </a:rPr>
                        <a:t>Value</a:t>
                      </a:r>
                    </a:p>
                  </a:txBody>
                  <a:tcPr anchor="ctr">
                    <a:solidFill>
                      <a:schemeClr val="accent1"/>
                    </a:solidFill>
                  </a:tcPr>
                </a:tc>
                <a:tc>
                  <a:txBody>
                    <a:bodyPr/>
                    <a:lstStyle/>
                    <a:p>
                      <a:pPr algn="ctr">
                        <a:buNone/>
                      </a:pPr>
                      <a:r>
                        <a:rPr lang="en-GB" sz="1800" b="1" dirty="0">
                          <a:solidFill>
                            <a:schemeClr val="bg1"/>
                          </a:solidFill>
                        </a:rPr>
                        <a:t>Normalized Value</a:t>
                      </a:r>
                    </a:p>
                  </a:txBody>
                  <a:tcPr anchor="ctr">
                    <a:solidFill>
                      <a:schemeClr val="accent1"/>
                    </a:solidFill>
                  </a:tcPr>
                </a:tc>
                <a:extLst>
                  <a:ext uri="{0D108BD9-81ED-4DB2-BD59-A6C34878D82A}">
                    <a16:rowId xmlns:a16="http://schemas.microsoft.com/office/drawing/2014/main" val="1046231122"/>
                  </a:ext>
                </a:extLst>
              </a:tr>
              <a:tr h="310778">
                <a:tc>
                  <a:txBody>
                    <a:bodyPr/>
                    <a:lstStyle/>
                    <a:p>
                      <a:pPr>
                        <a:buNone/>
                      </a:pPr>
                      <a:r>
                        <a:rPr lang="en-GB" sz="1800" b="0" i="0" dirty="0">
                          <a:solidFill>
                            <a:schemeClr val="tx1"/>
                          </a:solidFill>
                          <a:effectLst/>
                          <a:latin typeface="Arial" panose="020B0604020202020204" pitchFamily="34" charset="0"/>
                        </a:rPr>
                        <a:t>m</a:t>
                      </a:r>
                      <a:r>
                        <a:rPr lang="en-GB" sz="1800" b="0" i="0" baseline="30000" dirty="0">
                          <a:solidFill>
                            <a:schemeClr val="tx1"/>
                          </a:solidFill>
                          <a:effectLst/>
                          <a:latin typeface="Arial" panose="020B0604020202020204" pitchFamily="34" charset="0"/>
                        </a:rPr>
                        <a:t>2</a:t>
                      </a:r>
                      <a:endParaRPr lang="en-GB" sz="1800" dirty="0">
                        <a:solidFill>
                          <a:schemeClr val="tx1"/>
                        </a:solidFill>
                      </a:endParaRPr>
                    </a:p>
                  </a:txBody>
                  <a:tcPr anchor="ctr"/>
                </a:tc>
                <a:tc>
                  <a:txBody>
                    <a:bodyPr/>
                    <a:lstStyle/>
                    <a:p>
                      <a:pPr algn="ctr">
                        <a:buNone/>
                      </a:pPr>
                      <a:r>
                        <a:rPr lang="en-GB" sz="1800" dirty="0"/>
                        <a:t>120</a:t>
                      </a:r>
                    </a:p>
                  </a:txBody>
                  <a:tcPr anchor="ctr"/>
                </a:tc>
                <a:tc>
                  <a:txBody>
                    <a:bodyPr/>
                    <a:lstStyle/>
                    <a:p>
                      <a:pPr algn="ctr">
                        <a:buNone/>
                      </a:pPr>
                      <a:r>
                        <a:rPr lang="en-GB" sz="1800" dirty="0"/>
                        <a:t>0.6</a:t>
                      </a:r>
                    </a:p>
                  </a:txBody>
                  <a:tcPr anchor="ctr"/>
                </a:tc>
                <a:extLst>
                  <a:ext uri="{0D108BD9-81ED-4DB2-BD59-A6C34878D82A}">
                    <a16:rowId xmlns:a16="http://schemas.microsoft.com/office/drawing/2014/main" val="2983073892"/>
                  </a:ext>
                </a:extLst>
              </a:tr>
              <a:tr h="322012">
                <a:tc>
                  <a:txBody>
                    <a:bodyPr/>
                    <a:lstStyle/>
                    <a:p>
                      <a:pPr>
                        <a:buNone/>
                      </a:pPr>
                      <a:r>
                        <a:rPr lang="en-GB" sz="1800" dirty="0"/>
                        <a:t>No. bedrooms</a:t>
                      </a:r>
                    </a:p>
                  </a:txBody>
                  <a:tcPr anchor="ctr"/>
                </a:tc>
                <a:tc>
                  <a:txBody>
                    <a:bodyPr/>
                    <a:lstStyle/>
                    <a:p>
                      <a:pPr algn="ctr">
                        <a:buNone/>
                      </a:pPr>
                      <a:r>
                        <a:rPr lang="en-US" sz="1800" dirty="0"/>
                        <a:t>2</a:t>
                      </a:r>
                      <a:endParaRPr lang="en-GB" sz="1800" dirty="0"/>
                    </a:p>
                  </a:txBody>
                  <a:tcPr anchor="ctr"/>
                </a:tc>
                <a:tc>
                  <a:txBody>
                    <a:bodyPr/>
                    <a:lstStyle/>
                    <a:p>
                      <a:pPr algn="ctr">
                        <a:buNone/>
                      </a:pPr>
                      <a:r>
                        <a:rPr lang="en-GB" sz="1800" dirty="0"/>
                        <a:t>0.4</a:t>
                      </a:r>
                    </a:p>
                  </a:txBody>
                  <a:tcPr anchor="ctr"/>
                </a:tc>
                <a:extLst>
                  <a:ext uri="{0D108BD9-81ED-4DB2-BD59-A6C34878D82A}">
                    <a16:rowId xmlns:a16="http://schemas.microsoft.com/office/drawing/2014/main" val="878473835"/>
                  </a:ext>
                </a:extLst>
              </a:tr>
              <a:tr h="381000">
                <a:tc>
                  <a:txBody>
                    <a:bodyPr/>
                    <a:lstStyle/>
                    <a:p>
                      <a:pPr>
                        <a:buNone/>
                      </a:pPr>
                      <a:r>
                        <a:rPr lang="en-GB" sz="1800" dirty="0"/>
                        <a:t>age</a:t>
                      </a:r>
                    </a:p>
                  </a:txBody>
                  <a:tcPr anchor="ctr"/>
                </a:tc>
                <a:tc>
                  <a:txBody>
                    <a:bodyPr/>
                    <a:lstStyle/>
                    <a:p>
                      <a:pPr algn="ctr">
                        <a:buNone/>
                      </a:pPr>
                      <a:r>
                        <a:rPr lang="en-US" sz="1800" dirty="0"/>
                        <a:t>3</a:t>
                      </a:r>
                      <a:r>
                        <a:rPr lang="en-GB" sz="1800" dirty="0"/>
                        <a:t>0</a:t>
                      </a:r>
                    </a:p>
                  </a:txBody>
                  <a:tcPr anchor="ctr"/>
                </a:tc>
                <a:tc>
                  <a:txBody>
                    <a:bodyPr/>
                    <a:lstStyle/>
                    <a:p>
                      <a:pPr algn="ctr">
                        <a:buNone/>
                      </a:pPr>
                      <a:r>
                        <a:rPr lang="en-GB" sz="1800" dirty="0"/>
                        <a:t>0.3</a:t>
                      </a:r>
                    </a:p>
                  </a:txBody>
                  <a:tcPr anchor="ctr"/>
                </a:tc>
                <a:extLst>
                  <a:ext uri="{0D108BD9-81ED-4DB2-BD59-A6C34878D82A}">
                    <a16:rowId xmlns:a16="http://schemas.microsoft.com/office/drawing/2014/main" val="3058359993"/>
                  </a:ext>
                </a:extLst>
              </a:tr>
              <a:tr h="336888">
                <a:tc>
                  <a:txBody>
                    <a:bodyPr/>
                    <a:lstStyle/>
                    <a:p>
                      <a:pPr>
                        <a:buNone/>
                      </a:pPr>
                      <a:r>
                        <a:rPr lang="en-GB" sz="1800" dirty="0"/>
                        <a:t>Zip code</a:t>
                      </a:r>
                    </a:p>
                  </a:txBody>
                  <a:tcPr anchor="ctr"/>
                </a:tc>
                <a:tc>
                  <a:txBody>
                    <a:bodyPr/>
                    <a:lstStyle/>
                    <a:p>
                      <a:pPr algn="ctr">
                        <a:buNone/>
                      </a:pPr>
                      <a:r>
                        <a:rPr lang="en-GB" sz="1800" dirty="0"/>
                        <a:t>55132</a:t>
                      </a:r>
                    </a:p>
                    <a:p>
                      <a:pPr algn="ctr">
                        <a:buNone/>
                      </a:pPr>
                      <a:r>
                        <a:rPr lang="en-GB" sz="1800" dirty="0"/>
                        <a:t>(7/10)</a:t>
                      </a:r>
                    </a:p>
                  </a:txBody>
                  <a:tcPr anchor="ctr"/>
                </a:tc>
                <a:tc>
                  <a:txBody>
                    <a:bodyPr/>
                    <a:lstStyle/>
                    <a:p>
                      <a:pPr algn="ctr">
                        <a:buNone/>
                      </a:pPr>
                      <a:r>
                        <a:rPr lang="en-GB" sz="1800" dirty="0"/>
                        <a:t>0.7</a:t>
                      </a:r>
                    </a:p>
                  </a:txBody>
                  <a:tcPr anchor="ctr"/>
                </a:tc>
                <a:extLst>
                  <a:ext uri="{0D108BD9-81ED-4DB2-BD59-A6C34878D82A}">
                    <a16:rowId xmlns:a16="http://schemas.microsoft.com/office/drawing/2014/main" val="4073323857"/>
                  </a:ext>
                </a:extLst>
              </a:tr>
            </a:tbl>
          </a:graphicData>
        </a:graphic>
      </p:graphicFrame>
      <p:sp>
        <p:nvSpPr>
          <p:cNvPr id="3" name="TextBox 2">
            <a:extLst>
              <a:ext uri="{FF2B5EF4-FFF2-40B4-BE49-F238E27FC236}">
                <a16:creationId xmlns:a16="http://schemas.microsoft.com/office/drawing/2014/main" id="{04EFF50F-38B9-5FA1-A9B4-D9F30F62CEBA}"/>
              </a:ext>
            </a:extLst>
          </p:cNvPr>
          <p:cNvSpPr txBox="1"/>
          <p:nvPr/>
        </p:nvSpPr>
        <p:spPr>
          <a:xfrm>
            <a:off x="76200" y="0"/>
            <a:ext cx="12115800" cy="646331"/>
          </a:xfrm>
          <a:prstGeom prst="rect">
            <a:avLst/>
          </a:prstGeom>
          <a:noFill/>
        </p:spPr>
        <p:txBody>
          <a:bodyPr wrap="square">
            <a:spAutoFit/>
          </a:bodyPr>
          <a:lstStyle/>
          <a:p>
            <a:r>
              <a:rPr lang="en-GB" sz="3600" dirty="0">
                <a:solidFill>
                  <a:srgbClr val="92D050"/>
                </a:solidFill>
                <a:latin typeface="Consolas"/>
              </a:rPr>
              <a:t>Predict house prices</a:t>
            </a:r>
          </a:p>
        </p:txBody>
      </p:sp>
      <p:sp>
        <p:nvSpPr>
          <p:cNvPr id="4" name="Oval 3">
            <a:extLst>
              <a:ext uri="{FF2B5EF4-FFF2-40B4-BE49-F238E27FC236}">
                <a16:creationId xmlns:a16="http://schemas.microsoft.com/office/drawing/2014/main" id="{7826EE3A-251A-FEAF-0183-56E2DC50FE3E}"/>
              </a:ext>
            </a:extLst>
          </p:cNvPr>
          <p:cNvSpPr/>
          <p:nvPr/>
        </p:nvSpPr>
        <p:spPr>
          <a:xfrm>
            <a:off x="5257800" y="858237"/>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8" name="Oval 7">
            <a:extLst>
              <a:ext uri="{FF2B5EF4-FFF2-40B4-BE49-F238E27FC236}">
                <a16:creationId xmlns:a16="http://schemas.microsoft.com/office/drawing/2014/main" id="{641C1F32-4D06-AE4B-44E8-90018A3EA2E8}"/>
              </a:ext>
            </a:extLst>
          </p:cNvPr>
          <p:cNvSpPr/>
          <p:nvPr/>
        </p:nvSpPr>
        <p:spPr>
          <a:xfrm>
            <a:off x="5257800" y="1625465"/>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9" name="Oval 8">
            <a:extLst>
              <a:ext uri="{FF2B5EF4-FFF2-40B4-BE49-F238E27FC236}">
                <a16:creationId xmlns:a16="http://schemas.microsoft.com/office/drawing/2014/main" id="{2C25A2F5-B77E-5675-2B85-AEAC54C6E407}"/>
              </a:ext>
            </a:extLst>
          </p:cNvPr>
          <p:cNvSpPr/>
          <p:nvPr/>
        </p:nvSpPr>
        <p:spPr>
          <a:xfrm>
            <a:off x="5257800" y="2359758"/>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10" name="Oval 9">
            <a:extLst>
              <a:ext uri="{FF2B5EF4-FFF2-40B4-BE49-F238E27FC236}">
                <a16:creationId xmlns:a16="http://schemas.microsoft.com/office/drawing/2014/main" id="{90A01EA8-30F2-65E3-A33A-8F13AFD2335A}"/>
              </a:ext>
            </a:extLst>
          </p:cNvPr>
          <p:cNvSpPr/>
          <p:nvPr/>
        </p:nvSpPr>
        <p:spPr>
          <a:xfrm>
            <a:off x="5257800" y="3232932"/>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12" name="Straight Arrow Connector 11">
            <a:extLst>
              <a:ext uri="{FF2B5EF4-FFF2-40B4-BE49-F238E27FC236}">
                <a16:creationId xmlns:a16="http://schemas.microsoft.com/office/drawing/2014/main" id="{BDAE1114-B745-5AFA-3620-27856652929B}"/>
              </a:ext>
            </a:extLst>
          </p:cNvPr>
          <p:cNvCxnSpPr>
            <a:cxnSpLocks/>
            <a:stCxn id="4" idx="6"/>
            <a:endCxn id="13" idx="2"/>
          </p:cNvCxnSpPr>
          <p:nvPr/>
        </p:nvCxnSpPr>
        <p:spPr>
          <a:xfrm>
            <a:off x="5905500" y="1181403"/>
            <a:ext cx="2019300" cy="11783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00E636B6-D119-BB91-7A6C-CE6656EEC338}"/>
              </a:ext>
            </a:extLst>
          </p:cNvPr>
          <p:cNvSpPr/>
          <p:nvPr/>
        </p:nvSpPr>
        <p:spPr>
          <a:xfrm>
            <a:off x="7924800" y="203659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a:t>
            </a:r>
            <a:endParaRPr lang="en-GB" sz="1600" dirty="0"/>
          </a:p>
        </p:txBody>
      </p:sp>
      <p:cxnSp>
        <p:nvCxnSpPr>
          <p:cNvPr id="15" name="Straight Arrow Connector 14">
            <a:extLst>
              <a:ext uri="{FF2B5EF4-FFF2-40B4-BE49-F238E27FC236}">
                <a16:creationId xmlns:a16="http://schemas.microsoft.com/office/drawing/2014/main" id="{432979BC-4D1E-8BDE-810F-7549223EFADB}"/>
              </a:ext>
            </a:extLst>
          </p:cNvPr>
          <p:cNvCxnSpPr>
            <a:cxnSpLocks/>
            <a:stCxn id="8" idx="6"/>
            <a:endCxn id="13" idx="2"/>
          </p:cNvCxnSpPr>
          <p:nvPr/>
        </p:nvCxnSpPr>
        <p:spPr>
          <a:xfrm>
            <a:off x="5905500" y="1948631"/>
            <a:ext cx="2019300" cy="411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B809E94-28F2-007C-D654-1FDEA5C3F677}"/>
              </a:ext>
            </a:extLst>
          </p:cNvPr>
          <p:cNvCxnSpPr>
            <a:cxnSpLocks/>
            <a:endCxn id="13" idx="2"/>
          </p:cNvCxnSpPr>
          <p:nvPr/>
        </p:nvCxnSpPr>
        <p:spPr>
          <a:xfrm flipV="1">
            <a:off x="5864170" y="2359758"/>
            <a:ext cx="2060630" cy="116174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08075B0-876F-B8D0-7F63-B9E2F8D6E543}"/>
              </a:ext>
            </a:extLst>
          </p:cNvPr>
          <p:cNvCxnSpPr>
            <a:cxnSpLocks/>
            <a:endCxn id="13" idx="2"/>
          </p:cNvCxnSpPr>
          <p:nvPr/>
        </p:nvCxnSpPr>
        <p:spPr>
          <a:xfrm flipV="1">
            <a:off x="5858074" y="2359758"/>
            <a:ext cx="2066726" cy="3180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3143A78-CDFA-7CD1-27DB-10536A79B614}"/>
              </a:ext>
            </a:extLst>
          </p:cNvPr>
          <p:cNvCxnSpPr>
            <a:cxnSpLocks/>
          </p:cNvCxnSpPr>
          <p:nvPr/>
        </p:nvCxnSpPr>
        <p:spPr>
          <a:xfrm>
            <a:off x="8575548" y="2341491"/>
            <a:ext cx="72085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A8B4FC1-5351-466A-E769-B68946403742}"/>
              </a:ext>
            </a:extLst>
          </p:cNvPr>
          <p:cNvSpPr txBox="1"/>
          <p:nvPr/>
        </p:nvSpPr>
        <p:spPr>
          <a:xfrm>
            <a:off x="9308592" y="2110658"/>
            <a:ext cx="1219200" cy="461665"/>
          </a:xfrm>
          <a:prstGeom prst="rect">
            <a:avLst/>
          </a:prstGeom>
          <a:noFill/>
        </p:spPr>
        <p:txBody>
          <a:bodyPr wrap="square">
            <a:spAutoFit/>
          </a:bodyPr>
          <a:lstStyle/>
          <a:p>
            <a:pPr algn="ctr">
              <a:buNone/>
            </a:pPr>
            <a:r>
              <a:rPr lang="en-GB" sz="2400" b="1" dirty="0"/>
              <a:t>Output</a:t>
            </a:r>
          </a:p>
        </p:txBody>
      </p:sp>
      <p:sp>
        <p:nvSpPr>
          <p:cNvPr id="32" name="TextBox 31">
            <a:extLst>
              <a:ext uri="{FF2B5EF4-FFF2-40B4-BE49-F238E27FC236}">
                <a16:creationId xmlns:a16="http://schemas.microsoft.com/office/drawing/2014/main" id="{F80BFFBA-9B45-A4BD-14A7-0270A5951B00}"/>
              </a:ext>
            </a:extLst>
          </p:cNvPr>
          <p:cNvSpPr txBox="1"/>
          <p:nvPr/>
        </p:nvSpPr>
        <p:spPr>
          <a:xfrm>
            <a:off x="4791075" y="3978531"/>
            <a:ext cx="1581150" cy="830997"/>
          </a:xfrm>
          <a:prstGeom prst="rect">
            <a:avLst/>
          </a:prstGeom>
          <a:noFill/>
        </p:spPr>
        <p:txBody>
          <a:bodyPr wrap="square">
            <a:spAutoFit/>
          </a:bodyPr>
          <a:lstStyle/>
          <a:p>
            <a:pPr algn="ctr">
              <a:buNone/>
            </a:pPr>
            <a:r>
              <a:rPr lang="en-GB" sz="2400" b="1" dirty="0"/>
              <a:t>Input vector X</a:t>
            </a:r>
          </a:p>
        </p:txBody>
      </p:sp>
      <p:sp>
        <p:nvSpPr>
          <p:cNvPr id="33" name="TextBox 32">
            <a:extLst>
              <a:ext uri="{FF2B5EF4-FFF2-40B4-BE49-F238E27FC236}">
                <a16:creationId xmlns:a16="http://schemas.microsoft.com/office/drawing/2014/main" id="{F3050239-32BA-7D33-962C-AC1A1BFCDEB3}"/>
              </a:ext>
            </a:extLst>
          </p:cNvPr>
          <p:cNvSpPr txBox="1"/>
          <p:nvPr/>
        </p:nvSpPr>
        <p:spPr>
          <a:xfrm>
            <a:off x="7639050" y="2824055"/>
            <a:ext cx="1428750" cy="461665"/>
          </a:xfrm>
          <a:prstGeom prst="rect">
            <a:avLst/>
          </a:prstGeom>
          <a:noFill/>
        </p:spPr>
        <p:txBody>
          <a:bodyPr wrap="square">
            <a:spAutoFit/>
          </a:bodyPr>
          <a:lstStyle/>
          <a:p>
            <a:pPr algn="ctr">
              <a:buNone/>
            </a:pPr>
            <a:r>
              <a:rPr lang="en-GB" sz="2400" b="1" dirty="0"/>
              <a:t>neuron</a:t>
            </a:r>
          </a:p>
        </p:txBody>
      </p:sp>
      <p:sp>
        <p:nvSpPr>
          <p:cNvPr id="34" name="TextBox 33">
            <a:extLst>
              <a:ext uri="{FF2B5EF4-FFF2-40B4-BE49-F238E27FC236}">
                <a16:creationId xmlns:a16="http://schemas.microsoft.com/office/drawing/2014/main" id="{6C39D9E1-9BB6-5595-DC45-82F8F1820361}"/>
              </a:ext>
            </a:extLst>
          </p:cNvPr>
          <p:cNvSpPr txBox="1"/>
          <p:nvPr/>
        </p:nvSpPr>
        <p:spPr>
          <a:xfrm>
            <a:off x="6696075" y="141399"/>
            <a:ext cx="4743450" cy="523220"/>
          </a:xfrm>
          <a:prstGeom prst="rect">
            <a:avLst/>
          </a:prstGeom>
          <a:noFill/>
        </p:spPr>
        <p:txBody>
          <a:bodyPr wrap="square">
            <a:spAutoFit/>
          </a:bodyPr>
          <a:lstStyle/>
          <a:p>
            <a:r>
              <a:rPr lang="en-GB" sz="2800" dirty="0">
                <a:solidFill>
                  <a:srgbClr val="92D050"/>
                </a:solidFill>
                <a:latin typeface="Consolas"/>
              </a:rPr>
              <a:t>Single neural neuron</a:t>
            </a:r>
          </a:p>
        </p:txBody>
      </p:sp>
      <p:sp>
        <p:nvSpPr>
          <p:cNvPr id="35" name="TextBox 34">
            <a:extLst>
              <a:ext uri="{FF2B5EF4-FFF2-40B4-BE49-F238E27FC236}">
                <a16:creationId xmlns:a16="http://schemas.microsoft.com/office/drawing/2014/main" id="{306CAF35-9DC8-8B3F-16F6-668EA4BA0175}"/>
              </a:ext>
            </a:extLst>
          </p:cNvPr>
          <p:cNvSpPr txBox="1"/>
          <p:nvPr/>
        </p:nvSpPr>
        <p:spPr>
          <a:xfrm>
            <a:off x="6079526" y="1076730"/>
            <a:ext cx="895350" cy="461665"/>
          </a:xfrm>
          <a:prstGeom prst="rect">
            <a:avLst/>
          </a:prstGeom>
          <a:noFill/>
        </p:spPr>
        <p:txBody>
          <a:bodyPr wrap="square">
            <a:spAutoFit/>
          </a:bodyPr>
          <a:lstStyle/>
          <a:p>
            <a:pPr algn="ctr">
              <a:buNone/>
            </a:pPr>
            <a:r>
              <a:rPr lang="en-GB" sz="2400" b="1" dirty="0">
                <a:solidFill>
                  <a:schemeClr val="accent4">
                    <a:lumMod val="60000"/>
                    <a:lumOff val="40000"/>
                  </a:schemeClr>
                </a:solidFill>
              </a:rPr>
              <a:t>w</a:t>
            </a:r>
            <a:r>
              <a:rPr lang="en-GB" b="1" dirty="0">
                <a:solidFill>
                  <a:schemeClr val="accent4">
                    <a:lumMod val="60000"/>
                    <a:lumOff val="40000"/>
                  </a:schemeClr>
                </a:solidFill>
              </a:rPr>
              <a:t>1</a:t>
            </a:r>
            <a:endParaRPr lang="en-GB" sz="2400" b="1" dirty="0">
              <a:solidFill>
                <a:schemeClr val="accent4">
                  <a:lumMod val="60000"/>
                  <a:lumOff val="40000"/>
                </a:schemeClr>
              </a:solidFill>
            </a:endParaRPr>
          </a:p>
        </p:txBody>
      </p:sp>
      <p:sp>
        <p:nvSpPr>
          <p:cNvPr id="36" name="TextBox 35">
            <a:extLst>
              <a:ext uri="{FF2B5EF4-FFF2-40B4-BE49-F238E27FC236}">
                <a16:creationId xmlns:a16="http://schemas.microsoft.com/office/drawing/2014/main" id="{5AD8B298-A760-758C-EF6A-56B34C0CF9A8}"/>
              </a:ext>
            </a:extLst>
          </p:cNvPr>
          <p:cNvSpPr txBox="1"/>
          <p:nvPr/>
        </p:nvSpPr>
        <p:spPr>
          <a:xfrm>
            <a:off x="6094856" y="1618773"/>
            <a:ext cx="895350" cy="461665"/>
          </a:xfrm>
          <a:prstGeom prst="rect">
            <a:avLst/>
          </a:prstGeom>
          <a:noFill/>
        </p:spPr>
        <p:txBody>
          <a:bodyPr wrap="square">
            <a:spAutoFit/>
          </a:bodyPr>
          <a:lstStyle/>
          <a:p>
            <a:pPr algn="ctr">
              <a:buNone/>
            </a:pPr>
            <a:r>
              <a:rPr lang="en-GB" sz="2400" b="1" dirty="0">
                <a:solidFill>
                  <a:schemeClr val="accent4">
                    <a:lumMod val="60000"/>
                    <a:lumOff val="40000"/>
                  </a:schemeClr>
                </a:solidFill>
              </a:rPr>
              <a:t>w2</a:t>
            </a:r>
          </a:p>
        </p:txBody>
      </p:sp>
      <p:sp>
        <p:nvSpPr>
          <p:cNvPr id="37" name="TextBox 36">
            <a:extLst>
              <a:ext uri="{FF2B5EF4-FFF2-40B4-BE49-F238E27FC236}">
                <a16:creationId xmlns:a16="http://schemas.microsoft.com/office/drawing/2014/main" id="{C64B5B90-5D25-E9F4-F0CF-618A08D38DA4}"/>
              </a:ext>
            </a:extLst>
          </p:cNvPr>
          <p:cNvSpPr txBox="1"/>
          <p:nvPr/>
        </p:nvSpPr>
        <p:spPr>
          <a:xfrm>
            <a:off x="6134100" y="2124292"/>
            <a:ext cx="895350" cy="461665"/>
          </a:xfrm>
          <a:prstGeom prst="rect">
            <a:avLst/>
          </a:prstGeom>
          <a:noFill/>
        </p:spPr>
        <p:txBody>
          <a:bodyPr wrap="square">
            <a:spAutoFit/>
          </a:bodyPr>
          <a:lstStyle/>
          <a:p>
            <a:pPr algn="ctr">
              <a:buNone/>
            </a:pPr>
            <a:r>
              <a:rPr lang="en-GB" sz="2400" b="1" dirty="0">
                <a:solidFill>
                  <a:schemeClr val="accent4">
                    <a:lumMod val="60000"/>
                    <a:lumOff val="40000"/>
                  </a:schemeClr>
                </a:solidFill>
              </a:rPr>
              <a:t>w</a:t>
            </a:r>
            <a:r>
              <a:rPr lang="en-GB" b="1" dirty="0">
                <a:solidFill>
                  <a:schemeClr val="accent4">
                    <a:lumMod val="60000"/>
                    <a:lumOff val="40000"/>
                  </a:schemeClr>
                </a:solidFill>
              </a:rPr>
              <a:t>3</a:t>
            </a:r>
            <a:endParaRPr lang="en-GB" sz="2400" b="1" dirty="0">
              <a:solidFill>
                <a:schemeClr val="accent4">
                  <a:lumMod val="60000"/>
                  <a:lumOff val="40000"/>
                </a:schemeClr>
              </a:solidFill>
            </a:endParaRPr>
          </a:p>
        </p:txBody>
      </p:sp>
      <p:sp>
        <p:nvSpPr>
          <p:cNvPr id="38" name="TextBox 37">
            <a:extLst>
              <a:ext uri="{FF2B5EF4-FFF2-40B4-BE49-F238E27FC236}">
                <a16:creationId xmlns:a16="http://schemas.microsoft.com/office/drawing/2014/main" id="{83E3E167-7AE9-0332-48F9-528E44063B89}"/>
              </a:ext>
            </a:extLst>
          </p:cNvPr>
          <p:cNvSpPr txBox="1"/>
          <p:nvPr/>
        </p:nvSpPr>
        <p:spPr>
          <a:xfrm>
            <a:off x="6125627" y="2639078"/>
            <a:ext cx="895350" cy="461665"/>
          </a:xfrm>
          <a:prstGeom prst="rect">
            <a:avLst/>
          </a:prstGeom>
          <a:noFill/>
        </p:spPr>
        <p:txBody>
          <a:bodyPr wrap="square">
            <a:spAutoFit/>
          </a:bodyPr>
          <a:lstStyle/>
          <a:p>
            <a:pPr algn="ctr">
              <a:buNone/>
            </a:pPr>
            <a:r>
              <a:rPr lang="en-GB" sz="2400" b="1" dirty="0">
                <a:solidFill>
                  <a:schemeClr val="accent4">
                    <a:lumMod val="60000"/>
                    <a:lumOff val="40000"/>
                  </a:schemeClr>
                </a:solidFill>
              </a:rPr>
              <a:t>w</a:t>
            </a:r>
            <a:r>
              <a:rPr lang="en-GB" b="1" dirty="0">
                <a:solidFill>
                  <a:schemeClr val="accent4">
                    <a:lumMod val="60000"/>
                    <a:lumOff val="40000"/>
                  </a:schemeClr>
                </a:solidFill>
              </a:rPr>
              <a:t>4</a:t>
            </a:r>
            <a:endParaRPr lang="en-GB" sz="2400" b="1" dirty="0">
              <a:solidFill>
                <a:schemeClr val="accent4">
                  <a:lumMod val="60000"/>
                  <a:lumOff val="40000"/>
                </a:schemeClr>
              </a:solidFill>
            </a:endParaRPr>
          </a:p>
        </p:txBody>
      </p:sp>
      <p:sp>
        <p:nvSpPr>
          <p:cNvPr id="39" name="TextBox 38">
            <a:extLst>
              <a:ext uri="{FF2B5EF4-FFF2-40B4-BE49-F238E27FC236}">
                <a16:creationId xmlns:a16="http://schemas.microsoft.com/office/drawing/2014/main" id="{08813B18-606E-DB10-3D0C-25809A0301EF}"/>
              </a:ext>
            </a:extLst>
          </p:cNvPr>
          <p:cNvSpPr txBox="1"/>
          <p:nvPr/>
        </p:nvSpPr>
        <p:spPr>
          <a:xfrm>
            <a:off x="6167156" y="3319225"/>
            <a:ext cx="1428750" cy="461665"/>
          </a:xfrm>
          <a:prstGeom prst="rect">
            <a:avLst/>
          </a:prstGeom>
          <a:noFill/>
        </p:spPr>
        <p:txBody>
          <a:bodyPr wrap="square">
            <a:spAutoFit/>
          </a:bodyPr>
          <a:lstStyle/>
          <a:p>
            <a:pPr algn="ctr">
              <a:buNone/>
            </a:pPr>
            <a:r>
              <a:rPr lang="en-GB" sz="2400" b="1" dirty="0"/>
              <a:t>weights</a:t>
            </a:r>
          </a:p>
        </p:txBody>
      </p:sp>
      <p:cxnSp>
        <p:nvCxnSpPr>
          <p:cNvPr id="40" name="Straight Arrow Connector 39">
            <a:extLst>
              <a:ext uri="{FF2B5EF4-FFF2-40B4-BE49-F238E27FC236}">
                <a16:creationId xmlns:a16="http://schemas.microsoft.com/office/drawing/2014/main" id="{FFEC00B5-1FE9-B41E-8440-3213EA332B7D}"/>
              </a:ext>
            </a:extLst>
          </p:cNvPr>
          <p:cNvCxnSpPr>
            <a:cxnSpLocks/>
            <a:endCxn id="13" idx="0"/>
          </p:cNvCxnSpPr>
          <p:nvPr/>
        </p:nvCxnSpPr>
        <p:spPr>
          <a:xfrm>
            <a:off x="8248650" y="1590874"/>
            <a:ext cx="0" cy="4457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A21D63CC-5973-B527-A63D-CB7D07AA00B9}"/>
              </a:ext>
            </a:extLst>
          </p:cNvPr>
          <p:cNvSpPr/>
          <p:nvPr/>
        </p:nvSpPr>
        <p:spPr>
          <a:xfrm>
            <a:off x="7981950" y="1057633"/>
            <a:ext cx="533400" cy="537507"/>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1</a:t>
            </a:r>
            <a:endParaRPr lang="en-GB" sz="1600" dirty="0"/>
          </a:p>
        </p:txBody>
      </p:sp>
      <p:sp>
        <p:nvSpPr>
          <p:cNvPr id="44" name="TextBox 43">
            <a:extLst>
              <a:ext uri="{FF2B5EF4-FFF2-40B4-BE49-F238E27FC236}">
                <a16:creationId xmlns:a16="http://schemas.microsoft.com/office/drawing/2014/main" id="{F713574E-7F57-71B6-920F-7169D67AAD04}"/>
              </a:ext>
            </a:extLst>
          </p:cNvPr>
          <p:cNvSpPr txBox="1"/>
          <p:nvPr/>
        </p:nvSpPr>
        <p:spPr>
          <a:xfrm>
            <a:off x="7800975" y="692178"/>
            <a:ext cx="895350" cy="461665"/>
          </a:xfrm>
          <a:prstGeom prst="rect">
            <a:avLst/>
          </a:prstGeom>
          <a:noFill/>
        </p:spPr>
        <p:txBody>
          <a:bodyPr wrap="square">
            <a:spAutoFit/>
          </a:bodyPr>
          <a:lstStyle/>
          <a:p>
            <a:pPr algn="ctr">
              <a:buNone/>
            </a:pPr>
            <a:r>
              <a:rPr lang="en-GB" sz="2400" b="1" dirty="0">
                <a:solidFill>
                  <a:schemeClr val="accent4">
                    <a:lumMod val="60000"/>
                    <a:lumOff val="40000"/>
                  </a:schemeClr>
                </a:solidFill>
              </a:rPr>
              <a:t>bias</a:t>
            </a:r>
          </a:p>
        </p:txBody>
      </p:sp>
      <p:sp>
        <p:nvSpPr>
          <p:cNvPr id="45" name="TextBox 44">
            <a:extLst>
              <a:ext uri="{FF2B5EF4-FFF2-40B4-BE49-F238E27FC236}">
                <a16:creationId xmlns:a16="http://schemas.microsoft.com/office/drawing/2014/main" id="{D152B9F7-E7D1-0256-7AB2-5F8B8F096E74}"/>
              </a:ext>
            </a:extLst>
          </p:cNvPr>
          <p:cNvSpPr txBox="1"/>
          <p:nvPr/>
        </p:nvSpPr>
        <p:spPr>
          <a:xfrm>
            <a:off x="8297036" y="1516834"/>
            <a:ext cx="533401" cy="461665"/>
          </a:xfrm>
          <a:prstGeom prst="rect">
            <a:avLst/>
          </a:prstGeom>
          <a:noFill/>
        </p:spPr>
        <p:txBody>
          <a:bodyPr wrap="square">
            <a:spAutoFit/>
          </a:bodyPr>
          <a:lstStyle/>
          <a:p>
            <a:pPr algn="ctr">
              <a:buNone/>
            </a:pPr>
            <a:r>
              <a:rPr lang="en-GB" sz="2400" b="1" dirty="0">
                <a:solidFill>
                  <a:schemeClr val="accent4">
                    <a:lumMod val="60000"/>
                    <a:lumOff val="40000"/>
                  </a:schemeClr>
                </a:solidFill>
              </a:rPr>
              <a:t>b</a:t>
            </a:r>
          </a:p>
        </p:txBody>
      </p:sp>
      <p:sp>
        <p:nvSpPr>
          <p:cNvPr id="46" name="TextBox 45">
            <a:extLst>
              <a:ext uri="{FF2B5EF4-FFF2-40B4-BE49-F238E27FC236}">
                <a16:creationId xmlns:a16="http://schemas.microsoft.com/office/drawing/2014/main" id="{B9CA16C1-9A53-BE79-7E65-6DE291293225}"/>
              </a:ext>
            </a:extLst>
          </p:cNvPr>
          <p:cNvSpPr txBox="1"/>
          <p:nvPr/>
        </p:nvSpPr>
        <p:spPr>
          <a:xfrm>
            <a:off x="2383917" y="5084284"/>
            <a:ext cx="6312408" cy="461665"/>
          </a:xfrm>
          <a:prstGeom prst="rect">
            <a:avLst/>
          </a:prstGeom>
          <a:noFill/>
        </p:spPr>
        <p:txBody>
          <a:bodyPr wrap="square">
            <a:spAutoFit/>
          </a:bodyPr>
          <a:lstStyle/>
          <a:p>
            <a:pPr>
              <a:buNone/>
            </a:pPr>
            <a:r>
              <a:rPr lang="en-GB" sz="2400" b="1" dirty="0">
                <a:solidFill>
                  <a:schemeClr val="accent4">
                    <a:lumMod val="60000"/>
                    <a:lumOff val="40000"/>
                  </a:schemeClr>
                </a:solidFill>
              </a:rPr>
              <a:t>z = 0.6 · w</a:t>
            </a:r>
            <a:r>
              <a:rPr lang="en-GB" b="1" dirty="0">
                <a:solidFill>
                  <a:schemeClr val="accent4">
                    <a:lumMod val="60000"/>
                    <a:lumOff val="40000"/>
                  </a:schemeClr>
                </a:solidFill>
              </a:rPr>
              <a:t>1  </a:t>
            </a:r>
            <a:r>
              <a:rPr lang="en-GB" sz="2400" b="1" dirty="0">
                <a:solidFill>
                  <a:schemeClr val="accent4">
                    <a:lumMod val="60000"/>
                    <a:lumOff val="40000"/>
                  </a:schemeClr>
                </a:solidFill>
              </a:rPr>
              <a:t>+ 0.4 · w</a:t>
            </a:r>
            <a:r>
              <a:rPr lang="en-GB" b="1" dirty="0">
                <a:solidFill>
                  <a:schemeClr val="accent4">
                    <a:lumMod val="60000"/>
                    <a:lumOff val="40000"/>
                  </a:schemeClr>
                </a:solidFill>
              </a:rPr>
              <a:t>2</a:t>
            </a:r>
            <a:r>
              <a:rPr lang="en-GB" sz="2400" b="1" dirty="0">
                <a:solidFill>
                  <a:schemeClr val="accent4">
                    <a:lumMod val="60000"/>
                    <a:lumOff val="40000"/>
                  </a:schemeClr>
                </a:solidFill>
              </a:rPr>
              <a:t> + 0.3 · w</a:t>
            </a:r>
            <a:r>
              <a:rPr lang="en-GB" b="1" dirty="0">
                <a:solidFill>
                  <a:schemeClr val="accent4">
                    <a:lumMod val="60000"/>
                    <a:lumOff val="40000"/>
                  </a:schemeClr>
                </a:solidFill>
              </a:rPr>
              <a:t>3</a:t>
            </a:r>
            <a:r>
              <a:rPr lang="en-GB" sz="2400" b="1" dirty="0">
                <a:solidFill>
                  <a:schemeClr val="accent4">
                    <a:lumMod val="60000"/>
                    <a:lumOff val="40000"/>
                  </a:schemeClr>
                </a:solidFill>
              </a:rPr>
              <a:t> + 0.7 · w</a:t>
            </a:r>
            <a:r>
              <a:rPr lang="en-GB" b="1" dirty="0">
                <a:solidFill>
                  <a:schemeClr val="accent4">
                    <a:lumMod val="60000"/>
                    <a:lumOff val="40000"/>
                  </a:schemeClr>
                </a:solidFill>
              </a:rPr>
              <a:t>1 + </a:t>
            </a:r>
            <a:r>
              <a:rPr lang="en-GB" sz="2000" b="1" dirty="0">
                <a:solidFill>
                  <a:schemeClr val="accent4">
                    <a:lumMod val="60000"/>
                    <a:lumOff val="40000"/>
                  </a:schemeClr>
                </a:solidFill>
              </a:rPr>
              <a:t>b</a:t>
            </a:r>
            <a:r>
              <a:rPr kumimoji="0" lang="en-GB" sz="2000" b="1" i="0" u="none" strike="noStrike" kern="1200" cap="none" spc="0" normalizeH="0" baseline="0" noProof="0" dirty="0">
                <a:ln>
                  <a:noFill/>
                </a:ln>
                <a:solidFill>
                  <a:srgbClr val="B074BA">
                    <a:lumMod val="60000"/>
                    <a:lumOff val="40000"/>
                  </a:srgbClr>
                </a:solidFill>
                <a:effectLst/>
                <a:uLnTx/>
                <a:uFillTx/>
                <a:latin typeface="Candara"/>
                <a:ea typeface="+mn-ea"/>
                <a:cs typeface="+mn-cs"/>
              </a:rPr>
              <a:t> </a:t>
            </a:r>
            <a:endParaRPr lang="en-GB" sz="2400" b="1" dirty="0">
              <a:solidFill>
                <a:schemeClr val="accent4">
                  <a:lumMod val="60000"/>
                  <a:lumOff val="40000"/>
                </a:schemeClr>
              </a:solidFill>
            </a:endParaRPr>
          </a:p>
        </p:txBody>
      </p:sp>
      <p:sp>
        <p:nvSpPr>
          <p:cNvPr id="48" name="TextBox 47">
            <a:extLst>
              <a:ext uri="{FF2B5EF4-FFF2-40B4-BE49-F238E27FC236}">
                <a16:creationId xmlns:a16="http://schemas.microsoft.com/office/drawing/2014/main" id="{303D51BB-3DA4-223B-291A-D78B6EFBD23D}"/>
              </a:ext>
            </a:extLst>
          </p:cNvPr>
          <p:cNvSpPr txBox="1"/>
          <p:nvPr/>
        </p:nvSpPr>
        <p:spPr>
          <a:xfrm>
            <a:off x="1188771" y="4912228"/>
            <a:ext cx="1216480" cy="830997"/>
          </a:xfrm>
          <a:prstGeom prst="rect">
            <a:avLst/>
          </a:prstGeom>
          <a:noFill/>
        </p:spPr>
        <p:txBody>
          <a:bodyPr wrap="square">
            <a:spAutoFit/>
          </a:bodyPr>
          <a:lstStyle/>
          <a:p>
            <a:pPr>
              <a:buNone/>
            </a:pPr>
            <a:r>
              <a:rPr lang="en-US" sz="2400" b="1" dirty="0"/>
              <a:t>Linear </a:t>
            </a:r>
            <a:endParaRPr lang="el-GR" sz="2400" b="1" dirty="0"/>
          </a:p>
          <a:p>
            <a:pPr>
              <a:buNone/>
            </a:pPr>
            <a:r>
              <a:rPr lang="en-US" sz="2400" b="1" dirty="0"/>
              <a:t>part:</a:t>
            </a:r>
            <a:endParaRPr lang="en-GB" sz="2400" b="1" dirty="0"/>
          </a:p>
        </p:txBody>
      </p:sp>
      <p:sp>
        <p:nvSpPr>
          <p:cNvPr id="50" name="TextBox 49">
            <a:extLst>
              <a:ext uri="{FF2B5EF4-FFF2-40B4-BE49-F238E27FC236}">
                <a16:creationId xmlns:a16="http://schemas.microsoft.com/office/drawing/2014/main" id="{C6A61991-5808-16E8-2202-CEFD4E5F3A3C}"/>
              </a:ext>
            </a:extLst>
          </p:cNvPr>
          <p:cNvSpPr txBox="1"/>
          <p:nvPr/>
        </p:nvSpPr>
        <p:spPr>
          <a:xfrm>
            <a:off x="1257695" y="5913243"/>
            <a:ext cx="2295112" cy="830997"/>
          </a:xfrm>
          <a:prstGeom prst="rect">
            <a:avLst/>
          </a:prstGeom>
          <a:noFill/>
        </p:spPr>
        <p:txBody>
          <a:bodyPr wrap="square">
            <a:spAutoFit/>
          </a:bodyPr>
          <a:lstStyle/>
          <a:p>
            <a:pPr>
              <a:buNone/>
            </a:pPr>
            <a:r>
              <a:rPr lang="en-US" sz="2400" b="1" dirty="0"/>
              <a:t>Non-Linear </a:t>
            </a:r>
            <a:endParaRPr lang="el-GR" sz="2400" b="1" dirty="0"/>
          </a:p>
          <a:p>
            <a:pPr>
              <a:buNone/>
            </a:pPr>
            <a:r>
              <a:rPr lang="en-US" sz="2400" b="1" dirty="0"/>
              <a:t>part:</a:t>
            </a:r>
            <a:endParaRPr lang="en-GB" sz="2400" b="1" dirty="0"/>
          </a:p>
        </p:txBody>
      </p:sp>
      <p:sp>
        <p:nvSpPr>
          <p:cNvPr id="51" name="TextBox 50">
            <a:extLst>
              <a:ext uri="{FF2B5EF4-FFF2-40B4-BE49-F238E27FC236}">
                <a16:creationId xmlns:a16="http://schemas.microsoft.com/office/drawing/2014/main" id="{1391C45C-D16A-BF9A-5BEC-F9FAFC485E53}"/>
              </a:ext>
            </a:extLst>
          </p:cNvPr>
          <p:cNvSpPr txBox="1"/>
          <p:nvPr/>
        </p:nvSpPr>
        <p:spPr>
          <a:xfrm>
            <a:off x="2976535" y="6049664"/>
            <a:ext cx="3670554" cy="461665"/>
          </a:xfrm>
          <a:prstGeom prst="rect">
            <a:avLst/>
          </a:prstGeom>
          <a:noFill/>
        </p:spPr>
        <p:txBody>
          <a:bodyPr wrap="square">
            <a:spAutoFit/>
          </a:bodyPr>
          <a:lstStyle/>
          <a:p>
            <a:pPr>
              <a:buNone/>
            </a:pPr>
            <a:r>
              <a:rPr lang="el-GR" sz="2400" b="1" dirty="0">
                <a:solidFill>
                  <a:schemeClr val="accent4">
                    <a:lumMod val="60000"/>
                    <a:lumOff val="40000"/>
                  </a:schemeClr>
                </a:solidFill>
              </a:rPr>
              <a:t>σ(</a:t>
            </a:r>
            <a:r>
              <a:rPr lang="en-GB" sz="2400" b="1" dirty="0">
                <a:solidFill>
                  <a:schemeClr val="accent4">
                    <a:lumMod val="60000"/>
                    <a:lumOff val="40000"/>
                  </a:schemeClr>
                </a:solidFill>
              </a:rPr>
              <a:t>z</a:t>
            </a:r>
            <a:r>
              <a:rPr lang="el-GR" sz="2400" b="1" dirty="0">
                <a:solidFill>
                  <a:schemeClr val="accent4">
                    <a:lumMod val="60000"/>
                    <a:lumOff val="40000"/>
                  </a:schemeClr>
                </a:solidFill>
              </a:rPr>
              <a:t>)</a:t>
            </a:r>
            <a:r>
              <a:rPr lang="en-GB" sz="2400" b="1" dirty="0">
                <a:solidFill>
                  <a:schemeClr val="accent4">
                    <a:lumMod val="60000"/>
                    <a:lumOff val="40000"/>
                  </a:schemeClr>
                </a:solidFill>
              </a:rPr>
              <a:t>  activation function</a:t>
            </a:r>
            <a:r>
              <a:rPr lang="el-GR" sz="2400" b="1" dirty="0">
                <a:solidFill>
                  <a:schemeClr val="accent4">
                    <a:lumMod val="60000"/>
                    <a:lumOff val="40000"/>
                  </a:schemeClr>
                </a:solidFill>
              </a:rPr>
              <a:t> </a:t>
            </a:r>
            <a:endParaRPr lang="en-GB" sz="2400" b="1" dirty="0">
              <a:solidFill>
                <a:schemeClr val="accent4">
                  <a:lumMod val="60000"/>
                  <a:lumOff val="40000"/>
                </a:schemeClr>
              </a:solidFill>
            </a:endParaRPr>
          </a:p>
        </p:txBody>
      </p:sp>
      <p:sp>
        <p:nvSpPr>
          <p:cNvPr id="6" name="TextBox 5">
            <a:extLst>
              <a:ext uri="{FF2B5EF4-FFF2-40B4-BE49-F238E27FC236}">
                <a16:creationId xmlns:a16="http://schemas.microsoft.com/office/drawing/2014/main" id="{2B631B6A-6465-C643-4A9C-959F15FABBC9}"/>
              </a:ext>
            </a:extLst>
          </p:cNvPr>
          <p:cNvSpPr txBox="1"/>
          <p:nvPr/>
        </p:nvSpPr>
        <p:spPr>
          <a:xfrm>
            <a:off x="6372225" y="5545949"/>
            <a:ext cx="5782818" cy="1323439"/>
          </a:xfrm>
          <a:prstGeom prst="rect">
            <a:avLst/>
          </a:prstGeom>
          <a:noFill/>
        </p:spPr>
        <p:txBody>
          <a:bodyPr wrap="square">
            <a:spAutoFit/>
          </a:bodyPr>
          <a:lstStyle/>
          <a:p>
            <a:r>
              <a:rPr lang="en-GB" sz="2000" dirty="0"/>
              <a:t>Activation function introduce non-linearity into each neuron’s output, enabling the network to learn and represent complex patterns and associations in the input data.</a:t>
            </a:r>
          </a:p>
        </p:txBody>
      </p:sp>
      <p:sp>
        <p:nvSpPr>
          <p:cNvPr id="7" name="Oval 6">
            <a:extLst>
              <a:ext uri="{FF2B5EF4-FFF2-40B4-BE49-F238E27FC236}">
                <a16:creationId xmlns:a16="http://schemas.microsoft.com/office/drawing/2014/main" id="{980885DD-B938-137D-2D3C-B3EA6F533E40}"/>
              </a:ext>
            </a:extLst>
          </p:cNvPr>
          <p:cNvSpPr/>
          <p:nvPr/>
        </p:nvSpPr>
        <p:spPr>
          <a:xfrm>
            <a:off x="4468" y="3627722"/>
            <a:ext cx="1216479" cy="1133167"/>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sz="1600" dirty="0"/>
          </a:p>
        </p:txBody>
      </p:sp>
      <p:cxnSp>
        <p:nvCxnSpPr>
          <p:cNvPr id="14" name="Straight Connector 13">
            <a:extLst>
              <a:ext uri="{FF2B5EF4-FFF2-40B4-BE49-F238E27FC236}">
                <a16:creationId xmlns:a16="http://schemas.microsoft.com/office/drawing/2014/main" id="{48626069-D108-7B85-BA04-1351EFF1F46C}"/>
              </a:ext>
            </a:extLst>
          </p:cNvPr>
          <p:cNvCxnSpPr>
            <a:cxnSpLocks/>
          </p:cNvCxnSpPr>
          <p:nvPr/>
        </p:nvCxnSpPr>
        <p:spPr>
          <a:xfrm>
            <a:off x="557938" y="3627722"/>
            <a:ext cx="0" cy="113316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1947EAB-AC82-C8C9-3EC3-954C26BD37F1}"/>
              </a:ext>
            </a:extLst>
          </p:cNvPr>
          <p:cNvSpPr txBox="1"/>
          <p:nvPr/>
        </p:nvSpPr>
        <p:spPr>
          <a:xfrm>
            <a:off x="60805" y="3840362"/>
            <a:ext cx="497133" cy="707886"/>
          </a:xfrm>
          <a:prstGeom prst="rect">
            <a:avLst/>
          </a:prstGeom>
          <a:noFill/>
        </p:spPr>
        <p:txBody>
          <a:bodyPr wrap="square" rtlCol="0">
            <a:spAutoFit/>
          </a:bodyPr>
          <a:lstStyle/>
          <a:p>
            <a:r>
              <a:rPr lang="el-GR" sz="4000" b="1" dirty="0"/>
              <a:t>Σ</a:t>
            </a:r>
            <a:endParaRPr lang="en-GB" sz="4000" b="1" dirty="0"/>
          </a:p>
        </p:txBody>
      </p:sp>
      <p:cxnSp>
        <p:nvCxnSpPr>
          <p:cNvPr id="18" name="Straight Connector 17">
            <a:extLst>
              <a:ext uri="{FF2B5EF4-FFF2-40B4-BE49-F238E27FC236}">
                <a16:creationId xmlns:a16="http://schemas.microsoft.com/office/drawing/2014/main" id="{143A7593-C262-AB24-723D-E78B0C1B483E}"/>
              </a:ext>
            </a:extLst>
          </p:cNvPr>
          <p:cNvCxnSpPr>
            <a:cxnSpLocks/>
          </p:cNvCxnSpPr>
          <p:nvPr/>
        </p:nvCxnSpPr>
        <p:spPr>
          <a:xfrm>
            <a:off x="585830" y="4458719"/>
            <a:ext cx="242889"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25AF0D9-FEF0-37D9-670C-72B6308442AF}"/>
              </a:ext>
            </a:extLst>
          </p:cNvPr>
          <p:cNvCxnSpPr>
            <a:cxnSpLocks/>
          </p:cNvCxnSpPr>
          <p:nvPr/>
        </p:nvCxnSpPr>
        <p:spPr>
          <a:xfrm>
            <a:off x="880088" y="3992591"/>
            <a:ext cx="242889"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0AC3EDE-2224-B9BB-31FB-17F25757BE09}"/>
              </a:ext>
            </a:extLst>
          </p:cNvPr>
          <p:cNvCxnSpPr>
            <a:cxnSpLocks/>
          </p:cNvCxnSpPr>
          <p:nvPr/>
        </p:nvCxnSpPr>
        <p:spPr>
          <a:xfrm flipV="1">
            <a:off x="813242" y="3992591"/>
            <a:ext cx="66846" cy="466128"/>
          </a:xfrm>
          <a:prstGeom prst="line">
            <a:avLst/>
          </a:prstGeom>
          <a:ln w="22225">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5B6DA8DF-BA49-A0BE-011D-2368CB25ED19}"/>
              </a:ext>
            </a:extLst>
          </p:cNvPr>
          <p:cNvSpPr/>
          <p:nvPr/>
        </p:nvSpPr>
        <p:spPr>
          <a:xfrm>
            <a:off x="28715" y="4865739"/>
            <a:ext cx="991872" cy="920527"/>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sz="1600" dirty="0"/>
          </a:p>
        </p:txBody>
      </p:sp>
      <p:sp>
        <p:nvSpPr>
          <p:cNvPr id="30" name="TextBox 29">
            <a:extLst>
              <a:ext uri="{FF2B5EF4-FFF2-40B4-BE49-F238E27FC236}">
                <a16:creationId xmlns:a16="http://schemas.microsoft.com/office/drawing/2014/main" id="{561563F2-D200-C53D-AE68-83D364715A9E}"/>
              </a:ext>
            </a:extLst>
          </p:cNvPr>
          <p:cNvSpPr txBox="1"/>
          <p:nvPr/>
        </p:nvSpPr>
        <p:spPr>
          <a:xfrm>
            <a:off x="85052" y="5029007"/>
            <a:ext cx="497133" cy="584775"/>
          </a:xfrm>
          <a:prstGeom prst="rect">
            <a:avLst/>
          </a:prstGeom>
          <a:noFill/>
        </p:spPr>
        <p:txBody>
          <a:bodyPr wrap="square" rtlCol="0">
            <a:spAutoFit/>
          </a:bodyPr>
          <a:lstStyle/>
          <a:p>
            <a:r>
              <a:rPr lang="el-GR" sz="3200" b="1" dirty="0"/>
              <a:t>Σ</a:t>
            </a:r>
            <a:endParaRPr lang="en-GB" sz="3200" b="1" dirty="0"/>
          </a:p>
        </p:txBody>
      </p:sp>
      <p:sp>
        <p:nvSpPr>
          <p:cNvPr id="49" name="Rectangle 48">
            <a:extLst>
              <a:ext uri="{FF2B5EF4-FFF2-40B4-BE49-F238E27FC236}">
                <a16:creationId xmlns:a16="http://schemas.microsoft.com/office/drawing/2014/main" id="{53E3613D-6CCE-B8FA-E8C9-510947A6E11E}"/>
              </a:ext>
            </a:extLst>
          </p:cNvPr>
          <p:cNvSpPr/>
          <p:nvPr/>
        </p:nvSpPr>
        <p:spPr>
          <a:xfrm>
            <a:off x="480042" y="4865685"/>
            <a:ext cx="540546" cy="931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Oval 66">
            <a:extLst>
              <a:ext uri="{FF2B5EF4-FFF2-40B4-BE49-F238E27FC236}">
                <a16:creationId xmlns:a16="http://schemas.microsoft.com/office/drawing/2014/main" id="{642D179B-8322-2CB6-F365-02A2DD0FB92A}"/>
              </a:ext>
            </a:extLst>
          </p:cNvPr>
          <p:cNvSpPr/>
          <p:nvPr/>
        </p:nvSpPr>
        <p:spPr>
          <a:xfrm>
            <a:off x="189443" y="5877627"/>
            <a:ext cx="881778" cy="9022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sz="1600" dirty="0"/>
          </a:p>
        </p:txBody>
      </p:sp>
      <p:cxnSp>
        <p:nvCxnSpPr>
          <p:cNvPr id="68" name="Straight Connector 67">
            <a:extLst>
              <a:ext uri="{FF2B5EF4-FFF2-40B4-BE49-F238E27FC236}">
                <a16:creationId xmlns:a16="http://schemas.microsoft.com/office/drawing/2014/main" id="{9BC9D71C-374C-8DC0-C1B4-3FDFC35A842C}"/>
              </a:ext>
            </a:extLst>
          </p:cNvPr>
          <p:cNvCxnSpPr>
            <a:cxnSpLocks/>
          </p:cNvCxnSpPr>
          <p:nvPr/>
        </p:nvCxnSpPr>
        <p:spPr>
          <a:xfrm>
            <a:off x="633029" y="6554921"/>
            <a:ext cx="144477"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CD030D2-1C94-6BCA-4FE5-DD994D4E7E7E}"/>
              </a:ext>
            </a:extLst>
          </p:cNvPr>
          <p:cNvCxnSpPr>
            <a:cxnSpLocks/>
          </p:cNvCxnSpPr>
          <p:nvPr/>
        </p:nvCxnSpPr>
        <p:spPr>
          <a:xfrm>
            <a:off x="828875" y="6194124"/>
            <a:ext cx="158486"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8081615-F484-8A7A-1931-68A8FE1978C0}"/>
              </a:ext>
            </a:extLst>
          </p:cNvPr>
          <p:cNvCxnSpPr>
            <a:cxnSpLocks/>
          </p:cNvCxnSpPr>
          <p:nvPr/>
        </p:nvCxnSpPr>
        <p:spPr>
          <a:xfrm flipV="1">
            <a:off x="777506" y="6194123"/>
            <a:ext cx="51369" cy="309682"/>
          </a:xfrm>
          <a:prstGeom prst="line">
            <a:avLst/>
          </a:prstGeom>
          <a:ln w="22225">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F843E3F7-04F1-5BD2-F839-ED1F15D29D66}"/>
              </a:ext>
            </a:extLst>
          </p:cNvPr>
          <p:cNvSpPr/>
          <p:nvPr/>
        </p:nvSpPr>
        <p:spPr>
          <a:xfrm>
            <a:off x="50486" y="5867331"/>
            <a:ext cx="540546" cy="931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TextBox 71">
            <a:extLst>
              <a:ext uri="{FF2B5EF4-FFF2-40B4-BE49-F238E27FC236}">
                <a16:creationId xmlns:a16="http://schemas.microsoft.com/office/drawing/2014/main" id="{FABDC022-F510-61A7-EBFC-BAA721C620E4}"/>
              </a:ext>
            </a:extLst>
          </p:cNvPr>
          <p:cNvSpPr txBox="1"/>
          <p:nvPr/>
        </p:nvSpPr>
        <p:spPr>
          <a:xfrm>
            <a:off x="1144748" y="3963472"/>
            <a:ext cx="1428750" cy="461665"/>
          </a:xfrm>
          <a:prstGeom prst="rect">
            <a:avLst/>
          </a:prstGeom>
          <a:noFill/>
        </p:spPr>
        <p:txBody>
          <a:bodyPr wrap="square">
            <a:spAutoFit/>
          </a:bodyPr>
          <a:lstStyle/>
          <a:p>
            <a:pPr algn="ctr">
              <a:buNone/>
            </a:pPr>
            <a:r>
              <a:rPr lang="el-GR" sz="2400" b="1" dirty="0"/>
              <a:t>Ν</a:t>
            </a:r>
            <a:r>
              <a:rPr lang="en-GB" sz="2400" b="1" dirty="0" err="1"/>
              <a:t>euron</a:t>
            </a:r>
            <a:endParaRPr lang="en-GB" sz="2400" b="1" dirty="0"/>
          </a:p>
        </p:txBody>
      </p:sp>
    </p:spTree>
    <p:extLst>
      <p:ext uri="{BB962C8B-B14F-4D97-AF65-F5344CB8AC3E}">
        <p14:creationId xmlns:p14="http://schemas.microsoft.com/office/powerpoint/2010/main" val="3719826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7"/>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6"/>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7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7"/>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8"/>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70"/>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6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51"/>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3" grpId="0" animBg="1"/>
      <p:bldP spid="29" grpId="0"/>
      <p:bldP spid="32" grpId="0"/>
      <p:bldP spid="33" grpId="0"/>
      <p:bldP spid="34" grpId="0"/>
      <p:bldP spid="35" grpId="0"/>
      <p:bldP spid="36" grpId="0"/>
      <p:bldP spid="37" grpId="0"/>
      <p:bldP spid="38" grpId="0"/>
      <p:bldP spid="39" grpId="0"/>
      <p:bldP spid="43" grpId="0" animBg="1"/>
      <p:bldP spid="44" grpId="0"/>
      <p:bldP spid="45" grpId="0"/>
      <p:bldP spid="46" grpId="0"/>
      <p:bldP spid="48" grpId="0"/>
      <p:bldP spid="50" grpId="0"/>
      <p:bldP spid="51" grpId="0"/>
      <p:bldP spid="6" grpId="0"/>
      <p:bldP spid="7" grpId="0" animBg="1"/>
      <p:bldP spid="16" grpId="0"/>
      <p:bldP spid="27" grpId="0" animBg="1"/>
      <p:bldP spid="30" grpId="0"/>
      <p:bldP spid="49" grpId="0" animBg="1"/>
      <p:bldP spid="67" grpId="0" animBg="1"/>
      <p:bldP spid="71" grpId="0" animBg="1"/>
      <p:bldP spid="7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121DE7-E501-0880-2125-95B7E60362A5}"/>
              </a:ext>
            </a:extLst>
          </p:cNvPr>
          <p:cNvSpPr txBox="1"/>
          <p:nvPr/>
        </p:nvSpPr>
        <p:spPr>
          <a:xfrm>
            <a:off x="228600" y="76200"/>
            <a:ext cx="6096000" cy="646331"/>
          </a:xfrm>
          <a:prstGeom prst="rect">
            <a:avLst/>
          </a:prstGeom>
          <a:noFill/>
        </p:spPr>
        <p:txBody>
          <a:bodyPr wrap="square">
            <a:spAutoFit/>
          </a:bodyPr>
          <a:lstStyle/>
          <a:p>
            <a:r>
              <a:rPr lang="en-GB" sz="3600" dirty="0">
                <a:solidFill>
                  <a:srgbClr val="92D050"/>
                </a:solidFill>
                <a:latin typeface="Consolas"/>
              </a:rPr>
              <a:t>Deep Learning</a:t>
            </a:r>
          </a:p>
        </p:txBody>
      </p:sp>
      <p:sp>
        <p:nvSpPr>
          <p:cNvPr id="5" name="TextBox 4">
            <a:extLst>
              <a:ext uri="{FF2B5EF4-FFF2-40B4-BE49-F238E27FC236}">
                <a16:creationId xmlns:a16="http://schemas.microsoft.com/office/drawing/2014/main" id="{0CA808BE-0500-B437-265B-C4F4DE8E25FE}"/>
              </a:ext>
            </a:extLst>
          </p:cNvPr>
          <p:cNvSpPr txBox="1"/>
          <p:nvPr/>
        </p:nvSpPr>
        <p:spPr>
          <a:xfrm>
            <a:off x="5905499" y="2209800"/>
            <a:ext cx="6134101" cy="2062103"/>
          </a:xfrm>
          <a:prstGeom prst="rect">
            <a:avLst/>
          </a:prstGeom>
          <a:noFill/>
        </p:spPr>
        <p:txBody>
          <a:bodyPr wrap="square">
            <a:spAutoFit/>
          </a:bodyPr>
          <a:lstStyle/>
          <a:p>
            <a:pPr algn="l"/>
            <a:r>
              <a:rPr lang="en-GB" sz="3200" dirty="0"/>
              <a:t>The neural network consists of:</a:t>
            </a:r>
          </a:p>
          <a:p>
            <a:pPr marL="457200" indent="-457200" algn="l">
              <a:buFont typeface="Arial" panose="020B0604020202020204" pitchFamily="34" charset="0"/>
              <a:buChar char="•"/>
            </a:pPr>
            <a:r>
              <a:rPr lang="en-GB" sz="3200" dirty="0"/>
              <a:t>an input layer (vector of values)</a:t>
            </a:r>
          </a:p>
          <a:p>
            <a:pPr marL="457200" indent="-457200" algn="l">
              <a:buFont typeface="Arial" panose="020B0604020202020204" pitchFamily="34" charset="0"/>
              <a:buChar char="•"/>
            </a:pPr>
            <a:r>
              <a:rPr lang="en-GB" sz="3200" dirty="0"/>
              <a:t>several hidden layers</a:t>
            </a:r>
          </a:p>
          <a:p>
            <a:pPr marL="457200" indent="-457200" algn="l">
              <a:buFont typeface="Arial" panose="020B0604020202020204" pitchFamily="34" charset="0"/>
              <a:buChar char="•"/>
            </a:pPr>
            <a:r>
              <a:rPr lang="en-GB" sz="3200" dirty="0"/>
              <a:t>output layer</a:t>
            </a:r>
          </a:p>
        </p:txBody>
      </p:sp>
      <p:pic>
        <p:nvPicPr>
          <p:cNvPr id="11" name="Picture 10">
            <a:extLst>
              <a:ext uri="{FF2B5EF4-FFF2-40B4-BE49-F238E27FC236}">
                <a16:creationId xmlns:a16="http://schemas.microsoft.com/office/drawing/2014/main" id="{7D9257BB-84D0-F3AE-CA58-1DA1482DDA3C}"/>
              </a:ext>
            </a:extLst>
          </p:cNvPr>
          <p:cNvPicPr>
            <a:picLocks noChangeAspect="1"/>
          </p:cNvPicPr>
          <p:nvPr/>
        </p:nvPicPr>
        <p:blipFill>
          <a:blip r:embed="rId2"/>
          <a:stretch>
            <a:fillRect/>
          </a:stretch>
        </p:blipFill>
        <p:spPr>
          <a:xfrm>
            <a:off x="-10886" y="2119289"/>
            <a:ext cx="5486399" cy="3657600"/>
          </a:xfrm>
          <a:prstGeom prst="rect">
            <a:avLst/>
          </a:prstGeom>
        </p:spPr>
      </p:pic>
      <p:sp>
        <p:nvSpPr>
          <p:cNvPr id="12" name="TextBox 11">
            <a:extLst>
              <a:ext uri="{FF2B5EF4-FFF2-40B4-BE49-F238E27FC236}">
                <a16:creationId xmlns:a16="http://schemas.microsoft.com/office/drawing/2014/main" id="{DAD8297D-C31E-1AF9-E2EE-EAA66436D7BA}"/>
              </a:ext>
            </a:extLst>
          </p:cNvPr>
          <p:cNvSpPr txBox="1"/>
          <p:nvPr/>
        </p:nvSpPr>
        <p:spPr>
          <a:xfrm>
            <a:off x="-76200" y="5490865"/>
            <a:ext cx="1581150" cy="830997"/>
          </a:xfrm>
          <a:prstGeom prst="rect">
            <a:avLst/>
          </a:prstGeom>
          <a:noFill/>
        </p:spPr>
        <p:txBody>
          <a:bodyPr wrap="square">
            <a:spAutoFit/>
          </a:bodyPr>
          <a:lstStyle/>
          <a:p>
            <a:pPr algn="ctr">
              <a:buNone/>
            </a:pPr>
            <a:r>
              <a:rPr lang="en-GB" sz="2400" b="1" dirty="0"/>
              <a:t>Input layer</a:t>
            </a:r>
          </a:p>
        </p:txBody>
      </p:sp>
      <p:sp>
        <p:nvSpPr>
          <p:cNvPr id="13" name="TextBox 12">
            <a:extLst>
              <a:ext uri="{FF2B5EF4-FFF2-40B4-BE49-F238E27FC236}">
                <a16:creationId xmlns:a16="http://schemas.microsoft.com/office/drawing/2014/main" id="{4CE53E13-5FC6-CFA8-33AC-D2E36782F7FD}"/>
              </a:ext>
            </a:extLst>
          </p:cNvPr>
          <p:cNvSpPr txBox="1"/>
          <p:nvPr/>
        </p:nvSpPr>
        <p:spPr>
          <a:xfrm>
            <a:off x="3894363" y="4834239"/>
            <a:ext cx="1581150" cy="830997"/>
          </a:xfrm>
          <a:prstGeom prst="rect">
            <a:avLst/>
          </a:prstGeom>
          <a:noFill/>
        </p:spPr>
        <p:txBody>
          <a:bodyPr wrap="square">
            <a:spAutoFit/>
          </a:bodyPr>
          <a:lstStyle/>
          <a:p>
            <a:pPr algn="ctr">
              <a:buNone/>
            </a:pPr>
            <a:r>
              <a:rPr lang="en-GB" sz="2400" b="1" dirty="0"/>
              <a:t>Output layer</a:t>
            </a:r>
          </a:p>
        </p:txBody>
      </p:sp>
      <p:sp>
        <p:nvSpPr>
          <p:cNvPr id="15" name="TextBox 14">
            <a:extLst>
              <a:ext uri="{FF2B5EF4-FFF2-40B4-BE49-F238E27FC236}">
                <a16:creationId xmlns:a16="http://schemas.microsoft.com/office/drawing/2014/main" id="{77B44D16-B410-3406-8814-E86601C443CC}"/>
              </a:ext>
            </a:extLst>
          </p:cNvPr>
          <p:cNvSpPr txBox="1"/>
          <p:nvPr/>
        </p:nvSpPr>
        <p:spPr>
          <a:xfrm>
            <a:off x="2128156" y="5112488"/>
            <a:ext cx="1777093" cy="830997"/>
          </a:xfrm>
          <a:prstGeom prst="rect">
            <a:avLst/>
          </a:prstGeom>
          <a:noFill/>
        </p:spPr>
        <p:txBody>
          <a:bodyPr wrap="square">
            <a:spAutoFit/>
          </a:bodyPr>
          <a:lstStyle/>
          <a:p>
            <a:r>
              <a:rPr lang="en-GB" sz="2400" b="1" dirty="0"/>
              <a:t>hidden layers</a:t>
            </a:r>
          </a:p>
        </p:txBody>
      </p:sp>
      <p:sp>
        <p:nvSpPr>
          <p:cNvPr id="17" name="TextBox 16">
            <a:extLst>
              <a:ext uri="{FF2B5EF4-FFF2-40B4-BE49-F238E27FC236}">
                <a16:creationId xmlns:a16="http://schemas.microsoft.com/office/drawing/2014/main" id="{6DD41545-1F8D-708F-9591-283B3AEA6C31}"/>
              </a:ext>
            </a:extLst>
          </p:cNvPr>
          <p:cNvSpPr txBox="1"/>
          <p:nvPr/>
        </p:nvSpPr>
        <p:spPr>
          <a:xfrm>
            <a:off x="304800" y="784554"/>
            <a:ext cx="11201399" cy="1077218"/>
          </a:xfrm>
          <a:prstGeom prst="rect">
            <a:avLst/>
          </a:prstGeom>
          <a:noFill/>
        </p:spPr>
        <p:txBody>
          <a:bodyPr wrap="square">
            <a:spAutoFit/>
          </a:bodyPr>
          <a:lstStyle/>
          <a:p>
            <a:pPr algn="l"/>
            <a:r>
              <a:rPr lang="en-GB" sz="3200" dirty="0"/>
              <a:t>It is a kind of machine learning which uses </a:t>
            </a:r>
            <a:r>
              <a:rPr lang="en-GB" sz="3200" b="1" dirty="0">
                <a:solidFill>
                  <a:schemeClr val="accent1"/>
                </a:solidFill>
              </a:rPr>
              <a:t>multi-layered neural networks </a:t>
            </a:r>
            <a:r>
              <a:rPr lang="en-GB" sz="3200" dirty="0"/>
              <a:t>and </a:t>
            </a:r>
            <a:r>
              <a:rPr lang="en-GB" sz="3200" b="1" dirty="0">
                <a:solidFill>
                  <a:srgbClr val="92D050"/>
                </a:solidFill>
              </a:rPr>
              <a:t>big data</a:t>
            </a:r>
            <a:r>
              <a:rPr lang="en-GB" sz="3200" dirty="0"/>
              <a:t>. </a:t>
            </a:r>
          </a:p>
        </p:txBody>
      </p:sp>
      <p:sp>
        <p:nvSpPr>
          <p:cNvPr id="4" name="TextBox 3">
            <a:extLst>
              <a:ext uri="{FF2B5EF4-FFF2-40B4-BE49-F238E27FC236}">
                <a16:creationId xmlns:a16="http://schemas.microsoft.com/office/drawing/2014/main" id="{95992288-BD17-D84D-4BA9-75D1F49B0845}"/>
              </a:ext>
            </a:extLst>
          </p:cNvPr>
          <p:cNvSpPr txBox="1"/>
          <p:nvPr/>
        </p:nvSpPr>
        <p:spPr>
          <a:xfrm>
            <a:off x="1504950" y="2098147"/>
            <a:ext cx="2389413" cy="584775"/>
          </a:xfrm>
          <a:prstGeom prst="rect">
            <a:avLst/>
          </a:prstGeom>
          <a:noFill/>
        </p:spPr>
        <p:txBody>
          <a:bodyPr wrap="square">
            <a:spAutoFit/>
          </a:bodyPr>
          <a:lstStyle/>
          <a:p>
            <a:r>
              <a:rPr lang="en-GB" sz="3200" dirty="0"/>
              <a:t>“black box”</a:t>
            </a:r>
          </a:p>
        </p:txBody>
      </p:sp>
    </p:spTree>
    <p:extLst>
      <p:ext uri="{BB962C8B-B14F-4D97-AF65-F5344CB8AC3E}">
        <p14:creationId xmlns:p14="http://schemas.microsoft.com/office/powerpoint/2010/main" val="361004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A98741-FE72-5165-490A-5EEE59EF5872}"/>
              </a:ext>
            </a:extLst>
          </p:cNvPr>
          <p:cNvSpPr txBox="1"/>
          <p:nvPr/>
        </p:nvSpPr>
        <p:spPr>
          <a:xfrm>
            <a:off x="76200" y="0"/>
            <a:ext cx="12115800" cy="1200329"/>
          </a:xfrm>
          <a:prstGeom prst="rect">
            <a:avLst/>
          </a:prstGeom>
          <a:noFill/>
        </p:spPr>
        <p:txBody>
          <a:bodyPr wrap="square">
            <a:spAutoFit/>
          </a:bodyPr>
          <a:lstStyle/>
          <a:p>
            <a:r>
              <a:rPr lang="en-GB" sz="3600" dirty="0">
                <a:solidFill>
                  <a:srgbClr val="92D050"/>
                </a:solidFill>
                <a:latin typeface="Consolas"/>
              </a:rPr>
              <a:t>Building blocks of an artificial neuron network (ANN)</a:t>
            </a:r>
          </a:p>
        </p:txBody>
      </p:sp>
      <p:sp>
        <p:nvSpPr>
          <p:cNvPr id="3" name="TextBox 2">
            <a:extLst>
              <a:ext uri="{FF2B5EF4-FFF2-40B4-BE49-F238E27FC236}">
                <a16:creationId xmlns:a16="http://schemas.microsoft.com/office/drawing/2014/main" id="{5FEB73F3-36F3-AA74-9FCE-AE695631EEF1}"/>
              </a:ext>
            </a:extLst>
          </p:cNvPr>
          <p:cNvSpPr txBox="1"/>
          <p:nvPr/>
        </p:nvSpPr>
        <p:spPr>
          <a:xfrm>
            <a:off x="914400" y="1574325"/>
            <a:ext cx="10744200" cy="3709349"/>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3200" dirty="0"/>
              <a:t>Architecture (structure of the ANN)</a:t>
            </a:r>
          </a:p>
          <a:p>
            <a:pPr marL="457200" indent="-457200">
              <a:lnSpc>
                <a:spcPct val="150000"/>
              </a:lnSpc>
              <a:buFont typeface="Arial" panose="020B0604020202020204" pitchFamily="34" charset="0"/>
              <a:buChar char="•"/>
            </a:pPr>
            <a:r>
              <a:rPr lang="en-US" sz="3200" dirty="0"/>
              <a:t>Algorithm (the learning procedure e.g., backpropagation </a:t>
            </a:r>
            <a:r>
              <a:rPr lang="en-GB" sz="3200" dirty="0"/>
              <a:t>combined with Gradient Descent</a:t>
            </a:r>
            <a:r>
              <a:rPr lang="en-US" sz="3200" dirty="0"/>
              <a:t>)</a:t>
            </a:r>
          </a:p>
          <a:p>
            <a:pPr marL="457200" indent="-457200">
              <a:lnSpc>
                <a:spcPct val="150000"/>
              </a:lnSpc>
              <a:buFont typeface="Arial" panose="020B0604020202020204" pitchFamily="34" charset="0"/>
              <a:buChar char="•"/>
            </a:pPr>
            <a:r>
              <a:rPr lang="en-US" sz="3200" dirty="0"/>
              <a:t>Model (</a:t>
            </a:r>
            <a:r>
              <a:rPr lang="en-GB" sz="3200" dirty="0"/>
              <a:t>Final learned weights and biases</a:t>
            </a:r>
            <a:r>
              <a:rPr lang="en-US" sz="3200" dirty="0"/>
              <a:t>)</a:t>
            </a:r>
          </a:p>
          <a:p>
            <a:pPr marL="457200" indent="-457200">
              <a:lnSpc>
                <a:spcPct val="150000"/>
              </a:lnSpc>
              <a:buFont typeface="Arial" panose="020B0604020202020204" pitchFamily="34" charset="0"/>
              <a:buChar char="•"/>
            </a:pPr>
            <a:r>
              <a:rPr lang="en-US" sz="3200" dirty="0">
                <a:solidFill>
                  <a:schemeClr val="accent1"/>
                </a:solidFill>
              </a:rPr>
              <a:t>Data (</a:t>
            </a:r>
            <a:r>
              <a:rPr lang="en-GB" sz="3200" dirty="0">
                <a:solidFill>
                  <a:schemeClr val="accent1"/>
                </a:solidFill>
              </a:rPr>
              <a:t>The Fuel</a:t>
            </a:r>
            <a:r>
              <a:rPr lang="en-US" sz="3200" dirty="0">
                <a:solidFill>
                  <a:schemeClr val="accent1"/>
                </a:solidFill>
              </a:rPr>
              <a:t>)</a:t>
            </a:r>
          </a:p>
        </p:txBody>
      </p:sp>
    </p:spTree>
    <p:extLst>
      <p:ext uri="{BB962C8B-B14F-4D97-AF65-F5344CB8AC3E}">
        <p14:creationId xmlns:p14="http://schemas.microsoft.com/office/powerpoint/2010/main" val="203465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779B6-1EBD-C1CB-BB79-4C6C22559D58}"/>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51109C7C-067E-86B3-6C4F-41364DBEA597}"/>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C05ABCB2-3A2E-4B09-F1B3-8D55D3A188F7}"/>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CEA32975-9E0F-FF69-4AAD-E0C093FB8985}"/>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711735E9-AEFB-CB85-09F6-302B2ED6F066}"/>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6A105958-DD0B-2501-A25E-56E5A8814D2D}"/>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6DB3B09F-16BA-1B88-D0DA-183285174A06}"/>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22893A85-50D4-C4E2-089F-0C9D46E2A881}"/>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EDABC3D-B3B6-B3C5-5568-E23CBD43BC9B}"/>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2781639-60DB-A0EF-D637-A0B287A6359E}"/>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B8A6D610-7800-CB1D-17A3-EA6D0EFB541E}"/>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9E2B8789-1D31-91F1-C8D2-3E85B654DF5D}"/>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EA6641C7-F4B3-A0FB-23B3-E1E842B6ED51}"/>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C71EDC0-8610-500C-016A-8FF0315D5988}"/>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3ADA501-517E-4F1C-3DFF-3ED4B2399891}"/>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95FE0BB-B463-E7BB-B500-7DFB855466C5}"/>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3FAEE94-8796-D65B-6CBD-269E800B9916}"/>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CCD5C15-42C4-6AFE-3EB2-5648ADD2C5BB}"/>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99135DC-83CF-4540-42B3-1AC2DF3AD5EE}"/>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DB9797D-FEA1-0808-C564-1BF14F0D99CA}"/>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6F225B0-B947-5276-F68F-D614113FD29D}"/>
              </a:ext>
            </a:extLst>
          </p:cNvPr>
          <p:cNvSpPr txBox="1"/>
          <p:nvPr/>
        </p:nvSpPr>
        <p:spPr>
          <a:xfrm>
            <a:off x="0" y="4853941"/>
            <a:ext cx="1581150" cy="1569660"/>
          </a:xfrm>
          <a:prstGeom prst="rect">
            <a:avLst/>
          </a:prstGeom>
          <a:noFill/>
        </p:spPr>
        <p:txBody>
          <a:bodyPr wrap="square">
            <a:spAutoFit/>
          </a:bodyPr>
          <a:lstStyle/>
          <a:p>
            <a:pPr algn="ctr">
              <a:buNone/>
            </a:pPr>
            <a:r>
              <a:rPr lang="en-GB" sz="2400" b="1" dirty="0"/>
              <a:t>Input layer (vector of values)</a:t>
            </a:r>
          </a:p>
        </p:txBody>
      </p:sp>
      <p:sp>
        <p:nvSpPr>
          <p:cNvPr id="46" name="Oval 45">
            <a:extLst>
              <a:ext uri="{FF2B5EF4-FFF2-40B4-BE49-F238E27FC236}">
                <a16:creationId xmlns:a16="http://schemas.microsoft.com/office/drawing/2014/main" id="{64BFA70F-C36B-2BD9-1816-9619230FBC54}"/>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AFB347E7-B2FD-F270-B4D2-69E898DBA3D0}"/>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8A50DDAF-0EBE-839B-C718-B66ADD9FE18E}"/>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C66E32B1-F681-3C59-10E4-D36F3B0F9E8B}"/>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06B952A-EED2-F8D1-6F62-A830D026177B}"/>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F87C390-4AA5-AB42-3107-756413F28D9E}"/>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7B336DC-DE55-CB83-D5FB-BFD8100EE990}"/>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D14138D3-6CDC-BB0D-7F95-97CC10286CDE}"/>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6722FF50-809B-7457-B398-76FC811F0B9C}"/>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3FCA0B4F-E812-6A1C-D601-65DF0500EF5C}"/>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17884604-6415-9ADE-74BA-917F0EBB45E4}"/>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57DF5360-E851-473E-6CFB-0D45AFC01130}"/>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3524DF07-2E31-B6A3-CB39-0FA499A4EAE1}"/>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4226D4E7-320D-2BA2-DE53-0ECB8660F45F}"/>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1388F2C1-CC99-9F19-352E-E4D86D5B6EC4}"/>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A1DFCFC5-71FC-7DEE-9F8F-247FCC8F2812}"/>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5AAB4B47-8FA2-9230-C5AC-BBBB2DE4659D}"/>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AC79CD77-CDE7-C9B1-3A8D-4CAEC310E144}"/>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1AC77AB4-131A-D975-1BB3-ACC3ECE635A9}"/>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693B2E72-B305-0968-F7C1-707972BF966A}"/>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CA94633-AC75-9D84-97B4-8C8682AD8049}"/>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DD947E8B-EA5A-8854-C677-A270E9AEA2C3}"/>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2E868C09-87C3-C4C3-A5C1-528BA419711C}"/>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D051FE22-1F7B-3B9A-B72E-787F1A3C74C0}"/>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F3C4BA61-E162-A931-2417-E15FA9CC1558}"/>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06" name="TextBox 105">
            <a:extLst>
              <a:ext uri="{FF2B5EF4-FFF2-40B4-BE49-F238E27FC236}">
                <a16:creationId xmlns:a16="http://schemas.microsoft.com/office/drawing/2014/main" id="{BD4C56C5-5156-8A7C-F2E1-BB754A4780BA}"/>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11" name="TextBox 10">
            <a:extLst>
              <a:ext uri="{FF2B5EF4-FFF2-40B4-BE49-F238E27FC236}">
                <a16:creationId xmlns:a16="http://schemas.microsoft.com/office/drawing/2014/main" id="{F512943A-B307-1930-97C6-CCB3F066A040}"/>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
        <p:nvSpPr>
          <p:cNvPr id="12" name="Rectangle 11">
            <a:extLst>
              <a:ext uri="{FF2B5EF4-FFF2-40B4-BE49-F238E27FC236}">
                <a16:creationId xmlns:a16="http://schemas.microsoft.com/office/drawing/2014/main" id="{687EB6E7-8114-6EAE-C6A1-2210373A801D}"/>
              </a:ext>
            </a:extLst>
          </p:cNvPr>
          <p:cNvSpPr/>
          <p:nvPr/>
        </p:nvSpPr>
        <p:spPr>
          <a:xfrm>
            <a:off x="3176670" y="1845569"/>
            <a:ext cx="4338796" cy="2632888"/>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C59E8F2A-DA2F-E723-A72B-70EA1BEE96C7}"/>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5" name="Straight Arrow Connector 14">
            <a:extLst>
              <a:ext uri="{FF2B5EF4-FFF2-40B4-BE49-F238E27FC236}">
                <a16:creationId xmlns:a16="http://schemas.microsoft.com/office/drawing/2014/main" id="{6D09F4A9-1096-6A79-A924-3DA532B6B5DC}"/>
              </a:ext>
            </a:extLst>
          </p:cNvPr>
          <p:cNvCxnSpPr>
            <a:cxnSpLocks/>
            <a:endCxn id="14"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2510095-9A21-6486-D477-647BF417832C}"/>
              </a:ext>
            </a:extLst>
          </p:cNvPr>
          <p:cNvCxnSpPr>
            <a:cxnSpLocks/>
            <a:endCxn id="14"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BE48905-9421-C4BB-59DB-4212112FE680}"/>
              </a:ext>
            </a:extLst>
          </p:cNvPr>
          <p:cNvCxnSpPr>
            <a:cxnSpLocks/>
            <a:endCxn id="14"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03551EE-5E0B-EFE3-D720-C0EAFE1BFC96}"/>
              </a:ext>
            </a:extLst>
          </p:cNvPr>
          <p:cNvSpPr txBox="1"/>
          <p:nvPr/>
        </p:nvSpPr>
        <p:spPr>
          <a:xfrm>
            <a:off x="2107238" y="5961452"/>
            <a:ext cx="6629400" cy="461665"/>
          </a:xfrm>
          <a:prstGeom prst="rect">
            <a:avLst/>
          </a:prstGeom>
          <a:noFill/>
        </p:spPr>
        <p:txBody>
          <a:bodyPr wrap="square">
            <a:spAutoFit/>
          </a:bodyPr>
          <a:lstStyle/>
          <a:p>
            <a:pPr algn="ctr">
              <a:buNone/>
            </a:pPr>
            <a:r>
              <a:rPr lang="en-GB" sz="2400" b="1" dirty="0"/>
              <a:t>33 weights + 10 biases =  43 parameters</a:t>
            </a:r>
          </a:p>
        </p:txBody>
      </p:sp>
    </p:spTree>
    <p:extLst>
      <p:ext uri="{BB962C8B-B14F-4D97-AF65-F5344CB8AC3E}">
        <p14:creationId xmlns:p14="http://schemas.microsoft.com/office/powerpoint/2010/main" val="3780444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104" grpId="0"/>
      <p:bldP spid="106" grpId="0"/>
      <p:bldP spid="12" grpId="0" animBg="1"/>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0DC55513-0406-23DE-ECA0-C6A18EFFC19C}"/>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6B8C455D-4CF2-BD7B-3D1E-13E62D02D6A2}"/>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7098A904-9B26-18D4-579B-5ED9E95DAC9F}"/>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D2C8B6B7-A9E3-EE16-68F8-F59B9B2AE2A3}"/>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09013BE2-F132-467D-0D0E-E2A207D88B33}"/>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99852C15-8A24-5BB8-8A60-4A4433BA2264}"/>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63509644-EE0F-784A-6406-8B95DF93F085}"/>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8B71791-D1C5-0B52-77DA-D1EE06939C93}"/>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0EA90F3-42F3-7D5F-1517-8CA01B04801D}"/>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31816D5-2863-6E15-9A5D-1B420194B3F0}"/>
              </a:ext>
            </a:extLst>
          </p:cNvPr>
          <p:cNvSpPr txBox="1"/>
          <p:nvPr/>
        </p:nvSpPr>
        <p:spPr>
          <a:xfrm>
            <a:off x="2667000" y="4732905"/>
            <a:ext cx="1428750" cy="830997"/>
          </a:xfrm>
          <a:prstGeom prst="rect">
            <a:avLst/>
          </a:prstGeom>
          <a:noFill/>
        </p:spPr>
        <p:txBody>
          <a:bodyPr wrap="square">
            <a:spAutoFit/>
          </a:bodyPr>
          <a:lstStyle/>
          <a:p>
            <a:pPr algn="ctr">
              <a:buNone/>
            </a:pPr>
            <a:r>
              <a:rPr lang="en-GB" sz="2400" b="1" dirty="0"/>
              <a:t>Hidden layer 1</a:t>
            </a:r>
          </a:p>
        </p:txBody>
      </p:sp>
      <p:sp>
        <p:nvSpPr>
          <p:cNvPr id="22" name="Oval 21">
            <a:extLst>
              <a:ext uri="{FF2B5EF4-FFF2-40B4-BE49-F238E27FC236}">
                <a16:creationId xmlns:a16="http://schemas.microsoft.com/office/drawing/2014/main" id="{9C774A66-FD40-6DDB-61DF-D229F441B2DD}"/>
              </a:ext>
            </a:extLst>
          </p:cNvPr>
          <p:cNvSpPr/>
          <p:nvPr/>
        </p:nvSpPr>
        <p:spPr>
          <a:xfrm>
            <a:off x="3205444" y="1826872"/>
            <a:ext cx="647700" cy="646331"/>
          </a:xfrm>
          <a:prstGeom prst="ellipse">
            <a:avLst/>
          </a:prstGeom>
          <a:solidFill>
            <a:srgbClr val="00B050"/>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012889C6-D886-B2AB-0895-48776FF7DE69}"/>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0283E967-6957-41C6-B981-4F472D9C4A4B}"/>
              </a:ext>
            </a:extLst>
          </p:cNvPr>
          <p:cNvCxnSpPr>
            <a:cxnSpLocks/>
            <a:endCxn id="22" idx="2"/>
          </p:cNvCxnSpPr>
          <p:nvPr/>
        </p:nvCxnSpPr>
        <p:spPr>
          <a:xfrm>
            <a:off x="1183096" y="1722927"/>
            <a:ext cx="2022348" cy="42711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605EBD3-EC26-69B3-61D6-425C2432BB54}"/>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D30F9E1-E72F-570B-4F98-33E692B46A71}"/>
              </a:ext>
            </a:extLst>
          </p:cNvPr>
          <p:cNvCxnSpPr>
            <a:cxnSpLocks/>
            <a:endCxn id="22" idx="2"/>
          </p:cNvCxnSpPr>
          <p:nvPr/>
        </p:nvCxnSpPr>
        <p:spPr>
          <a:xfrm flipV="1">
            <a:off x="1131624" y="2150038"/>
            <a:ext cx="2073820" cy="49500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179EF37-710A-0A37-F986-940B1A11A20C}"/>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CF2AEC3-8393-C85B-4877-F777AF7CC4D0}"/>
              </a:ext>
            </a:extLst>
          </p:cNvPr>
          <p:cNvCxnSpPr>
            <a:cxnSpLocks/>
            <a:endCxn id="22" idx="2"/>
          </p:cNvCxnSpPr>
          <p:nvPr/>
        </p:nvCxnSpPr>
        <p:spPr>
          <a:xfrm flipV="1">
            <a:off x="1009033" y="2150038"/>
            <a:ext cx="2196411" cy="141165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0E9CF68-43DD-AB94-7E5A-30FF149F69CC}"/>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DDF5E89-6A12-A860-0565-839049FB99CF}"/>
              </a:ext>
            </a:extLst>
          </p:cNvPr>
          <p:cNvCxnSpPr>
            <a:cxnSpLocks/>
            <a:endCxn id="22" idx="2"/>
          </p:cNvCxnSpPr>
          <p:nvPr/>
        </p:nvCxnSpPr>
        <p:spPr>
          <a:xfrm flipV="1">
            <a:off x="1106386" y="2150038"/>
            <a:ext cx="2099058" cy="228016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B41F915-D1FC-AAB5-E617-7265E88F392D}"/>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3C1023A-5A80-780E-1C56-0E5EA59B683A}"/>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14BE09C4-CB48-DD56-2750-BA086B439B49}"/>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9E151A24-6DBF-4555-9BE2-CBE6AFE4AA41}"/>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A533B712-C61A-ABA7-64E5-53C1F86F547E}"/>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7D480720-FD55-A7EB-A3FD-BE54A850D1F8}"/>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91E828F-7E38-D85D-2928-40E1A072C825}"/>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0DCCDEE2-C70B-6445-3AB8-F6442892661B}"/>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5BBAD6DC-8BCC-53AE-0FD0-2EB14D2DAA49}"/>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0502ADB3-C9F9-4F7C-2453-F77D312665C3}"/>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3BC8139F-E999-D3F0-C731-D7097CEDD577}"/>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90C890C-9214-BCD9-9C20-04BF2513A574}"/>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01BF7A15-9921-4235-00C8-644252DCE757}"/>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87A230DC-2333-D25A-2AD9-7958B655D88D}"/>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520D1CD0-9194-DC4E-F5F0-D1C4C17B3F6B}"/>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A2983E2F-2187-8887-6CC5-60A7C8C0912C}"/>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18D65575-FE5B-0DE9-9D64-7A95A30E9C8C}"/>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B5A48DD7-CF9B-4770-7B94-35177FE539F9}"/>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17B34859-A829-E527-5E92-D2E2C75C4D97}"/>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B0C3BDF5-D3B9-06F2-6236-F0EEA8C8DCEC}"/>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2EF28F1-B821-070C-9B10-0491B647694C}"/>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1D887DFA-6A2B-AB1E-6225-9773A0A069A9}"/>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B4544DA4-D9CE-36DB-6BE6-F3088E625CE1}"/>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EA95D643-8F00-6BAF-D9EC-A69840F73F1C}"/>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FC24A961-8BC1-B0D4-8B5F-5BE83B433930}"/>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B61DCF2C-AACD-F98C-329C-D8836F102D8D}"/>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57E9EBEA-2FB5-ED00-0DF4-1073E7D46480}"/>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36" name="Rectangle 135">
            <a:extLst>
              <a:ext uri="{FF2B5EF4-FFF2-40B4-BE49-F238E27FC236}">
                <a16:creationId xmlns:a16="http://schemas.microsoft.com/office/drawing/2014/main" id="{DA535485-FEE5-F369-D66C-C39C42FF4511}"/>
              </a:ext>
            </a:extLst>
          </p:cNvPr>
          <p:cNvSpPr/>
          <p:nvPr/>
        </p:nvSpPr>
        <p:spPr>
          <a:xfrm>
            <a:off x="3176670" y="1763058"/>
            <a:ext cx="688666" cy="2715399"/>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Oval 136">
            <a:extLst>
              <a:ext uri="{FF2B5EF4-FFF2-40B4-BE49-F238E27FC236}">
                <a16:creationId xmlns:a16="http://schemas.microsoft.com/office/drawing/2014/main" id="{1C0F31CD-6432-1902-BC56-B6AE9722CBB7}"/>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38" name="Straight Arrow Connector 137">
            <a:extLst>
              <a:ext uri="{FF2B5EF4-FFF2-40B4-BE49-F238E27FC236}">
                <a16:creationId xmlns:a16="http://schemas.microsoft.com/office/drawing/2014/main" id="{D79BF87C-291C-F3F4-E04F-EA31C6F556F3}"/>
              </a:ext>
            </a:extLst>
          </p:cNvPr>
          <p:cNvCxnSpPr>
            <a:cxnSpLocks/>
            <a:endCxn id="137"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2A3934A2-4C66-DE97-ACD1-09C110410238}"/>
              </a:ext>
            </a:extLst>
          </p:cNvPr>
          <p:cNvCxnSpPr>
            <a:cxnSpLocks/>
            <a:endCxn id="137"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2D951DD9-851F-8D92-0702-30C228872631}"/>
              </a:ext>
            </a:extLst>
          </p:cNvPr>
          <p:cNvCxnSpPr>
            <a:cxnSpLocks/>
            <a:endCxn id="137"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TextBox 140">
            <a:extLst>
              <a:ext uri="{FF2B5EF4-FFF2-40B4-BE49-F238E27FC236}">
                <a16:creationId xmlns:a16="http://schemas.microsoft.com/office/drawing/2014/main" id="{75A783C8-B3AE-DC69-26E3-BCADCAA66643}"/>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11" name="TextBox 10">
            <a:extLst>
              <a:ext uri="{FF2B5EF4-FFF2-40B4-BE49-F238E27FC236}">
                <a16:creationId xmlns:a16="http://schemas.microsoft.com/office/drawing/2014/main" id="{B6873AF7-8D15-23AF-80D5-2C0C68CF8084}"/>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Tree>
    <p:extLst>
      <p:ext uri="{BB962C8B-B14F-4D97-AF65-F5344CB8AC3E}">
        <p14:creationId xmlns:p14="http://schemas.microsoft.com/office/powerpoint/2010/main" val="132641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1F9CD-E1ED-81EF-A229-DD261FCE5BBB}"/>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53AA8A48-0161-CF54-ACDA-1845F2065DDB}"/>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DC1553D4-FBEE-95EA-E540-FA98115D63E3}"/>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A0DD311F-EB61-C359-C44C-9B463982F02C}"/>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E3454EB1-0E4F-F3A9-DB57-66724E3DC6FE}"/>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F8A27EE9-BC5F-29AA-A6B5-8BAE505470A1}"/>
              </a:ext>
            </a:extLst>
          </p:cNvPr>
          <p:cNvCxnSpPr>
            <a:cxnSpLocks/>
            <a:stCxn id="2" idx="6"/>
            <a:endCxn id="7" idx="2"/>
          </p:cNvCxnSpPr>
          <p:nvPr/>
        </p:nvCxnSpPr>
        <p:spPr>
          <a:xfrm>
            <a:off x="1186144" y="1726297"/>
            <a:ext cx="2019300" cy="135283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ED5F6A9-737F-AC07-1CB7-D3703D6D1463}"/>
              </a:ext>
            </a:extLst>
          </p:cNvPr>
          <p:cNvSpPr/>
          <p:nvPr/>
        </p:nvSpPr>
        <p:spPr>
          <a:xfrm>
            <a:off x="3205444" y="2755967"/>
            <a:ext cx="647700" cy="646331"/>
          </a:xfrm>
          <a:prstGeom prst="ellipse">
            <a:avLst/>
          </a:prstGeom>
          <a:solidFill>
            <a:srgbClr val="00B050"/>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CD708CCB-53CC-D97F-29D4-B79F4903A93B}"/>
              </a:ext>
            </a:extLst>
          </p:cNvPr>
          <p:cNvCxnSpPr>
            <a:cxnSpLocks/>
            <a:stCxn id="3" idx="6"/>
            <a:endCxn id="7" idx="2"/>
          </p:cNvCxnSpPr>
          <p:nvPr/>
        </p:nvCxnSpPr>
        <p:spPr>
          <a:xfrm>
            <a:off x="1138718" y="2652004"/>
            <a:ext cx="2066726" cy="42712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A6BB303-4CED-903B-838B-D9B05B53AF87}"/>
              </a:ext>
            </a:extLst>
          </p:cNvPr>
          <p:cNvCxnSpPr>
            <a:cxnSpLocks/>
            <a:stCxn id="5" idx="6"/>
            <a:endCxn id="7" idx="2"/>
          </p:cNvCxnSpPr>
          <p:nvPr/>
        </p:nvCxnSpPr>
        <p:spPr>
          <a:xfrm flipV="1">
            <a:off x="1124530" y="3079133"/>
            <a:ext cx="2080914" cy="135572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5008EA9-7523-8774-5D0B-ACB3AE739B0D}"/>
              </a:ext>
            </a:extLst>
          </p:cNvPr>
          <p:cNvCxnSpPr>
            <a:cxnSpLocks/>
            <a:stCxn id="4" idx="6"/>
            <a:endCxn id="7" idx="2"/>
          </p:cNvCxnSpPr>
          <p:nvPr/>
        </p:nvCxnSpPr>
        <p:spPr>
          <a:xfrm flipV="1">
            <a:off x="1124530" y="3079133"/>
            <a:ext cx="2080914" cy="4642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98F11E3-1F4D-1F5E-4897-D0256188CAC8}"/>
              </a:ext>
            </a:extLst>
          </p:cNvPr>
          <p:cNvSpPr txBox="1"/>
          <p:nvPr/>
        </p:nvSpPr>
        <p:spPr>
          <a:xfrm>
            <a:off x="2667000" y="4732905"/>
            <a:ext cx="1428750" cy="830997"/>
          </a:xfrm>
          <a:prstGeom prst="rect">
            <a:avLst/>
          </a:prstGeom>
          <a:noFill/>
        </p:spPr>
        <p:txBody>
          <a:bodyPr wrap="square">
            <a:spAutoFit/>
          </a:bodyPr>
          <a:lstStyle/>
          <a:p>
            <a:pPr algn="ctr">
              <a:buNone/>
            </a:pPr>
            <a:r>
              <a:rPr lang="en-GB" sz="2400" b="1" dirty="0"/>
              <a:t>Hidden layer 1</a:t>
            </a:r>
          </a:p>
        </p:txBody>
      </p:sp>
      <p:sp>
        <p:nvSpPr>
          <p:cNvPr id="22" name="Oval 21">
            <a:extLst>
              <a:ext uri="{FF2B5EF4-FFF2-40B4-BE49-F238E27FC236}">
                <a16:creationId xmlns:a16="http://schemas.microsoft.com/office/drawing/2014/main" id="{0604B9DF-92DC-171D-5C9F-DD593C819136}"/>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8899DE63-22C2-22DA-A5E6-D013BACD594D}"/>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FD5E0F1E-5411-8D78-2281-F939A9916DB6}"/>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6AD2B91-9802-4BF7-5AFF-313672A831CE}"/>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9055104-870B-C89E-5B32-CF1E7824BA4F}"/>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890D358-6CDB-AC02-C9C0-ACDBEC869E6A}"/>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21BE712-0A35-95E4-5170-7D848D45B520}"/>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4E42825-5C78-C435-8A0F-304DCAA10FDE}"/>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9985CC0-8596-461A-8216-30A53BCF6B5F}"/>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11979C12-1773-72CA-18A9-C678D15D42F4}"/>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429DC61-DF86-DC08-7F48-EBA8ED46AF0F}"/>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227994EC-AC33-4832-49CF-95607BBBCF2D}"/>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4D383456-56D3-7EB7-A29E-068668A05B92}"/>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6A0AE972-5644-A6F3-BD73-86CFD25FA651}"/>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6666AD6E-A870-870C-58FA-35C597CA4BAC}"/>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B77B2332-58BE-F109-9088-34DF91CCEC4D}"/>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A7A7530-5120-36BA-FA34-89F9CEF0EA74}"/>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DA8BC0E-A8CB-EFD5-7DCB-EF34A42A11BC}"/>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7060FFB-D5A9-E69D-DA5B-AE9B93ED20B0}"/>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7794607B-3143-C9F1-54DE-857C2102F631}"/>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D2CE479-94AF-096A-C7AD-E91BA5B0FB23}"/>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967CDE50-0ABB-9F60-787D-20B751F85C8B}"/>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E30C84E-BBBA-2F08-1030-C81FB7AF1FC8}"/>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44F936F1-02E3-7A1A-9793-060DBFAB94B9}"/>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905F738A-ED85-AA18-7C8B-E5E2547DBC48}"/>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2B43EF53-2623-9663-3820-EC56B5F37239}"/>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93957440-939C-9CF2-8D55-6E8AC3937D25}"/>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C7AC274D-458C-A3FA-BD14-3BDE41DF6223}"/>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DE318C2C-65E3-0E9C-226A-7658DC26F0D0}"/>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2B7F6CE-AB1D-1F1C-DDE3-3737C89A6260}"/>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D757EDBE-95C9-5C5A-0092-1F807E054AD2}"/>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0E825BF-DB07-23CE-803A-E041578A8565}"/>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67497897-44DB-E851-28B9-CE2C242E5593}"/>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7D380248-3CED-DE06-44DC-10F6EBE58E3F}"/>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9532008E-DD6E-64A3-EFB1-09A0FC4730C1}"/>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10327468-8DB6-6B38-0CC1-4AC8F37CF000}"/>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5" name="Rectangle 14">
            <a:extLst>
              <a:ext uri="{FF2B5EF4-FFF2-40B4-BE49-F238E27FC236}">
                <a16:creationId xmlns:a16="http://schemas.microsoft.com/office/drawing/2014/main" id="{21824A7E-B78A-751C-8912-4BA84A8B44EC}"/>
              </a:ext>
            </a:extLst>
          </p:cNvPr>
          <p:cNvSpPr/>
          <p:nvPr/>
        </p:nvSpPr>
        <p:spPr>
          <a:xfrm>
            <a:off x="3176670" y="1763058"/>
            <a:ext cx="688666" cy="2715399"/>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B216A1D8-398C-F042-A92D-A1C48EEC9E57}"/>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7" name="Straight Arrow Connector 16">
            <a:extLst>
              <a:ext uri="{FF2B5EF4-FFF2-40B4-BE49-F238E27FC236}">
                <a16:creationId xmlns:a16="http://schemas.microsoft.com/office/drawing/2014/main" id="{D47069E8-95CD-B40B-5782-AC2692B4D114}"/>
              </a:ext>
            </a:extLst>
          </p:cNvPr>
          <p:cNvCxnSpPr>
            <a:cxnSpLocks/>
            <a:endCxn id="16"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94281FE-DB4F-5725-D782-B7CC62C48DAA}"/>
              </a:ext>
            </a:extLst>
          </p:cNvPr>
          <p:cNvCxnSpPr>
            <a:cxnSpLocks/>
            <a:endCxn id="16"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2D9767A-5CFB-C925-6CFD-AF47178D6AF9}"/>
              </a:ext>
            </a:extLst>
          </p:cNvPr>
          <p:cNvCxnSpPr>
            <a:cxnSpLocks/>
            <a:endCxn id="16"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55B145D-C868-3778-8598-BCEA22CDBEB6}"/>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12" name="TextBox 11">
            <a:extLst>
              <a:ext uri="{FF2B5EF4-FFF2-40B4-BE49-F238E27FC236}">
                <a16:creationId xmlns:a16="http://schemas.microsoft.com/office/drawing/2014/main" id="{1F6B3C99-7E32-A5E6-696D-E23870CE20B0}"/>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Tree>
    <p:extLst>
      <p:ext uri="{BB962C8B-B14F-4D97-AF65-F5344CB8AC3E}">
        <p14:creationId xmlns:p14="http://schemas.microsoft.com/office/powerpoint/2010/main" val="3718903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31402-0ED6-D9E3-4FFB-AD71E4ED5085}"/>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7248F8D6-DF14-8EE8-9443-ABE50065FF5C}"/>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7AA8B467-8505-4BB2-9894-8998BFF71AA0}"/>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06365F1F-F0DB-02FC-684D-C59816829430}"/>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305BA76F-45C3-4D79-8B28-8D73AD8C418F}"/>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D9DB082E-2186-42D5-C9B4-578904AB3DA8}"/>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B4DFBD19-49F1-7A84-58E2-1F0477CCE530}"/>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E3B4D003-4FC4-BCA4-1E17-B1762127A542}"/>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813C068-E880-E0E1-4FF3-A6C98EAD1187}"/>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A8947B3-4280-F4B7-CF30-04A7AD0EB533}"/>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95F29DB-9328-804E-DF5B-B2506E9EA78A}"/>
              </a:ext>
            </a:extLst>
          </p:cNvPr>
          <p:cNvSpPr txBox="1"/>
          <p:nvPr/>
        </p:nvSpPr>
        <p:spPr>
          <a:xfrm>
            <a:off x="2707280" y="4888838"/>
            <a:ext cx="1428750" cy="830997"/>
          </a:xfrm>
          <a:prstGeom prst="rect">
            <a:avLst/>
          </a:prstGeom>
          <a:noFill/>
        </p:spPr>
        <p:txBody>
          <a:bodyPr wrap="square">
            <a:spAutoFit/>
          </a:bodyPr>
          <a:lstStyle/>
          <a:p>
            <a:pPr algn="ctr">
              <a:buNone/>
            </a:pPr>
            <a:r>
              <a:rPr lang="en-GB" sz="2400" b="1" dirty="0"/>
              <a:t>Hidden layer 1</a:t>
            </a:r>
          </a:p>
        </p:txBody>
      </p:sp>
      <p:sp>
        <p:nvSpPr>
          <p:cNvPr id="22" name="Oval 21">
            <a:extLst>
              <a:ext uri="{FF2B5EF4-FFF2-40B4-BE49-F238E27FC236}">
                <a16:creationId xmlns:a16="http://schemas.microsoft.com/office/drawing/2014/main" id="{883B211D-C238-D5EB-3FEA-73C9AE97C6ED}"/>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DEE0B276-C79A-D7E2-8503-D79AEF10F0D0}"/>
              </a:ext>
            </a:extLst>
          </p:cNvPr>
          <p:cNvSpPr/>
          <p:nvPr/>
        </p:nvSpPr>
        <p:spPr>
          <a:xfrm>
            <a:off x="3176670" y="3788524"/>
            <a:ext cx="647700" cy="646331"/>
          </a:xfrm>
          <a:prstGeom prst="ellipse">
            <a:avLst/>
          </a:prstGeom>
          <a:solidFill>
            <a:srgbClr val="00B050"/>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F8E6A7B1-38D1-7420-6366-83A60C145785}"/>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C56AD10-1060-BDB9-64EE-D87C91DC81EB}"/>
              </a:ext>
            </a:extLst>
          </p:cNvPr>
          <p:cNvCxnSpPr>
            <a:cxnSpLocks/>
            <a:endCxn id="23" idx="2"/>
          </p:cNvCxnSpPr>
          <p:nvPr/>
        </p:nvCxnSpPr>
        <p:spPr>
          <a:xfrm>
            <a:off x="1165098" y="1711134"/>
            <a:ext cx="2011572" cy="240055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B51BAB5-8B6C-4913-4BF1-CD93C426D022}"/>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51D31C2E-BB1B-D756-9A3F-4D960F7F7630}"/>
              </a:ext>
            </a:extLst>
          </p:cNvPr>
          <p:cNvCxnSpPr>
            <a:cxnSpLocks/>
            <a:endCxn id="23" idx="2"/>
          </p:cNvCxnSpPr>
          <p:nvPr/>
        </p:nvCxnSpPr>
        <p:spPr>
          <a:xfrm>
            <a:off x="1157006" y="2671477"/>
            <a:ext cx="2019664" cy="144021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4B73C6A-2DAB-D206-6C76-BD76078289A1}"/>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1B1F41A-9DC8-34F6-8004-57CBC26EC64C}"/>
              </a:ext>
            </a:extLst>
          </p:cNvPr>
          <p:cNvCxnSpPr>
            <a:cxnSpLocks/>
            <a:endCxn id="23" idx="2"/>
          </p:cNvCxnSpPr>
          <p:nvPr/>
        </p:nvCxnSpPr>
        <p:spPr>
          <a:xfrm>
            <a:off x="1043865" y="3552563"/>
            <a:ext cx="2132805" cy="55912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8FEB3C5-988F-EA94-CDF4-767B9BB7C959}"/>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6C8DF65-CFF5-E358-1C2C-9783720192F0}"/>
              </a:ext>
            </a:extLst>
          </p:cNvPr>
          <p:cNvCxnSpPr>
            <a:cxnSpLocks/>
            <a:endCxn id="23" idx="2"/>
          </p:cNvCxnSpPr>
          <p:nvPr/>
        </p:nvCxnSpPr>
        <p:spPr>
          <a:xfrm flipV="1">
            <a:off x="1106386" y="4111690"/>
            <a:ext cx="2070284" cy="31575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7C19EA30-905A-F6B0-F30D-B73B03608C0A}"/>
              </a:ext>
            </a:extLst>
          </p:cNvPr>
          <p:cNvSpPr txBox="1"/>
          <p:nvPr/>
        </p:nvSpPr>
        <p:spPr>
          <a:xfrm>
            <a:off x="24293" y="4888838"/>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1892986F-960B-B5C9-7FC8-776547F64A58}"/>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0E8CE4FB-3AE8-CC19-AFB7-A77D30BDB640}"/>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9AE6F239-3090-DE32-EFA5-70B10CE4A5EF}"/>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898A2EA5-16D9-61B4-8B04-7B559F081972}"/>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5BF017DA-534A-2BA7-7E1C-BCCCBA45A2F0}"/>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7F1AE551-9B3A-B830-3B5B-10CE5053E083}"/>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8BF61869-5C3B-4A65-D641-7EEF062A39BE}"/>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4346EEFD-2D80-D7BD-6329-A720989E5A7D}"/>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BC9314C3-8733-6C79-172F-593056CEE754}"/>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5A370B7C-70BF-7DFA-62A0-B18619CBAE7F}"/>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0D76A9A0-D7B2-3802-ED8C-B2D248C8F547}"/>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D512CCB5-D2D0-64C1-3A7F-51972682F9BD}"/>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A4BEC3D9-925F-5629-A6E8-BCE5E8922172}"/>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8E77F0BE-387F-6F3E-198F-A4E7BD994ED5}"/>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8651FF8A-907D-CB2F-BCC7-76E2C5FAEC72}"/>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E8DF7B75-A18D-B8CD-92DF-AC85B6D3611B}"/>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1311270-CA57-73F4-5426-FBED41971665}"/>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89D482A7-D671-0D74-0424-8C540897A226}"/>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19A1562B-FC62-8F95-2B50-A34E861707D1}"/>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C8035EF2-BE6A-A95D-A68B-56F28CBC50AC}"/>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46A38C3E-98B8-E16D-56E0-67A3074184F4}"/>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47019028-BB6B-1B91-21B9-0F18CB6B0388}"/>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AF3579C-D663-564E-69D7-0A32573D8770}"/>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D20778F8-416F-FE14-3086-8A3548182E1B}"/>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8DBF2E52-8E3D-D972-E813-E4928F4B8BA7}"/>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89" name="Straight Arrow Connector 88">
            <a:extLst>
              <a:ext uri="{FF2B5EF4-FFF2-40B4-BE49-F238E27FC236}">
                <a16:creationId xmlns:a16="http://schemas.microsoft.com/office/drawing/2014/main" id="{121589EC-5F51-87C9-997C-76067E81818D}"/>
              </a:ext>
            </a:extLst>
          </p:cNvPr>
          <p:cNvCxnSpPr>
            <a:cxnSpLocks/>
            <a:stCxn id="75" idx="6"/>
            <a:endCxn id="87"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ED9301C9-0955-1FB1-CCD9-E3CFC409E12F}"/>
              </a:ext>
            </a:extLst>
          </p:cNvPr>
          <p:cNvCxnSpPr>
            <a:cxnSpLocks/>
            <a:stCxn id="76" idx="6"/>
            <a:endCxn id="87"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5B102194-8321-894C-7EE0-8B18AE6968B8}"/>
              </a:ext>
            </a:extLst>
          </p:cNvPr>
          <p:cNvCxnSpPr>
            <a:cxnSpLocks/>
            <a:stCxn id="74" idx="6"/>
            <a:endCxn id="87"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0BC1BA9C-850C-E0E2-1463-4ABA0554F633}"/>
              </a:ext>
            </a:extLst>
          </p:cNvPr>
          <p:cNvSpPr txBox="1"/>
          <p:nvPr/>
        </p:nvSpPr>
        <p:spPr>
          <a:xfrm>
            <a:off x="8167754" y="4888837"/>
            <a:ext cx="1581150" cy="830997"/>
          </a:xfrm>
          <a:prstGeom prst="rect">
            <a:avLst/>
          </a:prstGeom>
          <a:noFill/>
        </p:spPr>
        <p:txBody>
          <a:bodyPr wrap="square">
            <a:spAutoFit/>
          </a:bodyPr>
          <a:lstStyle/>
          <a:p>
            <a:pPr algn="ctr">
              <a:buNone/>
            </a:pPr>
            <a:r>
              <a:rPr lang="en-GB" sz="2400" b="1" dirty="0"/>
              <a:t>Output layer</a:t>
            </a:r>
          </a:p>
        </p:txBody>
      </p:sp>
      <p:sp>
        <p:nvSpPr>
          <p:cNvPr id="18" name="Rectangle 17">
            <a:extLst>
              <a:ext uri="{FF2B5EF4-FFF2-40B4-BE49-F238E27FC236}">
                <a16:creationId xmlns:a16="http://schemas.microsoft.com/office/drawing/2014/main" id="{666F2DB6-7F8C-C8FC-D110-43D3A3054CB2}"/>
              </a:ext>
            </a:extLst>
          </p:cNvPr>
          <p:cNvSpPr/>
          <p:nvPr/>
        </p:nvSpPr>
        <p:spPr>
          <a:xfrm>
            <a:off x="3176670" y="1763058"/>
            <a:ext cx="688666" cy="2715399"/>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3D623DD5-42B4-8AC7-5FCB-71C94C4B0D32}"/>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12" name="TextBox 11">
            <a:extLst>
              <a:ext uri="{FF2B5EF4-FFF2-40B4-BE49-F238E27FC236}">
                <a16:creationId xmlns:a16="http://schemas.microsoft.com/office/drawing/2014/main" id="{4690E1A3-0E0A-0F57-AE2E-D1BE2CFDD647}"/>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Tree>
    <p:extLst>
      <p:ext uri="{BB962C8B-B14F-4D97-AF65-F5344CB8AC3E}">
        <p14:creationId xmlns:p14="http://schemas.microsoft.com/office/powerpoint/2010/main" val="1161418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F3ADA-4D97-D26E-018B-500329CF8AA4}"/>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35615648-62F5-2331-E741-5EDF2DC01903}"/>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28DE5B86-4F4D-9AD0-4CF9-EBDE75A8A00F}"/>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68A2EB56-B577-99D0-4709-C86E746F31FF}"/>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9D715C65-A43E-C4F0-C0EF-F721BB2B6E0E}"/>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85F44032-0B07-3AE6-46C1-621B07853F28}"/>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88D03FF-C542-48FB-2211-D33F9DCB2867}"/>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84B1E6C5-270F-2AC4-C252-9C0B836624D5}"/>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8186CBA-7379-7233-142F-19259AC82FF2}"/>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7E1C6A8-6ABB-5741-7AA7-841CF6DBBE9B}"/>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E2F2480C-0EE6-3AFB-267C-563BE7C112BC}"/>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51100578-B6F5-0BBA-56B7-0FCFDC997919}"/>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DC1BA54C-A0AD-37D4-EB78-2D141969A923}"/>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51CDB53-4075-D392-773B-C740C5A053DD}"/>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725BEDF-2398-5213-238D-4340500E4184}"/>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5D6C2CF-A937-465F-63FB-C53E675B5175}"/>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0A7606F-33B1-611B-02CD-2D6A548D6170}"/>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6E0CF5A-95DF-5A1D-B9DF-BB546321D8FD}"/>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7718838-8E3E-3768-E187-094995299BB2}"/>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B982C23-00F0-18F6-E0F7-83B729CD1D99}"/>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5BD169C-32D4-0A0A-FC38-9835ECB6A886}"/>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ADFC2591-0727-990D-8BBE-6B73F81A9674}"/>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92EB7B7C-0D99-720D-A956-47018637B2B5}"/>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3197663A-F52B-D6C9-0603-558C6D00B402}"/>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08960603-601E-A1CB-D5DE-DE107EF85347}"/>
              </a:ext>
            </a:extLst>
          </p:cNvPr>
          <p:cNvCxnSpPr>
            <a:cxnSpLocks/>
            <a:stCxn id="22" idx="6"/>
            <a:endCxn id="47" idx="2"/>
          </p:cNvCxnSpPr>
          <p:nvPr/>
        </p:nvCxnSpPr>
        <p:spPr>
          <a:xfrm>
            <a:off x="3853144" y="2150038"/>
            <a:ext cx="1163649" cy="18697"/>
          </a:xfrm>
          <a:prstGeom prst="straightConnector1">
            <a:avLst/>
          </a:prstGeom>
          <a:ln w="1905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BBBA00D-F612-F9DC-AD9E-EF6022B497EB}"/>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CC59EF7-0B0B-35C6-B96F-B05AAE5B8D08}"/>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99ED0970-BE31-A074-6914-C1D79032397D}"/>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2BE1942F-B851-0612-FE1A-382C05E32CAE}"/>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3E255D9-04F7-4B60-332E-45B9D6B86E45}"/>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4B5760CC-C4F6-96CF-DF88-AED6D239E069}"/>
              </a:ext>
            </a:extLst>
          </p:cNvPr>
          <p:cNvCxnSpPr>
            <a:cxnSpLocks/>
            <a:endCxn id="47" idx="2"/>
          </p:cNvCxnSpPr>
          <p:nvPr/>
        </p:nvCxnSpPr>
        <p:spPr>
          <a:xfrm flipV="1">
            <a:off x="3808078" y="2168735"/>
            <a:ext cx="1208715" cy="1918116"/>
          </a:xfrm>
          <a:prstGeom prst="straightConnector1">
            <a:avLst/>
          </a:prstGeom>
          <a:ln w="1905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698082FE-F1A7-BA20-3720-8729A1C24ECF}"/>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1B6DAEFD-82FF-F652-7833-40BEEE6B406F}"/>
              </a:ext>
            </a:extLst>
          </p:cNvPr>
          <p:cNvCxnSpPr>
            <a:cxnSpLocks/>
          </p:cNvCxnSpPr>
          <p:nvPr/>
        </p:nvCxnSpPr>
        <p:spPr>
          <a:xfrm flipV="1">
            <a:off x="3810257" y="2124174"/>
            <a:ext cx="1202834" cy="977755"/>
          </a:xfrm>
          <a:prstGeom prst="straightConnector1">
            <a:avLst/>
          </a:prstGeom>
          <a:ln w="19050">
            <a:solidFill>
              <a:srgbClr val="C8E5C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696DF787-A3FF-7342-4F47-86D0E0B01DF5}"/>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4203B53F-017E-7F8E-8D25-E44BDBDD32CE}"/>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650F77A9-D512-D5F1-5981-EAD7C6058CCC}"/>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514C9C7F-41FD-5DB5-6E5B-111B7FC998BC}"/>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4C7057FD-6C9C-B60E-D124-BABBFE3238F4}"/>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3511F61-2BB3-82A4-7A78-12D98F15D45B}"/>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3603048-1CC8-97DB-8044-15A622F24E84}"/>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B937F741-F48E-AA2E-D464-BCBCB92A6E7A}"/>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479BFD7F-443C-1EBC-05F7-332A8590650E}"/>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A2E71954-59FC-FC92-0F0A-819C3CF8ECA0}"/>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B561C3C6-8003-3304-0958-693D8400E2A6}"/>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0F22D14F-1749-2F74-0685-B97DEAA5AE93}"/>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3805FB1E-0DC1-2538-2C18-F0984268A406}"/>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2" name="Rectangle 11">
            <a:extLst>
              <a:ext uri="{FF2B5EF4-FFF2-40B4-BE49-F238E27FC236}">
                <a16:creationId xmlns:a16="http://schemas.microsoft.com/office/drawing/2014/main" id="{2CC5C24C-4AF0-15BA-9498-1ED92B21C0BD}"/>
              </a:ext>
            </a:extLst>
          </p:cNvPr>
          <p:cNvSpPr/>
          <p:nvPr/>
        </p:nvSpPr>
        <p:spPr>
          <a:xfrm>
            <a:off x="5008497" y="1826872"/>
            <a:ext cx="650116" cy="2651585"/>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1F5BBB2A-97B9-7CA4-409E-2DE40FA60D08}"/>
              </a:ext>
            </a:extLst>
          </p:cNvPr>
          <p:cNvSpPr txBox="1"/>
          <p:nvPr/>
        </p:nvSpPr>
        <p:spPr>
          <a:xfrm>
            <a:off x="4501991" y="4775549"/>
            <a:ext cx="1428750" cy="830997"/>
          </a:xfrm>
          <a:prstGeom prst="rect">
            <a:avLst/>
          </a:prstGeom>
          <a:noFill/>
        </p:spPr>
        <p:txBody>
          <a:bodyPr wrap="square">
            <a:spAutoFit/>
          </a:bodyPr>
          <a:lstStyle/>
          <a:p>
            <a:pPr algn="ctr">
              <a:buNone/>
            </a:pPr>
            <a:r>
              <a:rPr lang="en-GB" sz="2400" b="1" dirty="0"/>
              <a:t>Hidden layer 2</a:t>
            </a:r>
          </a:p>
        </p:txBody>
      </p:sp>
      <p:sp>
        <p:nvSpPr>
          <p:cNvPr id="15" name="Oval 14">
            <a:extLst>
              <a:ext uri="{FF2B5EF4-FFF2-40B4-BE49-F238E27FC236}">
                <a16:creationId xmlns:a16="http://schemas.microsoft.com/office/drawing/2014/main" id="{F4DB992B-F1A1-CA71-05F2-6127A1A275F5}"/>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6" name="Straight Arrow Connector 15">
            <a:extLst>
              <a:ext uri="{FF2B5EF4-FFF2-40B4-BE49-F238E27FC236}">
                <a16:creationId xmlns:a16="http://schemas.microsoft.com/office/drawing/2014/main" id="{A257E6FD-8070-111A-A4D8-D3C768A319EB}"/>
              </a:ext>
            </a:extLst>
          </p:cNvPr>
          <p:cNvCxnSpPr>
            <a:cxnSpLocks/>
            <a:endCxn id="15"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824F0A2-2DF3-007F-0CDA-BB87CD056C4F}"/>
              </a:ext>
            </a:extLst>
          </p:cNvPr>
          <p:cNvCxnSpPr>
            <a:cxnSpLocks/>
            <a:endCxn id="15"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0801E6F-065E-751C-CF7B-B4D5767F39C7}"/>
              </a:ext>
            </a:extLst>
          </p:cNvPr>
          <p:cNvCxnSpPr>
            <a:cxnSpLocks/>
            <a:endCxn id="15"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D2E505A-4CAB-E930-5F8A-0B48A38C3D3E}"/>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13" name="TextBox 12">
            <a:extLst>
              <a:ext uri="{FF2B5EF4-FFF2-40B4-BE49-F238E27FC236}">
                <a16:creationId xmlns:a16="http://schemas.microsoft.com/office/drawing/2014/main" id="{084062DD-819F-1F2C-9B3F-EE3824F1F4FF}"/>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Tree>
    <p:extLst>
      <p:ext uri="{BB962C8B-B14F-4D97-AF65-F5344CB8AC3E}">
        <p14:creationId xmlns:p14="http://schemas.microsoft.com/office/powerpoint/2010/main" val="3984608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116A9-9691-00CC-3D87-4BA526090959}"/>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07FF7893-F476-93F0-A10D-505E81E8A6A3}"/>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99D33850-498D-F1F8-87EC-C10D24497C3A}"/>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BAEFEECC-FE75-7D88-5F8F-9B3D3DF348EC}"/>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4B4E8592-3041-760C-358D-8E1BFD4850DE}"/>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CC023D43-9AA1-B607-D087-CE6919FF451C}"/>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183A2F05-EA9B-0897-E4DA-3271A6FD7718}"/>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1FB7CE8A-6A2F-B715-F0D7-99A06CCED193}"/>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A700A84-DF78-2C9B-D1A9-966A149B2047}"/>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A37AAC0-4872-22B0-BBE6-92BD2506DD49}"/>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31204C45-286E-5F09-8C9E-064975E7E75C}"/>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9D300D66-513A-A6FF-C568-4B19CB881403}"/>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F70ECDC9-3657-DA31-38E5-6D32BDEA552D}"/>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732AF1C-FC4F-7DDE-D229-E724A18586C8}"/>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CEE31C2-535E-95DB-F568-B034246B326F}"/>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44C272E-A2E5-E85E-9BBA-A0B345296FA9}"/>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27DCD39-52F2-173F-BA35-4197D0EB861E}"/>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AD9A436-667E-9A2A-BCD1-E9B0BA9B2DBF}"/>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B5050FA-5B1A-BCB2-370E-DF627C98F4EC}"/>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04E42D2-5CA0-4EDC-0A3A-7C305372FF8B}"/>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610A6E5-8A2F-66AB-27A5-EEE0BACD35D4}"/>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78D80C94-63AD-11B5-5003-780948CA77C0}"/>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3376491B-996C-E5AF-3727-93A2B607CDE4}"/>
              </a:ext>
            </a:extLst>
          </p:cNvPr>
          <p:cNvSpPr/>
          <p:nvPr/>
        </p:nvSpPr>
        <p:spPr>
          <a:xfrm>
            <a:off x="5016793" y="1845569"/>
            <a:ext cx="647700" cy="646331"/>
          </a:xfrm>
          <a:prstGeom prst="ellipse">
            <a:avLst/>
          </a:prstGeom>
          <a:solidFill>
            <a:srgbClr val="00B050"/>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3FDF0011-0167-5E89-97F6-B053CA67D404}"/>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FEE339DE-581B-4CE5-486B-25E1B0938056}"/>
              </a:ext>
            </a:extLst>
          </p:cNvPr>
          <p:cNvCxnSpPr>
            <a:cxnSpLocks/>
            <a:stCxn id="22" idx="6"/>
            <a:endCxn id="47" idx="2"/>
          </p:cNvCxnSpPr>
          <p:nvPr/>
        </p:nvCxnSpPr>
        <p:spPr>
          <a:xfrm>
            <a:off x="3853144" y="2150038"/>
            <a:ext cx="1163649" cy="186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734E5D1-8236-931E-FA61-6618421E63FC}"/>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2CD7DC37-3467-A7B7-C7E8-6C895A4A9CE5}"/>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919E6C49-F012-5B81-08B2-F47B17FBDA53}"/>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7088F8E1-E230-D063-827C-A28B1145950E}"/>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89264B8C-B2E6-4F9D-8930-60E7228A2D8B}"/>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187F9450-310F-DA6D-B9E7-E63654A6601E}"/>
              </a:ext>
            </a:extLst>
          </p:cNvPr>
          <p:cNvCxnSpPr>
            <a:cxnSpLocks/>
            <a:endCxn id="47" idx="2"/>
          </p:cNvCxnSpPr>
          <p:nvPr/>
        </p:nvCxnSpPr>
        <p:spPr>
          <a:xfrm flipV="1">
            <a:off x="3808078" y="2168735"/>
            <a:ext cx="1208715" cy="191811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61408D0B-9BCD-822A-43D9-15BC82F5E63E}"/>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AAD2BC11-8E67-A819-9552-8DFB885BAC41}"/>
              </a:ext>
            </a:extLst>
          </p:cNvPr>
          <p:cNvCxnSpPr>
            <a:cxnSpLocks/>
          </p:cNvCxnSpPr>
          <p:nvPr/>
        </p:nvCxnSpPr>
        <p:spPr>
          <a:xfrm flipV="1">
            <a:off x="3810257" y="2124174"/>
            <a:ext cx="1202834" cy="97775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F2FB3AC8-D6D1-D161-AEE4-5861C14FCA0B}"/>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6E2BB6A5-EB99-5915-386B-140DDBF9712C}"/>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2DF2F4B3-EDF4-4766-FDB5-C358FD2C7C57}"/>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BC5D6840-0B22-C0D0-1DBB-E579891C38CF}"/>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0CF58108-5B4F-EBEF-8A9E-6064907D5A06}"/>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74BAD79E-C817-4011-9D4A-88B547EAEF78}"/>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292D7AAA-A37F-5977-4299-3E54E8BF3987}"/>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36F36016-A1EA-1292-BEFF-AC77A6388930}"/>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ADDC57FD-76BE-A5F6-E74D-37CA1E0F341E}"/>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60C94A6B-C38C-A9E7-0A2F-066652D3ACBD}"/>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60F2EFAB-E80A-606C-3382-62BCEBBA772D}"/>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2C8F3643-76E6-3F70-5ADF-EADDF7BCAA92}"/>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E76A6813-50A6-9625-C5C4-C520E277EB86}"/>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2" name="Rectangle 11">
            <a:extLst>
              <a:ext uri="{FF2B5EF4-FFF2-40B4-BE49-F238E27FC236}">
                <a16:creationId xmlns:a16="http://schemas.microsoft.com/office/drawing/2014/main" id="{0D9B5683-C793-9285-9D28-FE219FE0FC7D}"/>
              </a:ext>
            </a:extLst>
          </p:cNvPr>
          <p:cNvSpPr/>
          <p:nvPr/>
        </p:nvSpPr>
        <p:spPr>
          <a:xfrm>
            <a:off x="5008497" y="1826872"/>
            <a:ext cx="650116" cy="2651585"/>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498BED9A-15EE-0D50-CD3E-9AF8431A11A1}"/>
              </a:ext>
            </a:extLst>
          </p:cNvPr>
          <p:cNvSpPr txBox="1"/>
          <p:nvPr/>
        </p:nvSpPr>
        <p:spPr>
          <a:xfrm>
            <a:off x="4501991" y="4775549"/>
            <a:ext cx="1428750" cy="830997"/>
          </a:xfrm>
          <a:prstGeom prst="rect">
            <a:avLst/>
          </a:prstGeom>
          <a:noFill/>
        </p:spPr>
        <p:txBody>
          <a:bodyPr wrap="square">
            <a:spAutoFit/>
          </a:bodyPr>
          <a:lstStyle/>
          <a:p>
            <a:pPr algn="ctr">
              <a:buNone/>
            </a:pPr>
            <a:r>
              <a:rPr lang="en-GB" sz="2400" b="1" dirty="0"/>
              <a:t>Hidden layer 2</a:t>
            </a:r>
          </a:p>
        </p:txBody>
      </p:sp>
      <p:sp>
        <p:nvSpPr>
          <p:cNvPr id="15" name="Oval 14">
            <a:extLst>
              <a:ext uri="{FF2B5EF4-FFF2-40B4-BE49-F238E27FC236}">
                <a16:creationId xmlns:a16="http://schemas.microsoft.com/office/drawing/2014/main" id="{73102359-4324-1E37-7240-14274960C41E}"/>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6" name="Straight Arrow Connector 15">
            <a:extLst>
              <a:ext uri="{FF2B5EF4-FFF2-40B4-BE49-F238E27FC236}">
                <a16:creationId xmlns:a16="http://schemas.microsoft.com/office/drawing/2014/main" id="{67162120-DD85-8388-64D3-7828DC541701}"/>
              </a:ext>
            </a:extLst>
          </p:cNvPr>
          <p:cNvCxnSpPr>
            <a:cxnSpLocks/>
            <a:endCxn id="15"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D40ACC1-7D90-57DA-83E7-C50182A0008A}"/>
              </a:ext>
            </a:extLst>
          </p:cNvPr>
          <p:cNvCxnSpPr>
            <a:cxnSpLocks/>
            <a:endCxn id="15"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239F2E6-1B49-D24F-756E-13F27532B14E}"/>
              </a:ext>
            </a:extLst>
          </p:cNvPr>
          <p:cNvCxnSpPr>
            <a:cxnSpLocks/>
            <a:endCxn id="15"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98AFEE1-0346-A24F-373E-BF9667516C33}"/>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13" name="TextBox 12">
            <a:extLst>
              <a:ext uri="{FF2B5EF4-FFF2-40B4-BE49-F238E27FC236}">
                <a16:creationId xmlns:a16="http://schemas.microsoft.com/office/drawing/2014/main" id="{A5445312-FB0E-42B7-9CEF-567F513A915E}"/>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Tree>
    <p:extLst>
      <p:ext uri="{BB962C8B-B14F-4D97-AF65-F5344CB8AC3E}">
        <p14:creationId xmlns:p14="http://schemas.microsoft.com/office/powerpoint/2010/main" val="2074869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DCBB2-8CD0-4F53-FCD8-3CBB37B306C1}"/>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229007EB-4F24-1FEB-DD14-1CC132FB8506}"/>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8218BE2F-B49E-6A87-1C17-216FA404912F}"/>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99F04C97-1B33-8B80-C085-74EA430B69CC}"/>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CBE077EF-1D9A-20A0-2C64-75A98D439E31}"/>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701904FA-8265-ABFB-E1B1-9AC21C18EF3E}"/>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8B9CBB4-00E0-A7BC-7F23-583D6F3FCEC1}"/>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FDFB98ED-BA9E-3905-5364-E767F4975AEF}"/>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30809FD-AE7C-4939-BA9B-2C63EAFD90C7}"/>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A0AF0D4-7D2F-796A-16B1-DCF342F3C077}"/>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731D9C1C-D7E7-6890-B0C2-DE010C47542A}"/>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35342776-B360-93A3-3CB5-1B7348978B45}"/>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BE237305-8F65-F699-2096-F3139CCB06FC}"/>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B13B063-E61F-80EF-520C-D3CD97084B3C}"/>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591BC0C-456D-709A-C3F4-8BF1AFDA5E8A}"/>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0418411-20E2-0A50-9DCD-12959F39523C}"/>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FB7D944-2306-2D00-86F4-495956E567D2}"/>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BF44112-A3CF-C938-B0B2-9264FA170CEA}"/>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CD7AD04-12FA-CAE1-33DF-2FEA1A4C052F}"/>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2248B46-2775-7EC4-2CAC-CA88AD953252}"/>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265548C-D85B-AC0E-BEF0-F9794EAB0168}"/>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F3E71375-51B4-A292-F36D-CAA383EA51A8}"/>
              </a:ext>
            </a:extLst>
          </p:cNvPr>
          <p:cNvSpPr/>
          <p:nvPr/>
        </p:nvSpPr>
        <p:spPr>
          <a:xfrm>
            <a:off x="5016793" y="2796369"/>
            <a:ext cx="647700" cy="646331"/>
          </a:xfrm>
          <a:prstGeom prst="ellipse">
            <a:avLst/>
          </a:prstGeom>
          <a:solidFill>
            <a:srgbClr val="00B050"/>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83AE4CEC-96D5-36BB-F895-41DA63879637}"/>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103E1A92-9595-58B4-BBC1-B7C0A26AAA33}"/>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E06530DB-A140-BA91-790C-A5E7EA393DD8}"/>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66F7862-C638-09E9-F060-788245F591E3}"/>
              </a:ext>
            </a:extLst>
          </p:cNvPr>
          <p:cNvCxnSpPr>
            <a:cxnSpLocks/>
          </p:cNvCxnSpPr>
          <p:nvPr/>
        </p:nvCxnSpPr>
        <p:spPr>
          <a:xfrm>
            <a:off x="3824370" y="3091490"/>
            <a:ext cx="1163649" cy="186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D2451B3-237B-F1FE-BADA-BE4D952C76BE}"/>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2D972BC-D8BE-7ECC-556F-325770507B09}"/>
              </a:ext>
            </a:extLst>
          </p:cNvPr>
          <p:cNvCxnSpPr>
            <a:cxnSpLocks/>
            <a:stCxn id="22" idx="6"/>
            <a:endCxn id="46" idx="2"/>
          </p:cNvCxnSpPr>
          <p:nvPr/>
        </p:nvCxnSpPr>
        <p:spPr>
          <a:xfrm>
            <a:off x="3853144" y="2150038"/>
            <a:ext cx="1163649" cy="9694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742BDE3-F54D-F870-2767-C1D94DFC0D3F}"/>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5932C0C7-BFC7-BD75-1AED-D5C7EF0C3791}"/>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402B626-3BE7-4941-265C-0447043C4C4F}"/>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5512B6E7-52F3-ECB8-AA90-72087C2049FE}"/>
              </a:ext>
            </a:extLst>
          </p:cNvPr>
          <p:cNvCxnSpPr>
            <a:cxnSpLocks/>
            <a:endCxn id="46" idx="2"/>
          </p:cNvCxnSpPr>
          <p:nvPr/>
        </p:nvCxnSpPr>
        <p:spPr>
          <a:xfrm flipV="1">
            <a:off x="3813959" y="3119535"/>
            <a:ext cx="1202834" cy="97775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884DD809-7220-2D5E-F3C2-35CF50088846}"/>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7C49644D-CC6B-4F04-6744-421273065FB5}"/>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41C02CA7-02EE-77CA-1BB2-0A7EDB3C610D}"/>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7A8BD346-4C55-7AF8-FF14-9024E84CE99F}"/>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2504728A-C22D-1564-3835-176913266C1C}"/>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4A43D497-F76A-9AFA-4C61-CB68A2AFD27B}"/>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6E9CFA85-2F48-A001-6AFA-41DB1D4ACE48}"/>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85334C03-55DC-970F-9898-705D5516FE32}"/>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DE5FFA93-F03A-3A6D-2951-2BC225C7ED74}"/>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503857B-3E59-EE0B-8A6D-1311F40BEBAE}"/>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EFA9554C-8997-73CB-5EA0-557F0687A157}"/>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2D362084-D37C-58A5-FFEE-82E99C30E50B}"/>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BDC0782F-C951-CB5B-07CD-EE25583C0D00}"/>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9DD39DB3-4CA9-B8BA-8CB2-4658376B9EF9}"/>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2" name="Rectangle 11">
            <a:extLst>
              <a:ext uri="{FF2B5EF4-FFF2-40B4-BE49-F238E27FC236}">
                <a16:creationId xmlns:a16="http://schemas.microsoft.com/office/drawing/2014/main" id="{3EED72B9-6DD7-BB0E-0491-281DBA6B83FF}"/>
              </a:ext>
            </a:extLst>
          </p:cNvPr>
          <p:cNvSpPr/>
          <p:nvPr/>
        </p:nvSpPr>
        <p:spPr>
          <a:xfrm>
            <a:off x="5008497" y="1826872"/>
            <a:ext cx="650116" cy="2651585"/>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1CACB5EC-ECF5-6F05-BE8E-8A54BA4F372A}"/>
              </a:ext>
            </a:extLst>
          </p:cNvPr>
          <p:cNvSpPr txBox="1"/>
          <p:nvPr/>
        </p:nvSpPr>
        <p:spPr>
          <a:xfrm>
            <a:off x="4501991" y="4775549"/>
            <a:ext cx="1428750" cy="830997"/>
          </a:xfrm>
          <a:prstGeom prst="rect">
            <a:avLst/>
          </a:prstGeom>
          <a:noFill/>
        </p:spPr>
        <p:txBody>
          <a:bodyPr wrap="square">
            <a:spAutoFit/>
          </a:bodyPr>
          <a:lstStyle/>
          <a:p>
            <a:pPr algn="ctr">
              <a:buNone/>
            </a:pPr>
            <a:r>
              <a:rPr lang="en-GB" sz="2400" b="1" dirty="0"/>
              <a:t>Hidden layer 2</a:t>
            </a:r>
          </a:p>
        </p:txBody>
      </p:sp>
      <p:sp>
        <p:nvSpPr>
          <p:cNvPr id="15" name="Oval 14">
            <a:extLst>
              <a:ext uri="{FF2B5EF4-FFF2-40B4-BE49-F238E27FC236}">
                <a16:creationId xmlns:a16="http://schemas.microsoft.com/office/drawing/2014/main" id="{2E759B09-9787-4098-249B-3D2787BA0E90}"/>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6" name="Straight Arrow Connector 15">
            <a:extLst>
              <a:ext uri="{FF2B5EF4-FFF2-40B4-BE49-F238E27FC236}">
                <a16:creationId xmlns:a16="http://schemas.microsoft.com/office/drawing/2014/main" id="{BAA951A0-0712-95B7-C202-6921DDA8FC33}"/>
              </a:ext>
            </a:extLst>
          </p:cNvPr>
          <p:cNvCxnSpPr>
            <a:cxnSpLocks/>
            <a:endCxn id="15"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3EDA48E-78E9-568A-35AB-98475036DD2F}"/>
              </a:ext>
            </a:extLst>
          </p:cNvPr>
          <p:cNvCxnSpPr>
            <a:cxnSpLocks/>
            <a:endCxn id="15"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ECE007B-5F12-201A-4734-8F5DFCCDAAD9}"/>
              </a:ext>
            </a:extLst>
          </p:cNvPr>
          <p:cNvCxnSpPr>
            <a:cxnSpLocks/>
            <a:endCxn id="15"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B1E105B-F178-E9CC-4F4A-3BCC8B7765CC}"/>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13" name="TextBox 12">
            <a:extLst>
              <a:ext uri="{FF2B5EF4-FFF2-40B4-BE49-F238E27FC236}">
                <a16:creationId xmlns:a16="http://schemas.microsoft.com/office/drawing/2014/main" id="{30E80308-803B-499F-4F7B-75827FBE7810}"/>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Tree>
    <p:extLst>
      <p:ext uri="{BB962C8B-B14F-4D97-AF65-F5344CB8AC3E}">
        <p14:creationId xmlns:p14="http://schemas.microsoft.com/office/powerpoint/2010/main" val="3513097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04A06-2EAA-A427-470C-315130E64C3F}"/>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D417736E-8ACF-BB55-9534-FF78C606440F}"/>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0A8933D9-895F-FF10-E9DC-F0EF88381F45}"/>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C5AD21BA-055D-D463-7A30-29101AA45FBD}"/>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5F20C0DA-B4FD-3533-4E68-88666B49BA36}"/>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5373DE6B-6100-30E0-9F95-BB0495655D6B}"/>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B9F4C815-CF5E-BF31-9402-536BF8C3E562}"/>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0D86E069-1B55-7D24-6AEE-42F34BA42ED3}"/>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28FE2B0-A453-4508-35D3-84FAFF3FF844}"/>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A317357-D9A2-4CF6-DA65-CB960B845278}"/>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2461148E-36E5-D956-62BE-387D33926A5D}"/>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3D8343B8-BF63-CF49-46A8-F740991FD403}"/>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FDF65351-44EC-4917-2A9B-33D694044465}"/>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768A95F-072D-7197-D80C-98CAC96C976D}"/>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3D46E38-4574-4D97-2C97-B4A9E4FBC04E}"/>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771B98A-07A0-26E8-9533-BB220C6BC861}"/>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0E72DCD-9E96-2CEB-7871-50F34C07740A}"/>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04320A2-7119-F4C6-D2CD-1E690B9DAA04}"/>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098F2F0-036D-5C48-831D-25C13BAAEF24}"/>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99B5E9F-A142-6601-6FED-1DD2C2588EF5}"/>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6BCFDB1-62A6-A98C-2A98-68D98C1741D5}"/>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FB095E94-BC35-6CA4-5356-AB69A261804B}"/>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F78B8C90-6B11-3A4A-09AE-7E7240A35BC0}"/>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BE09BA3B-C181-6E7B-BD50-ACBCF835FB91}"/>
              </a:ext>
            </a:extLst>
          </p:cNvPr>
          <p:cNvSpPr/>
          <p:nvPr/>
        </p:nvSpPr>
        <p:spPr>
          <a:xfrm>
            <a:off x="4996111" y="3832126"/>
            <a:ext cx="647700" cy="646331"/>
          </a:xfrm>
          <a:prstGeom prst="ellipse">
            <a:avLst/>
          </a:prstGeom>
          <a:solidFill>
            <a:srgbClr val="00B050"/>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318078B4-B2D5-F5D5-3D3F-4683B829AC67}"/>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9D39D39A-A837-6DBF-3962-9743B5A4CA5C}"/>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E5F2339-31A7-E021-8FEA-0597E666EF99}"/>
              </a:ext>
            </a:extLst>
          </p:cNvPr>
          <p:cNvCxnSpPr>
            <a:cxnSpLocks/>
          </p:cNvCxnSpPr>
          <p:nvPr/>
        </p:nvCxnSpPr>
        <p:spPr>
          <a:xfrm>
            <a:off x="3816568" y="4111855"/>
            <a:ext cx="1163649" cy="186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F98DEC71-4DD6-E5A7-4948-8F53B7FAFB9A}"/>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F309CFFA-5DAF-CDC1-71FD-2D6FFF26694E}"/>
              </a:ext>
            </a:extLst>
          </p:cNvPr>
          <p:cNvCxnSpPr>
            <a:cxnSpLocks/>
            <a:stCxn id="22" idx="6"/>
            <a:endCxn id="48" idx="2"/>
          </p:cNvCxnSpPr>
          <p:nvPr/>
        </p:nvCxnSpPr>
        <p:spPr>
          <a:xfrm>
            <a:off x="3853144" y="2150038"/>
            <a:ext cx="1142967" cy="200525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602D7A19-564E-2487-B37D-88DC1ADDB826}"/>
              </a:ext>
            </a:extLst>
          </p:cNvPr>
          <p:cNvCxnSpPr>
            <a:cxnSpLocks/>
          </p:cNvCxnSpPr>
          <p:nvPr/>
        </p:nvCxnSpPr>
        <p:spPr>
          <a:xfrm>
            <a:off x="3824166" y="3119075"/>
            <a:ext cx="1163649" cy="9694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A702100-F6FD-91EF-A23C-A1F0A167461B}"/>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96CBA83-555B-9F28-0111-ED09A02E933B}"/>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5CF9FF6-7091-7D70-75D0-5D1F7A93C697}"/>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9DD710BE-9D96-82FD-A78A-C27CAF3272BA}"/>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780D2584-9CE1-3743-C70D-0C13E22D9D8C}"/>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77E91556-13B8-F241-0434-BE8A7684F886}"/>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82F44AF4-2CA0-45A8-CFA8-8D1BAA8A2424}"/>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C3C9BCB8-2D18-FB8C-A7D5-4C490B58BAE7}"/>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A0CC226B-850B-32D1-BECC-EC858406F8F8}"/>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6C4046C-90F8-C569-AA24-5DDE6F20FF33}"/>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2B3D0E2C-18E1-F9ED-8CFA-466F959ABB71}"/>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B4384D98-A3F3-37E2-6491-DF15C9603DC5}"/>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CDE86A12-7E88-1B0D-AFFB-C5E502A5C6FF}"/>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E96E236-9691-7A70-0253-D6436998A222}"/>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2F80465F-B6BD-27F2-8B49-B7D0AB96C334}"/>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41AF4942-488A-3312-DAF8-8482EF8CFC60}"/>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2" name="Rectangle 11">
            <a:extLst>
              <a:ext uri="{FF2B5EF4-FFF2-40B4-BE49-F238E27FC236}">
                <a16:creationId xmlns:a16="http://schemas.microsoft.com/office/drawing/2014/main" id="{3C5EFC42-00CA-240F-7A28-BC13B7C9B624}"/>
              </a:ext>
            </a:extLst>
          </p:cNvPr>
          <p:cNvSpPr/>
          <p:nvPr/>
        </p:nvSpPr>
        <p:spPr>
          <a:xfrm>
            <a:off x="5008497" y="1826872"/>
            <a:ext cx="650116" cy="2651585"/>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06DFF836-1C84-81A8-F0EE-4ECEC5CA456E}"/>
              </a:ext>
            </a:extLst>
          </p:cNvPr>
          <p:cNvSpPr txBox="1"/>
          <p:nvPr/>
        </p:nvSpPr>
        <p:spPr>
          <a:xfrm>
            <a:off x="4501991" y="4775549"/>
            <a:ext cx="1428750" cy="830997"/>
          </a:xfrm>
          <a:prstGeom prst="rect">
            <a:avLst/>
          </a:prstGeom>
          <a:noFill/>
        </p:spPr>
        <p:txBody>
          <a:bodyPr wrap="square">
            <a:spAutoFit/>
          </a:bodyPr>
          <a:lstStyle/>
          <a:p>
            <a:pPr algn="ctr">
              <a:buNone/>
            </a:pPr>
            <a:r>
              <a:rPr lang="en-GB" sz="2400" b="1" dirty="0"/>
              <a:t>Hidden layer 2</a:t>
            </a:r>
          </a:p>
        </p:txBody>
      </p:sp>
      <p:sp>
        <p:nvSpPr>
          <p:cNvPr id="15" name="Oval 14">
            <a:extLst>
              <a:ext uri="{FF2B5EF4-FFF2-40B4-BE49-F238E27FC236}">
                <a16:creationId xmlns:a16="http://schemas.microsoft.com/office/drawing/2014/main" id="{C69E7439-6616-987F-B4C9-6739C72009BF}"/>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6" name="Straight Arrow Connector 15">
            <a:extLst>
              <a:ext uri="{FF2B5EF4-FFF2-40B4-BE49-F238E27FC236}">
                <a16:creationId xmlns:a16="http://schemas.microsoft.com/office/drawing/2014/main" id="{4A564E80-0ABA-5536-04D8-CB3A797572FD}"/>
              </a:ext>
            </a:extLst>
          </p:cNvPr>
          <p:cNvCxnSpPr>
            <a:cxnSpLocks/>
            <a:endCxn id="15"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2734B5C-347E-E622-F8EF-A2A842BB7219}"/>
              </a:ext>
            </a:extLst>
          </p:cNvPr>
          <p:cNvCxnSpPr>
            <a:cxnSpLocks/>
            <a:endCxn id="15"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EC0D08B-7101-2309-033F-458B248946CF}"/>
              </a:ext>
            </a:extLst>
          </p:cNvPr>
          <p:cNvCxnSpPr>
            <a:cxnSpLocks/>
            <a:endCxn id="15"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588A8BF-49AA-838D-4D1F-6182449A1AFC}"/>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13" name="TextBox 12">
            <a:extLst>
              <a:ext uri="{FF2B5EF4-FFF2-40B4-BE49-F238E27FC236}">
                <a16:creationId xmlns:a16="http://schemas.microsoft.com/office/drawing/2014/main" id="{FE0098E5-B402-3491-6B7E-2E88C90ACC5C}"/>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Tree>
    <p:extLst>
      <p:ext uri="{BB962C8B-B14F-4D97-AF65-F5344CB8AC3E}">
        <p14:creationId xmlns:p14="http://schemas.microsoft.com/office/powerpoint/2010/main" val="141998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FE675-3D13-2FE3-29C6-987E02A192D2}"/>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E603B809-3BA7-F666-DD46-1295F27AE261}"/>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CCA25C60-02BA-362E-B5E2-4FE9FC048E93}"/>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640EB867-64A0-DEBB-592C-463BCCC46999}"/>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0CFA5705-ED0F-579F-9EC7-9879159196EB}"/>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593DE7DD-9ADD-2579-9E35-FEFE115BC70A}"/>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1321B2D5-53A6-72D7-57A0-F3E8F354179E}"/>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7487E644-9CAA-1CEC-0296-167DDB47B224}"/>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01B1188-7FA5-9564-B210-3B15D45FCECC}"/>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926CE30-7B27-3C74-EFE8-922EFC82FE80}"/>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FD142CB2-B685-1AB2-15A4-0FBA71A65934}"/>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8133AD15-891A-7E04-9DDE-5C19B6255FA5}"/>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1F56D472-8FDA-7F69-29DA-FF7E987B7ACE}"/>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3C4A55B-66D5-64D8-56C5-48824A088BF6}"/>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987AEA1-26F5-BB3B-28F3-52DF25699417}"/>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949E627-84A7-394F-5EE0-819BB51F1826}"/>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F9F5A81-74B1-89F3-435D-A44768215FA0}"/>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4B82FB5-03B4-9B1D-291F-9507E63A3C1F}"/>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E44D730-F645-0719-4A9D-D0587BCF0FA8}"/>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E8E630F-71BE-615D-B93B-F5F7CEEFC0E8}"/>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70757CD-B9F6-B21E-13F1-80BC2A28851A}"/>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79E43D8F-AAC4-9E71-FA61-1644FBC7919B}"/>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9A3D3592-509A-CAEE-4B76-7F4A232B5CF9}"/>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FCFFCD74-24E0-6ACE-2C64-136606C62ACA}"/>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2A9058B2-355B-A0FD-CEEC-17D216135815}"/>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8B89AAA1-DFBD-D238-CF23-7836F3953D7B}"/>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D6F330BE-016B-BB52-6B36-B4D9264BDAEE}"/>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04001161-84DE-B5CC-425B-02BF42947AF8}"/>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D79FBC2-1F6F-9758-4C30-E1B2030D1F4D}"/>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A26A637-9595-4960-0E28-9255468445FC}"/>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5254188F-C921-380A-F3BD-3626E24BEFDE}"/>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6D3729F4-03EE-2141-03D1-884816C7AF8D}"/>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910D85EC-1C7E-6AC8-8EFB-99BF80D91A38}"/>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2B906C4D-FEB4-4814-6E4E-B92746F3DE3C}"/>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65D4968A-C133-DC5C-2066-8CAA361B7F03}"/>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F44128EB-D918-03F8-97E1-FCE4A9353E09}"/>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3BC1222F-EE74-2B89-BF3F-5C1C9758EF44}"/>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37964F82-0BCC-3F6F-FEFD-9BFB742565D7}"/>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8C1C0EE3-F4A9-3322-A1CF-AA2A1C733C7A}"/>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0EED86D-FE0A-46E2-A74C-EE2C40D507F4}"/>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E6FDD64F-FAFA-7D9E-8A92-4DC15CF1E827}"/>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C12025FA-F11E-CF09-0727-DA6185C62E22}"/>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7501D564-2F2F-5201-D92C-E377CE643588}"/>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338A1095-EE19-8DFA-9D22-1AF6D4D3DCD9}"/>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E6395C9D-E3E1-D641-D097-7A12A7DD1D76}"/>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8C139A53-0103-30FC-2EA2-80D028B6500A}"/>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2" name="Rectangle 11">
            <a:extLst>
              <a:ext uri="{FF2B5EF4-FFF2-40B4-BE49-F238E27FC236}">
                <a16:creationId xmlns:a16="http://schemas.microsoft.com/office/drawing/2014/main" id="{259273F7-71E6-4F31-F2AE-643C12355907}"/>
              </a:ext>
            </a:extLst>
          </p:cNvPr>
          <p:cNvSpPr/>
          <p:nvPr/>
        </p:nvSpPr>
        <p:spPr>
          <a:xfrm>
            <a:off x="6862978" y="1826872"/>
            <a:ext cx="655966" cy="2670282"/>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C01C318B-BE1A-4D3E-D6B2-693F7FB6B0C0}"/>
              </a:ext>
            </a:extLst>
          </p:cNvPr>
          <p:cNvSpPr txBox="1"/>
          <p:nvPr/>
        </p:nvSpPr>
        <p:spPr>
          <a:xfrm>
            <a:off x="6336982" y="4796280"/>
            <a:ext cx="1428750" cy="830997"/>
          </a:xfrm>
          <a:prstGeom prst="rect">
            <a:avLst/>
          </a:prstGeom>
          <a:noFill/>
        </p:spPr>
        <p:txBody>
          <a:bodyPr wrap="square">
            <a:spAutoFit/>
          </a:bodyPr>
          <a:lstStyle/>
          <a:p>
            <a:pPr algn="ctr">
              <a:buNone/>
            </a:pPr>
            <a:r>
              <a:rPr lang="en-GB" sz="2400" b="1" dirty="0"/>
              <a:t>Hidden layer 3</a:t>
            </a:r>
          </a:p>
        </p:txBody>
      </p:sp>
      <p:sp>
        <p:nvSpPr>
          <p:cNvPr id="16" name="Oval 15">
            <a:extLst>
              <a:ext uri="{FF2B5EF4-FFF2-40B4-BE49-F238E27FC236}">
                <a16:creationId xmlns:a16="http://schemas.microsoft.com/office/drawing/2014/main" id="{3C8BC3AF-5EC2-E0F4-D01E-9DE9AA949DB9}"/>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7" name="Straight Arrow Connector 16">
            <a:extLst>
              <a:ext uri="{FF2B5EF4-FFF2-40B4-BE49-F238E27FC236}">
                <a16:creationId xmlns:a16="http://schemas.microsoft.com/office/drawing/2014/main" id="{ACB21007-14FF-188B-15F1-469565C984EE}"/>
              </a:ext>
            </a:extLst>
          </p:cNvPr>
          <p:cNvCxnSpPr>
            <a:cxnSpLocks/>
            <a:endCxn id="16"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7811F4C-C170-BB5F-F9AA-DE411DA5E419}"/>
              </a:ext>
            </a:extLst>
          </p:cNvPr>
          <p:cNvCxnSpPr>
            <a:cxnSpLocks/>
            <a:endCxn id="16"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E0D07EA-616B-A5DC-3AC0-43BB70BDE043}"/>
              </a:ext>
            </a:extLst>
          </p:cNvPr>
          <p:cNvCxnSpPr>
            <a:cxnSpLocks/>
            <a:endCxn id="16"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7352B71-43D7-DE69-96F6-27746D8FD37B}"/>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13" name="TextBox 12">
            <a:extLst>
              <a:ext uri="{FF2B5EF4-FFF2-40B4-BE49-F238E27FC236}">
                <a16:creationId xmlns:a16="http://schemas.microsoft.com/office/drawing/2014/main" id="{FD586D2A-55F2-D4EA-3CE9-DD93DCA896AA}"/>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Tree>
    <p:extLst>
      <p:ext uri="{BB962C8B-B14F-4D97-AF65-F5344CB8AC3E}">
        <p14:creationId xmlns:p14="http://schemas.microsoft.com/office/powerpoint/2010/main" val="2354840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0601B-A56A-C33A-06AB-4F715A1D08D8}"/>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3705F072-4212-2E11-CA5B-7F57E3F4365E}"/>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F5EA700C-8C7B-F643-074B-2229F274EB80}"/>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E0FDF4A0-80DC-EC29-F439-2E2C3B3D0587}"/>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FEFA7D27-1DBD-A1ED-97EE-B86FCA932907}"/>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F23AB9CD-937D-AE25-2167-5068CDB55579}"/>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78A3932D-F89F-D586-BD78-626AE635E494}"/>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21E742F5-2B66-CF61-3220-97DF97C08322}"/>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219970B-36B9-FF88-93B3-9A6502341212}"/>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63BFEB8-9FF2-1A98-68C7-A7180D5605D3}"/>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AA0DAA5A-D005-5179-DF29-6EDC5C9EC18F}"/>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0188208E-6336-9D87-74E9-2C0726DA8AC0}"/>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85BF89DB-6203-A3A8-37C9-78B78A446D21}"/>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3B40F46-A56D-4445-C1A1-5ECC9A882F9C}"/>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57216A28-7A53-1C12-7E74-90F0C0551896}"/>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FD801D5-DF77-6334-4079-F0B7DA7F710E}"/>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C5A4B94-2DC8-5C1A-A1AE-043775953873}"/>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FDCE97E-9ACA-CAE5-2136-62503DE584D2}"/>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91ECD21-B057-CD24-DA83-DC30A10156B4}"/>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D3C16C7-DCD2-63E6-6778-C46312F5D13B}"/>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5814AC0F-C76E-5B44-A5DA-E6CD76E3CC0E}"/>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53F064FC-3448-3D41-2D5A-D2B3DC31F256}"/>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20AD748A-AC67-9244-6294-08F991D16991}"/>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102A943A-6FF4-691A-EA6E-45FAA78907A3}"/>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264D323E-D607-35BE-74E2-783884654FAA}"/>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45EF4095-34B0-33B9-4EC5-E9693B7BE1E2}"/>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197FE9F-5138-DB51-EA0F-E499B565697A}"/>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44DE85A6-6E12-766A-67FC-E0E7AE69231D}"/>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1B3AD29-F3C6-A46A-C2C7-65067CC47675}"/>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A89C392-26B0-EBEF-9241-D1BDE9497024}"/>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4F58AF9-B7C0-EE9B-1B8B-780EE7174606}"/>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0404DFFD-7CBF-6F10-53DC-5D006E723355}"/>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DD1767D-DA58-40B3-C0B7-21ADDD94F3D8}"/>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F49B94EA-8618-950B-30B7-07D2C1206758}"/>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21D198B2-C31D-8C96-1F15-7F2CAE98E02A}"/>
              </a:ext>
            </a:extLst>
          </p:cNvPr>
          <p:cNvSpPr/>
          <p:nvPr/>
        </p:nvSpPr>
        <p:spPr>
          <a:xfrm>
            <a:off x="6867766" y="1864266"/>
            <a:ext cx="647700" cy="646331"/>
          </a:xfrm>
          <a:prstGeom prst="ellipse">
            <a:avLst/>
          </a:prstGeom>
          <a:solidFill>
            <a:srgbClr val="00B050"/>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8B75969C-41D2-EBEA-F69A-B69F6433C059}"/>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C651CB9E-D431-7CCF-23A6-A4CAD27F5F55}"/>
              </a:ext>
            </a:extLst>
          </p:cNvPr>
          <p:cNvCxnSpPr>
            <a:cxnSpLocks/>
            <a:endCxn id="75" idx="2"/>
          </p:cNvCxnSpPr>
          <p:nvPr/>
        </p:nvCxnSpPr>
        <p:spPr>
          <a:xfrm>
            <a:off x="5704117" y="2168735"/>
            <a:ext cx="1163649" cy="186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D6603C10-CEF0-AA52-6D5C-0AADB81A703E}"/>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61622C8D-4A39-8DC7-38B2-3855EC4F30B1}"/>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E27CA4D4-6BC7-450B-7E35-69A82B166F74}"/>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0BED9850-BD27-DF6F-E2D1-3181B741C5D4}"/>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4369DB3C-AB1F-7366-7AED-430E17CA91C1}"/>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C087A13B-771A-4175-B50F-2CFE56212B3F}"/>
              </a:ext>
            </a:extLst>
          </p:cNvPr>
          <p:cNvCxnSpPr>
            <a:cxnSpLocks/>
            <a:endCxn id="75" idx="2"/>
          </p:cNvCxnSpPr>
          <p:nvPr/>
        </p:nvCxnSpPr>
        <p:spPr>
          <a:xfrm flipV="1">
            <a:off x="5659051" y="2187432"/>
            <a:ext cx="1208715" cy="191811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DF162D41-AC40-6018-8DBF-4A007D958B61}"/>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B98A0EA1-4E79-2CBA-D70E-4114A13C07C7}"/>
              </a:ext>
            </a:extLst>
          </p:cNvPr>
          <p:cNvCxnSpPr>
            <a:cxnSpLocks/>
          </p:cNvCxnSpPr>
          <p:nvPr/>
        </p:nvCxnSpPr>
        <p:spPr>
          <a:xfrm flipV="1">
            <a:off x="5661230" y="2142871"/>
            <a:ext cx="1202834" cy="97775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E9D05294-31ED-F318-3E5E-D0A067261220}"/>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2" name="Rectangle 11">
            <a:extLst>
              <a:ext uri="{FF2B5EF4-FFF2-40B4-BE49-F238E27FC236}">
                <a16:creationId xmlns:a16="http://schemas.microsoft.com/office/drawing/2014/main" id="{9DA61D93-F3BE-40B3-9ADD-272BEA6E63CC}"/>
              </a:ext>
            </a:extLst>
          </p:cNvPr>
          <p:cNvSpPr/>
          <p:nvPr/>
        </p:nvSpPr>
        <p:spPr>
          <a:xfrm>
            <a:off x="6862978" y="1826872"/>
            <a:ext cx="655966" cy="2670282"/>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CA81A0FC-F88A-3B14-315D-66B46273AFDF}"/>
              </a:ext>
            </a:extLst>
          </p:cNvPr>
          <p:cNvSpPr txBox="1"/>
          <p:nvPr/>
        </p:nvSpPr>
        <p:spPr>
          <a:xfrm>
            <a:off x="6336982" y="4796280"/>
            <a:ext cx="1428750" cy="830997"/>
          </a:xfrm>
          <a:prstGeom prst="rect">
            <a:avLst/>
          </a:prstGeom>
          <a:noFill/>
        </p:spPr>
        <p:txBody>
          <a:bodyPr wrap="square">
            <a:spAutoFit/>
          </a:bodyPr>
          <a:lstStyle/>
          <a:p>
            <a:pPr algn="ctr">
              <a:buNone/>
            </a:pPr>
            <a:r>
              <a:rPr lang="en-GB" sz="2400" b="1" dirty="0"/>
              <a:t>Hidden layer 3</a:t>
            </a:r>
          </a:p>
        </p:txBody>
      </p:sp>
      <p:sp>
        <p:nvSpPr>
          <p:cNvPr id="16" name="Oval 15">
            <a:extLst>
              <a:ext uri="{FF2B5EF4-FFF2-40B4-BE49-F238E27FC236}">
                <a16:creationId xmlns:a16="http://schemas.microsoft.com/office/drawing/2014/main" id="{B4D788A0-DE62-C42A-9DA3-24F3BFBCC18D}"/>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7" name="Straight Arrow Connector 16">
            <a:extLst>
              <a:ext uri="{FF2B5EF4-FFF2-40B4-BE49-F238E27FC236}">
                <a16:creationId xmlns:a16="http://schemas.microsoft.com/office/drawing/2014/main" id="{EFC3A742-A645-EDB1-A252-5B2DAA7BCAAF}"/>
              </a:ext>
            </a:extLst>
          </p:cNvPr>
          <p:cNvCxnSpPr>
            <a:cxnSpLocks/>
            <a:endCxn id="16"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21CEC64-FBB9-93AE-3532-5ED9C7813DA3}"/>
              </a:ext>
            </a:extLst>
          </p:cNvPr>
          <p:cNvCxnSpPr>
            <a:cxnSpLocks/>
            <a:endCxn id="16"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FB268B4-F968-7BBC-E72C-0B22284E6399}"/>
              </a:ext>
            </a:extLst>
          </p:cNvPr>
          <p:cNvCxnSpPr>
            <a:cxnSpLocks/>
            <a:endCxn id="16"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5CC5C7D-70F1-12B1-2B0D-2746ADF76A66}"/>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13" name="TextBox 12">
            <a:extLst>
              <a:ext uri="{FF2B5EF4-FFF2-40B4-BE49-F238E27FC236}">
                <a16:creationId xmlns:a16="http://schemas.microsoft.com/office/drawing/2014/main" id="{B6BD0AC0-74C3-C4F8-2B39-997E414C4790}"/>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Tree>
    <p:extLst>
      <p:ext uri="{BB962C8B-B14F-4D97-AF65-F5344CB8AC3E}">
        <p14:creationId xmlns:p14="http://schemas.microsoft.com/office/powerpoint/2010/main" val="2523448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58DE2-CEC0-8CE4-B717-DD3EF5567342}"/>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EA166ADE-4CBC-F120-AF5A-3EABF47B18E2}"/>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3CE98065-38B7-6C37-74D9-D426EAB43E98}"/>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D3F8E61C-E2FF-C275-F223-660105F5FDEA}"/>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FAA10F75-EC07-B04F-5FFD-BC12BE22F9C4}"/>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79801A5A-2983-DFAC-8FC3-85B3AF86FBAB}"/>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E0734BB2-8F87-AE52-AC7A-D409344CD0B0}"/>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FC65A1EF-5DFA-BD4E-CB08-AB04FAEB7126}"/>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34D6924-38FF-F27E-3CA1-00EA8FB8795F}"/>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9F77AD5-09D0-7A09-B4F3-A0F296F98BC0}"/>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A3199D53-0BDD-9682-CD9B-0C5A8A7629B5}"/>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BE488AFB-9C67-A130-9460-830B75DA9887}"/>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3ABAFC11-9EE3-1922-B034-21B7EC94B017}"/>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FC820F6-FE24-0CF4-6892-753887E63404}"/>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AEDB303-50C3-30FD-15BC-0DC21D0FB8FE}"/>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410113E-EB15-4D9A-1685-4B239C569859}"/>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A87E355-5457-C3AF-487F-763FB5ACDF78}"/>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8A371B3-1CC2-EDDC-2C69-52AE59B0F97F}"/>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5AD32E4-A610-C219-95D0-86B4D0D58B2F}"/>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2F7B1A3-CF3E-47C3-3D14-576904D5A0D5}"/>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2976A02-8DB7-A512-9EDF-F299BFC7359D}"/>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50226926-E0CA-895F-D3CD-8F1FE254AECD}"/>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CC13E874-173F-36F0-763A-E2BDA86BFEA8}"/>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FE73E49E-FF64-4268-4055-E5B0ADDFE4A1}"/>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39BE6415-9ABC-BDE2-AE9D-F53D42F37B77}"/>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0915E9A-F786-6644-6491-F4E99B778B55}"/>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23B3C37-8668-C83F-97CE-F0BB522ECCD7}"/>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0E2045F-C88D-DF91-897B-6CEB6AD430B1}"/>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380CF1E-FF42-DF97-32EB-85EDF6134C49}"/>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CBC1421-D637-524A-05BC-02288F8EF4E6}"/>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550CB3E-0F8F-AA57-70EC-1AC7AE8503B6}"/>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D688713E-C825-63A2-E840-5AB9F7DAE1AA}"/>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8C65F28-B384-5777-31F0-0710F08AC5AB}"/>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C7C85712-B814-3FC2-14BB-1EB875378423}"/>
              </a:ext>
            </a:extLst>
          </p:cNvPr>
          <p:cNvSpPr/>
          <p:nvPr/>
        </p:nvSpPr>
        <p:spPr>
          <a:xfrm>
            <a:off x="6867766" y="2815066"/>
            <a:ext cx="647700" cy="646331"/>
          </a:xfrm>
          <a:prstGeom prst="ellipse">
            <a:avLst/>
          </a:prstGeom>
          <a:solidFill>
            <a:srgbClr val="00B050"/>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11A14645-BC72-39C5-D48D-7493A1BF98F8}"/>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86F57EED-BB25-392D-A921-4C2E3092A46B}"/>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8BDA0273-8F5D-E096-B954-B1A8268F6DE9}"/>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E931263F-11B3-E686-8594-381E24E4A124}"/>
              </a:ext>
            </a:extLst>
          </p:cNvPr>
          <p:cNvCxnSpPr>
            <a:cxnSpLocks/>
          </p:cNvCxnSpPr>
          <p:nvPr/>
        </p:nvCxnSpPr>
        <p:spPr>
          <a:xfrm>
            <a:off x="5675343" y="3110187"/>
            <a:ext cx="1163649" cy="186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A5216E65-1716-F81F-11F3-B1B1C6E370B9}"/>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80BCC842-F6D9-31B2-3032-0D1F756B56AC}"/>
              </a:ext>
            </a:extLst>
          </p:cNvPr>
          <p:cNvCxnSpPr>
            <a:cxnSpLocks/>
            <a:endCxn id="74" idx="2"/>
          </p:cNvCxnSpPr>
          <p:nvPr/>
        </p:nvCxnSpPr>
        <p:spPr>
          <a:xfrm>
            <a:off x="5704117" y="2168735"/>
            <a:ext cx="1163649" cy="9694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B10DA3A7-9108-5014-E265-4092E6E36C6D}"/>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93700534-8B5A-018E-7798-468EEE81E946}"/>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0E608EA6-C787-3044-4AAA-62FC0A849A45}"/>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485E93AD-FBC0-0D43-FD46-8085566DD201}"/>
              </a:ext>
            </a:extLst>
          </p:cNvPr>
          <p:cNvCxnSpPr>
            <a:cxnSpLocks/>
            <a:endCxn id="74" idx="2"/>
          </p:cNvCxnSpPr>
          <p:nvPr/>
        </p:nvCxnSpPr>
        <p:spPr>
          <a:xfrm flipV="1">
            <a:off x="5664932" y="3138232"/>
            <a:ext cx="1202834" cy="97775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C30D2176-5B4D-197C-4E52-2CC120EB9156}"/>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AF6FA405-7D06-A12E-A337-71FF0E3958BA}"/>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2" name="Rectangle 11">
            <a:extLst>
              <a:ext uri="{FF2B5EF4-FFF2-40B4-BE49-F238E27FC236}">
                <a16:creationId xmlns:a16="http://schemas.microsoft.com/office/drawing/2014/main" id="{7EAF6C88-2D5D-CE04-AA1C-604167E74FC7}"/>
              </a:ext>
            </a:extLst>
          </p:cNvPr>
          <p:cNvSpPr/>
          <p:nvPr/>
        </p:nvSpPr>
        <p:spPr>
          <a:xfrm>
            <a:off x="6862978" y="1826872"/>
            <a:ext cx="655966" cy="2670282"/>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B0F4EBA4-B79B-DAFC-C4C4-257E10D03060}"/>
              </a:ext>
            </a:extLst>
          </p:cNvPr>
          <p:cNvSpPr txBox="1"/>
          <p:nvPr/>
        </p:nvSpPr>
        <p:spPr>
          <a:xfrm>
            <a:off x="6336982" y="4796280"/>
            <a:ext cx="1428750" cy="830997"/>
          </a:xfrm>
          <a:prstGeom prst="rect">
            <a:avLst/>
          </a:prstGeom>
          <a:noFill/>
        </p:spPr>
        <p:txBody>
          <a:bodyPr wrap="square">
            <a:spAutoFit/>
          </a:bodyPr>
          <a:lstStyle/>
          <a:p>
            <a:pPr algn="ctr">
              <a:buNone/>
            </a:pPr>
            <a:r>
              <a:rPr lang="en-GB" sz="2400" b="1" dirty="0"/>
              <a:t>Hidden layer 3</a:t>
            </a:r>
          </a:p>
        </p:txBody>
      </p:sp>
      <p:sp>
        <p:nvSpPr>
          <p:cNvPr id="16" name="Oval 15">
            <a:extLst>
              <a:ext uri="{FF2B5EF4-FFF2-40B4-BE49-F238E27FC236}">
                <a16:creationId xmlns:a16="http://schemas.microsoft.com/office/drawing/2014/main" id="{FF2B2715-014B-3FDF-D10B-161200107D94}"/>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7" name="Straight Arrow Connector 16">
            <a:extLst>
              <a:ext uri="{FF2B5EF4-FFF2-40B4-BE49-F238E27FC236}">
                <a16:creationId xmlns:a16="http://schemas.microsoft.com/office/drawing/2014/main" id="{A568A972-181E-0E5F-36BC-30EE8BF9D8BE}"/>
              </a:ext>
            </a:extLst>
          </p:cNvPr>
          <p:cNvCxnSpPr>
            <a:cxnSpLocks/>
            <a:endCxn id="16"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3D77E1F-E1E3-28E7-4A9B-655078EFBA89}"/>
              </a:ext>
            </a:extLst>
          </p:cNvPr>
          <p:cNvCxnSpPr>
            <a:cxnSpLocks/>
            <a:endCxn id="16"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20126A3-A319-A2BE-EA42-4AC407107165}"/>
              </a:ext>
            </a:extLst>
          </p:cNvPr>
          <p:cNvCxnSpPr>
            <a:cxnSpLocks/>
            <a:endCxn id="16"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5758776-A0AD-7F9F-456D-4905DD14EF34}"/>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13" name="TextBox 12">
            <a:extLst>
              <a:ext uri="{FF2B5EF4-FFF2-40B4-BE49-F238E27FC236}">
                <a16:creationId xmlns:a16="http://schemas.microsoft.com/office/drawing/2014/main" id="{B9A7E6CB-8A0D-EF19-DCAC-6AC7F5B59755}"/>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Tree>
    <p:extLst>
      <p:ext uri="{BB962C8B-B14F-4D97-AF65-F5344CB8AC3E}">
        <p14:creationId xmlns:p14="http://schemas.microsoft.com/office/powerpoint/2010/main" val="2239192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5183-DC64-EE2D-64B0-62A439BDD855}"/>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B6B9CF39-2AA7-EE3A-9E4C-3C544C470837}"/>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B0AE833C-68C2-5B5F-68AD-F9E4B92F897A}"/>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62241D32-FB43-A6C7-8CD6-F142E9688D64}"/>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C37C1646-B595-C17F-3140-75082A5AF4AF}"/>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F46B60CE-7520-18D9-5CAD-3C124F92781F}"/>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88FA8A2-C13D-55BB-6970-74F936F437B1}"/>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4BAC7C59-9152-B07D-B270-F25BD071F764}"/>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52B024A-4D37-83A6-0F16-8819349B2A87}"/>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515608E-D57C-E75E-3C8E-8F0E187513DA}"/>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2774EC30-B981-EF54-0126-11B39B96D693}"/>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BAFFF13F-57AB-68DA-1AD4-202C91B1A04A}"/>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414DF723-F205-1675-4FA6-5C598F91535B}"/>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6071CA9-DE4E-2792-E028-CD938A8ED782}"/>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3EEC1BB-C6D6-1695-FE8B-3ADBF4D5FD36}"/>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6765F98-B65E-5D00-2A62-BAC8A9EEC350}"/>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31E5C48-894F-7139-1537-C0B1100464F5}"/>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F9B2FCA-5F9D-BE3F-8742-FA5DBF26F6EF}"/>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19CA108-CB6E-E3C4-3065-D0FCEDC64523}"/>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C3538350-9BC8-BC88-6185-5D5B3850A533}"/>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77BE5C5-5EB3-2A71-3FB2-84548F7353AB}"/>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A194325E-D411-60AD-6AA3-6369941900F7}"/>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23895662-E81B-68E7-8CEC-6F983B86D865}"/>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8C003CE6-DE96-E2B6-F638-DDCE0E327E1B}"/>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D84E4CA9-A731-F694-BDF8-B6152100D908}"/>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830350E9-24A7-61FF-3FEF-9A7690689754}"/>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0C774B5-BA47-0ACB-871C-EC25C269EDC1}"/>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1B4A6256-8B33-4B17-2B45-AD8B665C6DED}"/>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C196631-071B-C88C-591B-A854F9D56B94}"/>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7C677FC6-386E-6302-D4CB-C363CC59E56C}"/>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DAC5631D-DC8C-0CC5-CE0C-950469DD6EAE}"/>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8ACE109F-9267-E09E-98B7-2822C134E8D4}"/>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19D66CF-3822-B161-10F3-66D3B2312C6C}"/>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392C46E7-F22C-58DC-4AF4-3F11695D8A7B}"/>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A074B375-F9FC-0318-339A-5289DA058992}"/>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441D8C42-A3FF-ACA7-22B7-78A4FC99D10B}"/>
              </a:ext>
            </a:extLst>
          </p:cNvPr>
          <p:cNvSpPr/>
          <p:nvPr/>
        </p:nvSpPr>
        <p:spPr>
          <a:xfrm>
            <a:off x="6847084" y="3850823"/>
            <a:ext cx="647700" cy="646331"/>
          </a:xfrm>
          <a:prstGeom prst="ellipse">
            <a:avLst/>
          </a:prstGeom>
          <a:solidFill>
            <a:srgbClr val="00B050"/>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262FFDD5-B74E-37AB-5458-6C1972B666FE}"/>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B0E2EFC2-557F-FC77-704B-426E5DCE2B21}"/>
              </a:ext>
            </a:extLst>
          </p:cNvPr>
          <p:cNvCxnSpPr>
            <a:cxnSpLocks/>
          </p:cNvCxnSpPr>
          <p:nvPr/>
        </p:nvCxnSpPr>
        <p:spPr>
          <a:xfrm>
            <a:off x="5675343" y="3110187"/>
            <a:ext cx="1163649" cy="18697"/>
          </a:xfrm>
          <a:prstGeom prst="straightConnector1">
            <a:avLst/>
          </a:prstGeom>
          <a:ln w="1905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385CE2A6-BF65-B069-2E32-E4B5E0F28E78}"/>
              </a:ext>
            </a:extLst>
          </p:cNvPr>
          <p:cNvCxnSpPr>
            <a:cxnSpLocks/>
          </p:cNvCxnSpPr>
          <p:nvPr/>
        </p:nvCxnSpPr>
        <p:spPr>
          <a:xfrm>
            <a:off x="5667541" y="4130552"/>
            <a:ext cx="1163649" cy="186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218DC99E-EC43-5923-D3F9-3A9B2C735A5F}"/>
              </a:ext>
            </a:extLst>
          </p:cNvPr>
          <p:cNvCxnSpPr>
            <a:cxnSpLocks/>
            <a:endCxn id="74" idx="2"/>
          </p:cNvCxnSpPr>
          <p:nvPr/>
        </p:nvCxnSpPr>
        <p:spPr>
          <a:xfrm>
            <a:off x="5704117" y="2168735"/>
            <a:ext cx="1163649" cy="969497"/>
          </a:xfrm>
          <a:prstGeom prst="straightConnector1">
            <a:avLst/>
          </a:prstGeom>
          <a:ln w="1905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0C14EE91-A50B-3156-997B-79801F03EA6E}"/>
              </a:ext>
            </a:extLst>
          </p:cNvPr>
          <p:cNvCxnSpPr>
            <a:cxnSpLocks/>
            <a:endCxn id="76" idx="2"/>
          </p:cNvCxnSpPr>
          <p:nvPr/>
        </p:nvCxnSpPr>
        <p:spPr>
          <a:xfrm>
            <a:off x="5704117" y="2168735"/>
            <a:ext cx="1142967" cy="200525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50883FFB-C866-83AA-EE08-3B1429A7B473}"/>
              </a:ext>
            </a:extLst>
          </p:cNvPr>
          <p:cNvCxnSpPr>
            <a:cxnSpLocks/>
          </p:cNvCxnSpPr>
          <p:nvPr/>
        </p:nvCxnSpPr>
        <p:spPr>
          <a:xfrm>
            <a:off x="5675139" y="3137772"/>
            <a:ext cx="1163649" cy="96949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FDB8218D-2206-43C3-142F-5F02577A3AEE}"/>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4CF259A-E42D-DE05-6D3E-18A10359CCC8}"/>
              </a:ext>
            </a:extLst>
          </p:cNvPr>
          <p:cNvCxnSpPr>
            <a:cxnSpLocks/>
            <a:endCxn id="74" idx="2"/>
          </p:cNvCxnSpPr>
          <p:nvPr/>
        </p:nvCxnSpPr>
        <p:spPr>
          <a:xfrm flipV="1">
            <a:off x="5664932" y="3138232"/>
            <a:ext cx="1202834" cy="977755"/>
          </a:xfrm>
          <a:prstGeom prst="straightConnector1">
            <a:avLst/>
          </a:prstGeom>
          <a:ln w="1905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D453B84E-07BB-FA04-EF5B-5A3427645125}"/>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E5ECEE15-96ED-9EAE-54D3-4525BFFADC65}"/>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2" name="Rectangle 11">
            <a:extLst>
              <a:ext uri="{FF2B5EF4-FFF2-40B4-BE49-F238E27FC236}">
                <a16:creationId xmlns:a16="http://schemas.microsoft.com/office/drawing/2014/main" id="{F24F5476-4F2E-A40D-E4FA-D16BA2AADE71}"/>
              </a:ext>
            </a:extLst>
          </p:cNvPr>
          <p:cNvSpPr/>
          <p:nvPr/>
        </p:nvSpPr>
        <p:spPr>
          <a:xfrm>
            <a:off x="6862978" y="1826872"/>
            <a:ext cx="655966" cy="2670282"/>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9742EE70-D033-EAB5-C46F-A0A113028CE7}"/>
              </a:ext>
            </a:extLst>
          </p:cNvPr>
          <p:cNvSpPr txBox="1"/>
          <p:nvPr/>
        </p:nvSpPr>
        <p:spPr>
          <a:xfrm>
            <a:off x="6336982" y="4796280"/>
            <a:ext cx="1428750" cy="830997"/>
          </a:xfrm>
          <a:prstGeom prst="rect">
            <a:avLst/>
          </a:prstGeom>
          <a:noFill/>
        </p:spPr>
        <p:txBody>
          <a:bodyPr wrap="square">
            <a:spAutoFit/>
          </a:bodyPr>
          <a:lstStyle/>
          <a:p>
            <a:pPr algn="ctr">
              <a:buNone/>
            </a:pPr>
            <a:r>
              <a:rPr lang="en-GB" sz="2400" b="1" dirty="0"/>
              <a:t>Hidden layer 3</a:t>
            </a:r>
          </a:p>
        </p:txBody>
      </p:sp>
      <p:sp>
        <p:nvSpPr>
          <p:cNvPr id="16" name="Oval 15">
            <a:extLst>
              <a:ext uri="{FF2B5EF4-FFF2-40B4-BE49-F238E27FC236}">
                <a16:creationId xmlns:a16="http://schemas.microsoft.com/office/drawing/2014/main" id="{8D3EE504-CE7F-7E3D-8FCB-2C62B3927474}"/>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7" name="Straight Arrow Connector 16">
            <a:extLst>
              <a:ext uri="{FF2B5EF4-FFF2-40B4-BE49-F238E27FC236}">
                <a16:creationId xmlns:a16="http://schemas.microsoft.com/office/drawing/2014/main" id="{6713BC8C-4DF7-223C-A276-03BFB25F029D}"/>
              </a:ext>
            </a:extLst>
          </p:cNvPr>
          <p:cNvCxnSpPr>
            <a:cxnSpLocks/>
            <a:endCxn id="16"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6184185-1B6E-E994-0F07-C6A47FF69CFB}"/>
              </a:ext>
            </a:extLst>
          </p:cNvPr>
          <p:cNvCxnSpPr>
            <a:cxnSpLocks/>
            <a:endCxn id="16"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0DE1C6F-AD2B-8606-4B33-1905A1B5EFB5}"/>
              </a:ext>
            </a:extLst>
          </p:cNvPr>
          <p:cNvCxnSpPr>
            <a:cxnSpLocks/>
            <a:endCxn id="16"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FFFA643-0A0C-512B-9913-521C5DFE7786}"/>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13" name="TextBox 12">
            <a:extLst>
              <a:ext uri="{FF2B5EF4-FFF2-40B4-BE49-F238E27FC236}">
                <a16:creationId xmlns:a16="http://schemas.microsoft.com/office/drawing/2014/main" id="{90077089-A8FF-DA75-4C9A-2526C0CDB534}"/>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Tree>
    <p:extLst>
      <p:ext uri="{BB962C8B-B14F-4D97-AF65-F5344CB8AC3E}">
        <p14:creationId xmlns:p14="http://schemas.microsoft.com/office/powerpoint/2010/main" val="4148331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689B5-9D5A-B2B8-D465-D3DE9FDA2933}"/>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BF7F971B-3E60-B0E5-F8AA-11E0E223132E}"/>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F2102201-0D47-0C90-ABBE-C0EA703D580C}"/>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3C9BD2A9-7140-97BB-D294-0A974D0287C7}"/>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926BA665-C9BC-BED5-53B4-26FFB347B9AD}"/>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3CE33729-E83A-FE34-8BB3-03BD438F6F9E}"/>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4C11FFB0-56DE-8CE0-7C13-34628BE942DA}"/>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B1452302-7FCE-24AD-C5BA-9552B5BE0014}"/>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5DCFC4D-5384-21BF-FFFD-ED237F416AFB}"/>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043DC02-0C58-659E-AC8A-094B86935959}"/>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9D67A1E1-6E51-74D4-A519-6856062223B6}"/>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1A7E5C1A-8EA4-07CA-840B-3F38C94D5EFB}"/>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91D1F231-4099-C09F-F93F-529318FD1B2E}"/>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BA0FA33-2C9E-889B-BD27-DEFA1BC70E87}"/>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F4727BD-4E75-52A8-87E3-704A90FB4F7A}"/>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ABB7F06-237D-FB88-A767-98C503DC7192}"/>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7B82C31-54C9-6EC1-31C6-8DB2E3E2DD6A}"/>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359D462-582E-C179-A906-44D33D1DDEA4}"/>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54438B1-1412-25B4-27CF-B80C3F344B4B}"/>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303D75B-097D-B47D-54CC-E297CCCC04AD}"/>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CE79ECF-623A-8CA8-C9A4-AC6448EE31B1}"/>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EE733F3B-5C7C-C256-2220-2869994086BC}"/>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F4AC76A0-57A1-525A-FA65-9481A42BDF88}"/>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DBF6720D-836C-A85B-BF71-86EA383CEE5B}"/>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AA091B7F-259D-F7FE-F810-9678BFB7EC3A}"/>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56C986BD-D964-4FCB-63DF-5A019D7DAB07}"/>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FC204BEE-F25B-ADA4-9000-AC00DF2C63D1}"/>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9EEA04A-8C69-9535-FF35-C320E8584267}"/>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EEF75C6-462F-13F1-1058-3FCFC220A232}"/>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7108BA2-7F6D-63D1-E401-933717CABCF2}"/>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D49E003B-F732-55E6-7937-11699C07A9C1}"/>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8B501F0A-84DF-A599-238C-F9A3B3047E82}"/>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5B250915-235A-D6F5-27D7-E796305CCE40}"/>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ED9CC48D-D66C-9C61-EC63-67DD9CCE24DD}"/>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164BFC30-FA5A-83C0-E328-F59D7653394F}"/>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BF4992F5-20FC-96DC-000D-8CBFED95DBB7}"/>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F7CFE6CB-E161-F9AA-F31B-FE086DBBA38A}"/>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7C6F3887-8658-08FB-53F5-C5210C0744A0}"/>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059B98AF-D538-8702-EA22-6CD5D7856D84}"/>
              </a:ext>
            </a:extLst>
          </p:cNvPr>
          <p:cNvCxnSpPr>
            <a:cxnSpLocks/>
          </p:cNvCxnSpPr>
          <p:nvPr/>
        </p:nvCxnSpPr>
        <p:spPr>
          <a:xfrm>
            <a:off x="5667541" y="4130552"/>
            <a:ext cx="1163649" cy="18697"/>
          </a:xfrm>
          <a:prstGeom prst="straightConnector1">
            <a:avLst/>
          </a:prstGeom>
          <a:ln w="1905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C32D700E-BD45-3FF7-874E-6FD29AC9FC9B}"/>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A52C3A12-817F-ECBC-132C-9C39F1AEC43F}"/>
              </a:ext>
            </a:extLst>
          </p:cNvPr>
          <p:cNvCxnSpPr>
            <a:cxnSpLocks/>
            <a:endCxn id="76" idx="2"/>
          </p:cNvCxnSpPr>
          <p:nvPr/>
        </p:nvCxnSpPr>
        <p:spPr>
          <a:xfrm>
            <a:off x="5704117" y="2168735"/>
            <a:ext cx="1142967" cy="2005254"/>
          </a:xfrm>
          <a:prstGeom prst="straightConnector1">
            <a:avLst/>
          </a:prstGeom>
          <a:ln w="1905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D475B4B8-85D4-6BA5-3E21-C8F02F596F61}"/>
              </a:ext>
            </a:extLst>
          </p:cNvPr>
          <p:cNvCxnSpPr>
            <a:cxnSpLocks/>
          </p:cNvCxnSpPr>
          <p:nvPr/>
        </p:nvCxnSpPr>
        <p:spPr>
          <a:xfrm>
            <a:off x="5675139" y="3137772"/>
            <a:ext cx="1163649" cy="969497"/>
          </a:xfrm>
          <a:prstGeom prst="straightConnector1">
            <a:avLst/>
          </a:prstGeom>
          <a:ln w="1905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E2EBEFB4-6AF8-524A-F1BC-1FC097E82B0B}"/>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35B1704F-8331-4374-708C-027E8328DFCD}"/>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9A7D47CB-369E-3D89-AC56-19580CB19064}"/>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71726B45-1D1F-232F-2824-BD02C91EC9D1}"/>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2" name="Rectangle 11">
            <a:extLst>
              <a:ext uri="{FF2B5EF4-FFF2-40B4-BE49-F238E27FC236}">
                <a16:creationId xmlns:a16="http://schemas.microsoft.com/office/drawing/2014/main" id="{7AE7F078-4B3D-4DD4-BD92-AB6EE9ECFD60}"/>
              </a:ext>
            </a:extLst>
          </p:cNvPr>
          <p:cNvSpPr/>
          <p:nvPr/>
        </p:nvSpPr>
        <p:spPr>
          <a:xfrm>
            <a:off x="8634479" y="2510596"/>
            <a:ext cx="647700" cy="1270101"/>
          </a:xfrm>
          <a:prstGeom prst="rect">
            <a:avLst/>
          </a:prstGeom>
          <a:noFill/>
          <a:ln w="28575">
            <a:solidFill>
              <a:srgbClr val="C8E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3B4BDEFC-1754-C202-27F4-E1BBF3ECD430}"/>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7" name="Straight Arrow Connector 16">
            <a:extLst>
              <a:ext uri="{FF2B5EF4-FFF2-40B4-BE49-F238E27FC236}">
                <a16:creationId xmlns:a16="http://schemas.microsoft.com/office/drawing/2014/main" id="{E2E4CFC0-7CD6-D545-0ED4-2597AB31130F}"/>
              </a:ext>
            </a:extLst>
          </p:cNvPr>
          <p:cNvCxnSpPr>
            <a:cxnSpLocks/>
            <a:endCxn id="16" idx="2"/>
          </p:cNvCxnSpPr>
          <p:nvPr/>
        </p:nvCxnSpPr>
        <p:spPr>
          <a:xfrm>
            <a:off x="7515466" y="2187432"/>
            <a:ext cx="1119013" cy="95471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36D6166-07C7-98F8-E1B1-A39C47304723}"/>
              </a:ext>
            </a:extLst>
          </p:cNvPr>
          <p:cNvCxnSpPr>
            <a:cxnSpLocks/>
            <a:endCxn id="16" idx="2"/>
          </p:cNvCxnSpPr>
          <p:nvPr/>
        </p:nvCxnSpPr>
        <p:spPr>
          <a:xfrm flipV="1">
            <a:off x="7494784" y="3142146"/>
            <a:ext cx="1139695" cy="103184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52030C2-EAA1-2803-D9EF-891CF0DD1E4D}"/>
              </a:ext>
            </a:extLst>
          </p:cNvPr>
          <p:cNvCxnSpPr>
            <a:cxnSpLocks/>
            <a:endCxn id="16" idx="2"/>
          </p:cNvCxnSpPr>
          <p:nvPr/>
        </p:nvCxnSpPr>
        <p:spPr>
          <a:xfrm>
            <a:off x="7515466" y="3138232"/>
            <a:ext cx="1119013" cy="391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BC6BD85-E90D-C0A7-861B-846C6656A60D}"/>
              </a:ext>
            </a:extLst>
          </p:cNvPr>
          <p:cNvSpPr txBox="1"/>
          <p:nvPr/>
        </p:nvSpPr>
        <p:spPr>
          <a:xfrm>
            <a:off x="3176670" y="920268"/>
            <a:ext cx="4792525" cy="830997"/>
          </a:xfrm>
          <a:prstGeom prst="rect">
            <a:avLst/>
          </a:prstGeom>
          <a:noFill/>
        </p:spPr>
        <p:txBody>
          <a:bodyPr wrap="square">
            <a:spAutoFit/>
          </a:bodyPr>
          <a:lstStyle/>
          <a:p>
            <a:pPr algn="ctr">
              <a:buNone/>
            </a:pPr>
            <a:r>
              <a:rPr lang="en-GB" sz="2400" b="1" dirty="0"/>
              <a:t>Three “Hidden layers” each of three neurons</a:t>
            </a:r>
          </a:p>
        </p:txBody>
      </p:sp>
      <p:sp>
        <p:nvSpPr>
          <p:cNvPr id="21" name="TextBox 20">
            <a:extLst>
              <a:ext uri="{FF2B5EF4-FFF2-40B4-BE49-F238E27FC236}">
                <a16:creationId xmlns:a16="http://schemas.microsoft.com/office/drawing/2014/main" id="{8C056533-FBC9-FA0D-F0D3-8499EEA61B61}"/>
              </a:ext>
            </a:extLst>
          </p:cNvPr>
          <p:cNvSpPr txBox="1"/>
          <p:nvPr/>
        </p:nvSpPr>
        <p:spPr>
          <a:xfrm>
            <a:off x="9984925" y="2845384"/>
            <a:ext cx="568303" cy="584775"/>
          </a:xfrm>
          <a:prstGeom prst="rect">
            <a:avLst/>
          </a:prstGeom>
          <a:noFill/>
        </p:spPr>
        <p:txBody>
          <a:bodyPr wrap="square">
            <a:spAutoFit/>
          </a:bodyPr>
          <a:lstStyle/>
          <a:p>
            <a:r>
              <a:rPr lang="cy-GB" sz="3200" b="1" i="0" dirty="0">
                <a:solidFill>
                  <a:srgbClr val="C8E5C1"/>
                </a:solidFill>
                <a:effectLst/>
                <a:latin typeface="Arial" panose="020B0604020202020204" pitchFamily="34" charset="0"/>
              </a:rPr>
              <a:t>ŷ</a:t>
            </a:r>
            <a:endParaRPr lang="en-GB" sz="3200" dirty="0">
              <a:solidFill>
                <a:srgbClr val="C8E5C1"/>
              </a:solidFill>
            </a:endParaRPr>
          </a:p>
        </p:txBody>
      </p:sp>
      <p:cxnSp>
        <p:nvCxnSpPr>
          <p:cNvPr id="24" name="Straight Arrow Connector 23">
            <a:extLst>
              <a:ext uri="{FF2B5EF4-FFF2-40B4-BE49-F238E27FC236}">
                <a16:creationId xmlns:a16="http://schemas.microsoft.com/office/drawing/2014/main" id="{FC293CCB-89D2-38E7-3A95-1163223E97D3}"/>
              </a:ext>
            </a:extLst>
          </p:cNvPr>
          <p:cNvCxnSpPr>
            <a:cxnSpLocks/>
          </p:cNvCxnSpPr>
          <p:nvPr/>
        </p:nvCxnSpPr>
        <p:spPr>
          <a:xfrm>
            <a:off x="9261497" y="3169153"/>
            <a:ext cx="568303" cy="22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33A757D-3C49-BA31-270D-8AC2F1A1A49D}"/>
              </a:ext>
            </a:extLst>
          </p:cNvPr>
          <p:cNvSpPr txBox="1"/>
          <p:nvPr/>
        </p:nvSpPr>
        <p:spPr>
          <a:xfrm>
            <a:off x="9552359" y="3503994"/>
            <a:ext cx="1581150" cy="461665"/>
          </a:xfrm>
          <a:prstGeom prst="rect">
            <a:avLst/>
          </a:prstGeom>
          <a:noFill/>
        </p:spPr>
        <p:txBody>
          <a:bodyPr wrap="square">
            <a:spAutoFit/>
          </a:bodyPr>
          <a:lstStyle/>
          <a:p>
            <a:pPr algn="ctr">
              <a:buNone/>
            </a:pPr>
            <a:r>
              <a:rPr lang="en-GB" sz="2400" b="1" dirty="0"/>
              <a:t>prediction</a:t>
            </a:r>
          </a:p>
        </p:txBody>
      </p:sp>
      <p:sp>
        <p:nvSpPr>
          <p:cNvPr id="13" name="TextBox 12">
            <a:extLst>
              <a:ext uri="{FF2B5EF4-FFF2-40B4-BE49-F238E27FC236}">
                <a16:creationId xmlns:a16="http://schemas.microsoft.com/office/drawing/2014/main" id="{13E2B3AA-6582-B9BF-60D5-46E74C6EE438}"/>
              </a:ext>
            </a:extLst>
          </p:cNvPr>
          <p:cNvSpPr txBox="1"/>
          <p:nvPr/>
        </p:nvSpPr>
        <p:spPr>
          <a:xfrm>
            <a:off x="1858844" y="24861"/>
            <a:ext cx="7632590" cy="523220"/>
          </a:xfrm>
          <a:prstGeom prst="rect">
            <a:avLst/>
          </a:prstGeom>
          <a:noFill/>
        </p:spPr>
        <p:txBody>
          <a:bodyPr wrap="square">
            <a:spAutoFit/>
          </a:bodyPr>
          <a:lstStyle/>
          <a:p>
            <a:r>
              <a:rPr lang="en-GB" sz="2800" dirty="0">
                <a:solidFill>
                  <a:srgbClr val="92D050"/>
                </a:solidFill>
                <a:latin typeface="Consolas"/>
              </a:rPr>
              <a:t>Multi-layer neural neuron architecture</a:t>
            </a:r>
          </a:p>
        </p:txBody>
      </p:sp>
    </p:spTree>
    <p:extLst>
      <p:ext uri="{BB962C8B-B14F-4D97-AF65-F5344CB8AC3E}">
        <p14:creationId xmlns:p14="http://schemas.microsoft.com/office/powerpoint/2010/main" val="3182638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36B18-4775-8CCE-5B6C-BC8B444DA13D}"/>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F3BD2C42-DAC0-5147-8379-41620AC53F5C}"/>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3A23DC3D-4502-E0EA-B648-E0A69AC28300}"/>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D7725BF4-EEBF-86EC-D48A-F05188ED4447}"/>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5EDFFFF2-A261-E9B6-61A8-71E4E61A9B3C}"/>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0A8CB7BA-5613-666C-53B7-AF5F8F452D48}"/>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12B7DC4F-EC2E-20FB-CD93-02110357EC7E}"/>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3A6A5023-F756-55C4-6231-546E2068690F}"/>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F2648FA-9CFC-98BE-291F-1D4EDBDCB4B8}"/>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41EC062-8162-6A58-E559-68955044C46C}"/>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F443AE7-547A-E2A9-8A8B-A5C59EB7395C}"/>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BC82DC3D-02DD-CCAB-0E4C-36747D6BD882}"/>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BB00104F-53A7-6837-0F0A-33B00354E129}"/>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A42954F-690D-DB62-770B-3645797DC66D}"/>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884923F-E37E-2CC4-3A0E-F067382833B7}"/>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62E8286-D403-1D08-6B56-06F16E47A975}"/>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559A2A2-ED65-7EF0-2927-34735DF87538}"/>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0DD972B-742D-616F-C396-0C5B017D57C6}"/>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1EF8F33-FC57-62FC-581D-ACB9E65671B0}"/>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5003973-2F6B-FFE4-178F-961E7A850558}"/>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13CAD68-288F-EE84-A55B-A8CE24D0F9FB}"/>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82DCB41E-24D3-DB04-BF2D-D5F59CA98F95}"/>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4BBC0AD5-2A13-465B-9B07-53093EA6CE20}"/>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D015D28E-6527-ADEC-7F70-9A03F7981CB9}"/>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E2DA3E5A-C77D-DEA6-4F68-4409AC2AB219}"/>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F73E353-4C19-19C9-B4DF-65D34BEF3E34}"/>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71CBD45-240E-31CB-438C-2BB4BE47327B}"/>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26B5D213-10C7-D705-01F5-56F288B85B3B}"/>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734D5534-E30C-D0B1-53D4-CC0ECF2D25F5}"/>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0FA8A6E-1FF9-4EBC-BED0-8A9F6113935C}"/>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D6A745A2-1A26-133D-13F6-661E2FF03B65}"/>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F495CF3D-06CE-E627-5E9B-92B1A53F6E76}"/>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ADEB679-C411-9F79-B3EF-7068C4E776A5}"/>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1AD0DC65-AF3E-2EEC-686F-A8154D811C00}"/>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5AE768B7-599C-4DD9-9C5B-6CE447118E5B}"/>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F5174751-3CFE-87D0-A9D5-1E0B9BAE4B35}"/>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688FF559-8BF0-AB60-CF51-0C55F93A3F19}"/>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145839B7-5F0C-D0BE-18E5-94B8B5A18993}"/>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6AB3885A-4C35-690F-BB56-3EA34C91EAF7}"/>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D339B387-8D33-CF65-D2F5-103A70A605AA}"/>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52F51CFE-F8C7-A8C7-6CD1-6E049702D22D}"/>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ABB96EDC-5DA3-0D77-CDDA-C6AA52C62A6A}"/>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464BFE9C-9D6E-FB16-46AC-C90CEEF193CA}"/>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0F987A45-E33E-0BFF-8FE1-CA2225E165F2}"/>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77F00C87-0227-BEFA-96FA-C08AF03A0419}"/>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10EB1791-9FD2-663A-07B0-401EA4D18981}"/>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1" name="TextBox 10">
            <a:extLst>
              <a:ext uri="{FF2B5EF4-FFF2-40B4-BE49-F238E27FC236}">
                <a16:creationId xmlns:a16="http://schemas.microsoft.com/office/drawing/2014/main" id="{0C6C4FD8-90FD-D87A-DC37-08352CA23B5F}"/>
              </a:ext>
            </a:extLst>
          </p:cNvPr>
          <p:cNvSpPr txBox="1"/>
          <p:nvPr/>
        </p:nvSpPr>
        <p:spPr>
          <a:xfrm>
            <a:off x="3187810" y="6164"/>
            <a:ext cx="6094369" cy="523220"/>
          </a:xfrm>
          <a:prstGeom prst="rect">
            <a:avLst/>
          </a:prstGeom>
          <a:noFill/>
        </p:spPr>
        <p:txBody>
          <a:bodyPr wrap="square">
            <a:spAutoFit/>
          </a:bodyPr>
          <a:lstStyle/>
          <a:p>
            <a:r>
              <a:rPr lang="en-GB" sz="2800" dirty="0">
                <a:solidFill>
                  <a:srgbClr val="92D050"/>
                </a:solidFill>
                <a:latin typeface="Consolas"/>
              </a:rPr>
              <a:t>Feedforward (the </a:t>
            </a:r>
            <a:r>
              <a:rPr lang="en-US" sz="2800" dirty="0">
                <a:solidFill>
                  <a:srgbClr val="92D050"/>
                </a:solidFill>
                <a:latin typeface="Consolas"/>
              </a:rPr>
              <a:t>prediction</a:t>
            </a:r>
            <a:r>
              <a:rPr lang="en-GB" sz="2800" dirty="0">
                <a:solidFill>
                  <a:srgbClr val="92D050"/>
                </a:solidFill>
                <a:latin typeface="Consolas"/>
              </a:rPr>
              <a:t>)</a:t>
            </a:r>
          </a:p>
        </p:txBody>
      </p:sp>
      <p:sp>
        <p:nvSpPr>
          <p:cNvPr id="14" name="Oval 13">
            <a:extLst>
              <a:ext uri="{FF2B5EF4-FFF2-40B4-BE49-F238E27FC236}">
                <a16:creationId xmlns:a16="http://schemas.microsoft.com/office/drawing/2014/main" id="{72CC51E2-5456-F9A5-6244-A814813A34EC}"/>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5" name="Straight Arrow Connector 14">
            <a:extLst>
              <a:ext uri="{FF2B5EF4-FFF2-40B4-BE49-F238E27FC236}">
                <a16:creationId xmlns:a16="http://schemas.microsoft.com/office/drawing/2014/main" id="{81E63BF9-F647-B5EA-44D2-16AEF889B01F}"/>
              </a:ext>
            </a:extLst>
          </p:cNvPr>
          <p:cNvCxnSpPr>
            <a:cxnSpLocks/>
            <a:endCxn id="14"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4D423DF-71F8-D50F-CEDB-0F2D09CE125B}"/>
              </a:ext>
            </a:extLst>
          </p:cNvPr>
          <p:cNvCxnSpPr>
            <a:cxnSpLocks/>
            <a:endCxn id="14"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2CAAC45-2BCA-4457-923E-E1721AA8FE6F}"/>
              </a:ext>
            </a:extLst>
          </p:cNvPr>
          <p:cNvCxnSpPr>
            <a:cxnSpLocks/>
            <a:endCxn id="14"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40BC0300-496E-B2CA-D7CA-4448196B5001}"/>
              </a:ext>
            </a:extLst>
          </p:cNvPr>
          <p:cNvSpPr/>
          <p:nvPr/>
        </p:nvSpPr>
        <p:spPr>
          <a:xfrm>
            <a:off x="455709" y="1303051"/>
            <a:ext cx="719585" cy="3454970"/>
          </a:xfrm>
          <a:prstGeom prst="rect">
            <a:avLst/>
          </a:prstGeom>
          <a:noFill/>
          <a:ln w="28575">
            <a:solidFill>
              <a:schemeClr val="tx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81405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1C909-8113-1CEA-38CA-3C92EBE8FE90}"/>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FB34E5AF-6967-AFD0-1662-12DC1E2FBC80}"/>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C36828C3-C73F-4DAF-1C4A-366FE988A76A}"/>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BA3F75B5-D0FB-AC0D-F330-771069F4E214}"/>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E00214A5-7E98-F2E0-952F-903C8069640D}"/>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E1D26037-2882-8576-50D4-D0409074ED0D}"/>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BCEBC355-5726-336C-99CB-AAEF3EC33609}"/>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49BF8437-6468-2402-80C9-C9E9DEFAF62D}"/>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4A5D7A0-A7D7-2D81-A4E9-32E50B1EF919}"/>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B0648FA-6D05-6A23-6486-6DF4E82DB352}"/>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33E08DAE-C918-3927-E737-C5EBBA8CB6C2}"/>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F7697C64-6352-0008-C4F2-DB9C6DE9AE21}"/>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A3113A63-DCF5-4FE7-A275-91F602B5A51E}"/>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E268C80-85F6-4030-F576-211F1AF4A7A6}"/>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88CB18E-3F05-8FFE-D2D2-C4E0A265FEC0}"/>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F4B00CE-2F84-0247-54E2-03020DE01044}"/>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49F38E7-EB30-0A22-0D40-3C085CC00A77}"/>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27868B5-5D1B-7C18-2062-865FFB1E235B}"/>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A663121-0D5F-E689-79D7-468F44422C5B}"/>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C177524-185A-8CF5-6521-C5B5396C853C}"/>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B16E01D-21CE-CC77-F463-E4F0BDBF5FE5}"/>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70C6B841-DE6E-2D24-5B99-4C70F6895E18}"/>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C016250D-E0B4-BAAE-16BB-AD271CFA2A46}"/>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D4BE9B31-A9A7-0479-A64F-732580BEC741}"/>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09560697-4583-F671-9868-B1483A4772E0}"/>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36F252BD-ED25-66D2-97B3-BCD8FE226ED9}"/>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F4389546-922A-C4C1-52B4-3DD66D9649CA}"/>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73B9FFF1-F966-7DBB-7628-12738E56A514}"/>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4E82A4E6-4D0F-894B-BCF4-F938639046A4}"/>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38B04C53-82C2-D69B-16B1-873132A89AD2}"/>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1A1A1880-3B8B-27BD-0A3A-CF65615B5F81}"/>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9F97FC78-EF49-E234-9ECA-51ADAF4B7DCD}"/>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110697A4-ABB9-A40E-12A4-49BCA3CC237F}"/>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CD226F96-208F-9ED2-C991-61E36FA7929A}"/>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DD4FA4AF-95DF-FE95-6EB2-7BBFB348E01B}"/>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4F212583-E5DE-CDAB-9418-DD35DF1B832E}"/>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48072FCA-0386-AED4-A78A-60B69030AF8E}"/>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2B013858-8E95-6F6A-A8C2-714EC5B36A18}"/>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B246F92A-C60C-D12A-018B-FC05AAD3A47E}"/>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AFBD1AC4-EA7E-367A-6050-967B4E9B6FE3}"/>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F504FE6F-E568-A1AA-E287-F6E962FE422C}"/>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3BBBB6D1-6497-7925-912D-F0C1E4C6E35F}"/>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C5AB22D3-37EE-B97E-D800-9870AE6A8D1A}"/>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C042F291-9F00-CBDB-AF7C-17DF89E2A9F1}"/>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8684F172-A494-9991-3919-63D969792752}"/>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A9B454AC-1F22-A4D2-1C95-E99803BB0A20}"/>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1" name="TextBox 10">
            <a:extLst>
              <a:ext uri="{FF2B5EF4-FFF2-40B4-BE49-F238E27FC236}">
                <a16:creationId xmlns:a16="http://schemas.microsoft.com/office/drawing/2014/main" id="{CA3AD3C3-9BCB-BF6A-F057-31FB4F04C753}"/>
              </a:ext>
            </a:extLst>
          </p:cNvPr>
          <p:cNvSpPr txBox="1"/>
          <p:nvPr/>
        </p:nvSpPr>
        <p:spPr>
          <a:xfrm>
            <a:off x="3187810" y="6164"/>
            <a:ext cx="6094369" cy="523220"/>
          </a:xfrm>
          <a:prstGeom prst="rect">
            <a:avLst/>
          </a:prstGeom>
          <a:noFill/>
        </p:spPr>
        <p:txBody>
          <a:bodyPr wrap="square">
            <a:spAutoFit/>
          </a:bodyPr>
          <a:lstStyle/>
          <a:p>
            <a:r>
              <a:rPr lang="en-GB" sz="2800" dirty="0">
                <a:solidFill>
                  <a:srgbClr val="92D050"/>
                </a:solidFill>
                <a:latin typeface="Consolas"/>
              </a:rPr>
              <a:t>Feedforward (the </a:t>
            </a:r>
            <a:r>
              <a:rPr lang="en-US" sz="2800" dirty="0">
                <a:solidFill>
                  <a:srgbClr val="92D050"/>
                </a:solidFill>
                <a:latin typeface="Consolas"/>
              </a:rPr>
              <a:t>prediction</a:t>
            </a:r>
            <a:r>
              <a:rPr lang="en-GB" sz="2800" dirty="0">
                <a:solidFill>
                  <a:srgbClr val="92D050"/>
                </a:solidFill>
                <a:latin typeface="Consolas"/>
              </a:rPr>
              <a:t>)</a:t>
            </a:r>
          </a:p>
        </p:txBody>
      </p:sp>
      <p:sp>
        <p:nvSpPr>
          <p:cNvPr id="12" name="Rectangle 11">
            <a:extLst>
              <a:ext uri="{FF2B5EF4-FFF2-40B4-BE49-F238E27FC236}">
                <a16:creationId xmlns:a16="http://schemas.microsoft.com/office/drawing/2014/main" id="{D13127E1-E641-2A0D-BDEA-250200DF923A}"/>
              </a:ext>
            </a:extLst>
          </p:cNvPr>
          <p:cNvSpPr/>
          <p:nvPr/>
        </p:nvSpPr>
        <p:spPr>
          <a:xfrm>
            <a:off x="3176670" y="1845569"/>
            <a:ext cx="700428" cy="2632888"/>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08B558AD-C1C7-C43C-158E-983FCFBF00DD}"/>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5" name="Straight Arrow Connector 14">
            <a:extLst>
              <a:ext uri="{FF2B5EF4-FFF2-40B4-BE49-F238E27FC236}">
                <a16:creationId xmlns:a16="http://schemas.microsoft.com/office/drawing/2014/main" id="{4D8959E4-F9DE-0E34-1787-1A7AE552120A}"/>
              </a:ext>
            </a:extLst>
          </p:cNvPr>
          <p:cNvCxnSpPr>
            <a:cxnSpLocks/>
            <a:endCxn id="14"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FF39BD9-B6E2-7CEF-1FCF-15DEAE15A71A}"/>
              </a:ext>
            </a:extLst>
          </p:cNvPr>
          <p:cNvCxnSpPr>
            <a:cxnSpLocks/>
            <a:endCxn id="14"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762C5D8-A5EA-5410-48D4-47D44D661000}"/>
              </a:ext>
            </a:extLst>
          </p:cNvPr>
          <p:cNvCxnSpPr>
            <a:cxnSpLocks/>
            <a:endCxn id="14"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DAF67F9-AD4F-9D92-E93A-AAB45703F7E0}"/>
              </a:ext>
            </a:extLst>
          </p:cNvPr>
          <p:cNvCxnSpPr>
            <a:cxnSpLocks/>
          </p:cNvCxnSpPr>
          <p:nvPr/>
        </p:nvCxnSpPr>
        <p:spPr>
          <a:xfrm>
            <a:off x="747157" y="990600"/>
            <a:ext cx="2758043"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4709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9CB1F-9DB4-A867-20A8-59FB27F4CB16}"/>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E0304566-C8CD-55E2-4593-D800BE925418}"/>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8FDC05D2-2AA3-A332-FB66-19AAA776172B}"/>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FB80DDFA-A5BF-E69A-5438-9F8864534BEE}"/>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F118068E-964C-78B2-4535-1637C469B270}"/>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AB8BB9DF-5716-5344-F954-6043066C22D9}"/>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2AFF1BC-1090-83C7-A866-BEC4A5D1FA34}"/>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61F1452F-DDFA-F9E3-2B6E-23D410D9582D}"/>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7DAC973-C34B-D097-E3C9-13C684665F6D}"/>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95DC1DB-50C8-2CC9-2FE8-387F6FDE24CE}"/>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5CA34645-BB2C-7EFA-440D-F1B4712C181C}"/>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B735B4E9-7AC9-C186-B165-6D2E298D72EF}"/>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56FE5E75-1504-B69F-DB49-38CB588D91CB}"/>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6D29337-5BEB-C3D1-A263-A69AEAD88AC5}"/>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5BF53260-18E3-581D-18A9-954F02B780F1}"/>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5DA4EF2-D637-A050-5E86-9F4A9F592160}"/>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868F391-3609-406E-5AA2-ECBDA8475813}"/>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5FB4F91-B098-4BB4-ED0B-84BB318E4AA1}"/>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0D366C0-5397-3C31-267C-26482737B301}"/>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736503E-CDB2-20E3-B16E-EC73D2326931}"/>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77525CA-20A4-7009-23B6-205285DF9DC6}"/>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C3ECC07E-64CF-5D4A-27B1-F185157BABE2}"/>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F6F575B3-7053-9439-2866-13A700176883}"/>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232E0535-3202-D849-9F1C-7A604B38329E}"/>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63D25BB8-5A0E-68BB-C519-D680A5970771}"/>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31EC1A8-BA71-CC58-DD6B-EE40101CB22D}"/>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6345100-6924-A7C4-0811-0D7BE9816328}"/>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61B1F9E-A115-0FC1-B438-EF422913E56B}"/>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0A496FE3-A790-A52B-1924-314D116C2BCA}"/>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8701642E-6CDB-F412-A8E7-B4B4DD57C363}"/>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D3F01DB-A8A7-8153-78A7-37F311B9084B}"/>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970C96EC-FFDD-F96A-04C5-61977DBAD7A2}"/>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8C60770-EF5E-9A6B-2F2F-6B9DA232F966}"/>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12CF83F8-4F12-AF7E-74BF-EE3B8E11A534}"/>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2B004AF8-81F3-245A-9EFA-BBD7853F07C5}"/>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EC6171ED-313B-8CF8-EC3C-C02F8A74C9B9}"/>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CBA1FCF7-887C-2BC5-E607-98DEC0A53561}"/>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8472E3F7-22FA-EAB6-3A8F-23ACD6F418DD}"/>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D346BC4-11C4-45A8-AC22-F1350E4D7A23}"/>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A3E95C59-8A2A-2133-B4B8-D9C01699401E}"/>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86BA3335-33BF-0A80-A5E1-14F27D75A5DD}"/>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176BCC1-C13E-1C4E-FEA2-A08A5AFBF236}"/>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B8257178-956C-8EB6-1D18-DFE586646074}"/>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2568AE6B-16F7-4931-4054-070E8313EF94}"/>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B083E17D-EA9B-A2FC-86D6-7514AAFB1662}"/>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D33B8814-291C-37C7-BDE1-6F71E559FFA1}"/>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1" name="TextBox 10">
            <a:extLst>
              <a:ext uri="{FF2B5EF4-FFF2-40B4-BE49-F238E27FC236}">
                <a16:creationId xmlns:a16="http://schemas.microsoft.com/office/drawing/2014/main" id="{5031977E-4DF0-0FA4-298E-F30453DDF48F}"/>
              </a:ext>
            </a:extLst>
          </p:cNvPr>
          <p:cNvSpPr txBox="1"/>
          <p:nvPr/>
        </p:nvSpPr>
        <p:spPr>
          <a:xfrm>
            <a:off x="3187810" y="6164"/>
            <a:ext cx="6094369" cy="523220"/>
          </a:xfrm>
          <a:prstGeom prst="rect">
            <a:avLst/>
          </a:prstGeom>
          <a:noFill/>
        </p:spPr>
        <p:txBody>
          <a:bodyPr wrap="square">
            <a:spAutoFit/>
          </a:bodyPr>
          <a:lstStyle/>
          <a:p>
            <a:r>
              <a:rPr lang="en-GB" sz="2800" dirty="0">
                <a:solidFill>
                  <a:srgbClr val="92D050"/>
                </a:solidFill>
                <a:latin typeface="Consolas"/>
              </a:rPr>
              <a:t>Feedforward (the </a:t>
            </a:r>
            <a:r>
              <a:rPr lang="en-US" sz="2800" dirty="0">
                <a:solidFill>
                  <a:srgbClr val="92D050"/>
                </a:solidFill>
                <a:latin typeface="Consolas"/>
              </a:rPr>
              <a:t>prediction</a:t>
            </a:r>
            <a:r>
              <a:rPr lang="en-GB" sz="2800" dirty="0">
                <a:solidFill>
                  <a:srgbClr val="92D050"/>
                </a:solidFill>
                <a:latin typeface="Consolas"/>
              </a:rPr>
              <a:t>)</a:t>
            </a:r>
          </a:p>
        </p:txBody>
      </p:sp>
      <p:sp>
        <p:nvSpPr>
          <p:cNvPr id="12" name="Rectangle 11">
            <a:extLst>
              <a:ext uri="{FF2B5EF4-FFF2-40B4-BE49-F238E27FC236}">
                <a16:creationId xmlns:a16="http://schemas.microsoft.com/office/drawing/2014/main" id="{6D07B769-3E98-F5E4-C852-282E2BE64E8A}"/>
              </a:ext>
            </a:extLst>
          </p:cNvPr>
          <p:cNvSpPr/>
          <p:nvPr/>
        </p:nvSpPr>
        <p:spPr>
          <a:xfrm>
            <a:off x="4973030" y="1830046"/>
            <a:ext cx="700428" cy="2632888"/>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4F1204B8-0BC5-FFD5-3353-E96BBBBC8139}"/>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5" name="Straight Arrow Connector 14">
            <a:extLst>
              <a:ext uri="{FF2B5EF4-FFF2-40B4-BE49-F238E27FC236}">
                <a16:creationId xmlns:a16="http://schemas.microsoft.com/office/drawing/2014/main" id="{544AA234-25FD-22D3-C3B5-DE3992C88E44}"/>
              </a:ext>
            </a:extLst>
          </p:cNvPr>
          <p:cNvCxnSpPr>
            <a:cxnSpLocks/>
            <a:endCxn id="14"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01D2DD1-2DF8-259A-5411-66DAC08EAE5D}"/>
              </a:ext>
            </a:extLst>
          </p:cNvPr>
          <p:cNvCxnSpPr>
            <a:cxnSpLocks/>
            <a:endCxn id="14"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BF5AFA3-8D1D-1177-CD68-9E074C883473}"/>
              </a:ext>
            </a:extLst>
          </p:cNvPr>
          <p:cNvCxnSpPr>
            <a:cxnSpLocks/>
            <a:endCxn id="14"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B9A8156-24D3-0D44-9462-3BBEA3E64F5C}"/>
              </a:ext>
            </a:extLst>
          </p:cNvPr>
          <p:cNvCxnSpPr>
            <a:cxnSpLocks/>
          </p:cNvCxnSpPr>
          <p:nvPr/>
        </p:nvCxnSpPr>
        <p:spPr>
          <a:xfrm>
            <a:off x="747157" y="990600"/>
            <a:ext cx="4586843"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345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DFB2F-BEE0-BE48-0E53-FC5C63EF9780}"/>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F404B0DA-29A6-F932-B752-2FA60AA34D98}"/>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5E293A1D-5AB1-DB7B-2B21-206BFDA8EF81}"/>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E617E76B-034A-4D45-A3F2-0FC5AEFA6ED5}"/>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CFE05364-F4F6-C677-C97A-0AAE59C64453}"/>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B3CAD23F-18D9-C52F-9DC4-6AB05D57300E}"/>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02727C5-F49D-CC33-E744-A5DB37802165}"/>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425491B2-4C40-9588-8D2A-B249F35350C5}"/>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4808240-37BB-CD4E-CA13-285398ABF1C7}"/>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4CAC6C8-9D6E-9367-733C-F581C422A8B0}"/>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20D3FD65-6861-C83D-8895-9AF856FD086D}"/>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2307C3EE-4DE8-9C51-900B-C2F64FA804B7}"/>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9926F4FC-93E8-A9BC-28F4-8647839BDD80}"/>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AC80A52-976A-1CE0-FD8E-317F6997CD15}"/>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95C440F-B10C-01D0-5479-30A92627EC2E}"/>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62F6C40-D520-4697-858B-52B442C71E44}"/>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68C281F-B73B-A3F9-65B3-6794168BC740}"/>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2750CFC-DF50-736F-FC98-23A3BE5FB625}"/>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0F64040-EA64-E7F7-2C14-948CD6A40D09}"/>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E9C6675-AEEE-2CF9-648C-33F5E6C98033}"/>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5904C57E-28FF-4A79-A6AC-00E2FFFA1F32}"/>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982678A8-9A36-FD38-1A4C-23536E27A200}"/>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185BACC0-1D6C-FF38-05D1-2E66E48FA460}"/>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46633235-A0F5-98B4-4D4E-B9749C67BE5E}"/>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AC129BE7-EE57-FB70-9885-4733165380B2}"/>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8CF2A792-CC12-8D99-868C-1B37A3A063E9}"/>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2CC698A5-4529-D493-6F23-156DFAE05C32}"/>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8621852-AC47-B4EF-A2B9-8E8D6AF4F33F}"/>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A01F44B-10CF-0750-5E7D-323D4B31C8F4}"/>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0FB1D70D-16FD-31D4-1C51-1685F875202C}"/>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2F62559-4CD4-20E4-95B5-AA62A03ACCC3}"/>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209B633C-0599-E236-4674-E8AC274F8FF6}"/>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48CAE80E-F150-3C55-3DE0-5CB1B8C7E777}"/>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7B8A2F1F-F30B-AD07-A871-46B1EB7F6E60}"/>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37A77B34-7F4B-C3EB-B125-F5311D832D91}"/>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C3FA2AFF-B74D-A986-6586-6FEE31390E50}"/>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9EB5469E-CE2E-D95B-6A35-B3784793F118}"/>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845DD8D3-3048-3684-5E73-473A4E9748EC}"/>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4E79EF2A-34EC-A097-86AE-0092CC7F1716}"/>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C0E3D93A-D8AD-4276-FD2B-A57BB23E8B89}"/>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2D2E747C-529B-63CF-5C79-D362CA306FAA}"/>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CCE451AF-51DF-F40D-A226-F3AC0BDFACF9}"/>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20CBF1FB-248B-53DB-FAD8-A86465860D25}"/>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07F704DA-4175-F766-17DB-AD78A175F969}"/>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470F6687-5FC5-D87B-D4A5-2741E007AB9F}"/>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ED136C09-AB3E-D8D6-4A15-38F3DE178C56}"/>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1" name="TextBox 10">
            <a:extLst>
              <a:ext uri="{FF2B5EF4-FFF2-40B4-BE49-F238E27FC236}">
                <a16:creationId xmlns:a16="http://schemas.microsoft.com/office/drawing/2014/main" id="{CB6D7D84-4CA3-275F-B517-4170AD6CBA67}"/>
              </a:ext>
            </a:extLst>
          </p:cNvPr>
          <p:cNvSpPr txBox="1"/>
          <p:nvPr/>
        </p:nvSpPr>
        <p:spPr>
          <a:xfrm>
            <a:off x="3187810" y="6164"/>
            <a:ext cx="6094369" cy="523220"/>
          </a:xfrm>
          <a:prstGeom prst="rect">
            <a:avLst/>
          </a:prstGeom>
          <a:noFill/>
        </p:spPr>
        <p:txBody>
          <a:bodyPr wrap="square">
            <a:spAutoFit/>
          </a:bodyPr>
          <a:lstStyle/>
          <a:p>
            <a:r>
              <a:rPr lang="en-GB" sz="2800" dirty="0">
                <a:solidFill>
                  <a:srgbClr val="92D050"/>
                </a:solidFill>
                <a:latin typeface="Consolas"/>
              </a:rPr>
              <a:t>Feedforward (the </a:t>
            </a:r>
            <a:r>
              <a:rPr lang="en-US" sz="2800" dirty="0">
                <a:solidFill>
                  <a:srgbClr val="92D050"/>
                </a:solidFill>
                <a:latin typeface="Consolas"/>
              </a:rPr>
              <a:t>prediction</a:t>
            </a:r>
            <a:r>
              <a:rPr lang="en-GB" sz="2800" dirty="0">
                <a:solidFill>
                  <a:srgbClr val="92D050"/>
                </a:solidFill>
                <a:latin typeface="Consolas"/>
              </a:rPr>
              <a:t>)</a:t>
            </a:r>
          </a:p>
        </p:txBody>
      </p:sp>
      <p:sp>
        <p:nvSpPr>
          <p:cNvPr id="12" name="Rectangle 11">
            <a:extLst>
              <a:ext uri="{FF2B5EF4-FFF2-40B4-BE49-F238E27FC236}">
                <a16:creationId xmlns:a16="http://schemas.microsoft.com/office/drawing/2014/main" id="{6A2B5864-945B-4410-59FB-715BF2365126}"/>
              </a:ext>
            </a:extLst>
          </p:cNvPr>
          <p:cNvSpPr/>
          <p:nvPr/>
        </p:nvSpPr>
        <p:spPr>
          <a:xfrm>
            <a:off x="6820723" y="1854918"/>
            <a:ext cx="700428" cy="2632888"/>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4113681A-EE03-ACDC-B70F-5C676CE57967}"/>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5" name="Straight Arrow Connector 14">
            <a:extLst>
              <a:ext uri="{FF2B5EF4-FFF2-40B4-BE49-F238E27FC236}">
                <a16:creationId xmlns:a16="http://schemas.microsoft.com/office/drawing/2014/main" id="{95DEF1DF-AD71-09BB-4BA1-300D067AA7CC}"/>
              </a:ext>
            </a:extLst>
          </p:cNvPr>
          <p:cNvCxnSpPr>
            <a:cxnSpLocks/>
            <a:endCxn id="14"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550EB4C-5AA0-1D71-ADD6-47ED6768AE79}"/>
              </a:ext>
            </a:extLst>
          </p:cNvPr>
          <p:cNvCxnSpPr>
            <a:cxnSpLocks/>
            <a:endCxn id="14"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7565E56-B11B-C778-99E9-C37ED7E2A21B}"/>
              </a:ext>
            </a:extLst>
          </p:cNvPr>
          <p:cNvCxnSpPr>
            <a:cxnSpLocks/>
            <a:endCxn id="14"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118783D-81A6-C75B-BCB6-9D41BD2CB3DE}"/>
              </a:ext>
            </a:extLst>
          </p:cNvPr>
          <p:cNvCxnSpPr>
            <a:cxnSpLocks/>
          </p:cNvCxnSpPr>
          <p:nvPr/>
        </p:nvCxnSpPr>
        <p:spPr>
          <a:xfrm>
            <a:off x="747157" y="990600"/>
            <a:ext cx="6415643"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9044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DDE28-2EF6-4849-BA1F-25CAE0E9389C}"/>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9E0884BD-2A7B-2602-F501-D97499CB3C0E}"/>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80EDBC32-0412-4AD8-E998-3B4427FC69C4}"/>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DD1D3210-C140-5B45-7966-1AD13CA99A7F}"/>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9A6AC8F8-319C-62C6-DD9B-FAE7DBC0A1C6}"/>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232B9B6C-5D28-2270-1228-35A58860CFD6}"/>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47A91552-E06B-D282-CE1B-7D838745129F}"/>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814AD6FF-007D-9325-B843-3ABEEFE50C93}"/>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A3A396D-E66C-22DC-6C3F-67E66ABF904F}"/>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5BDFE87-D02C-0EE4-813A-E35BB3FCDECD}"/>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A4F6C72F-B664-13E8-9369-0F68049F324F}"/>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FE0EC0EC-6EB0-2359-5AFC-E28C452A007C}"/>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9C1479A8-F176-D2D6-AE38-77DA2B87BFC0}"/>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8D4579C-2D3F-A999-4613-BB75BD89F5A7}"/>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8F7C585-CFC9-6E4B-9080-6CC79BE7A1C1}"/>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3384218-74C3-138E-CEE2-BA3AFA4ACC34}"/>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66FFDAE-A3D9-713D-F251-FA4ABD5F33DB}"/>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5D88F19-4571-C7AE-CF50-40ED035BE067}"/>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C6B2277-D076-5E30-DE14-6778AD18E5C3}"/>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1CD17A0-E193-F506-EE9A-F467F9EAD94B}"/>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516D4B9B-CA17-FA0C-C23D-B503E7479F7E}"/>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F63C570C-81AE-010C-FF83-A56680902B35}"/>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CF29D045-9AC6-952D-D187-1DC23BA8106E}"/>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672C0244-7143-A9B9-F259-8FBC8DF03B46}"/>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FB07D013-ECE9-DCE7-8C77-7E053C0A2942}"/>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97CD1FA6-9E94-8E42-D2DD-88260FDD8A83}"/>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EA0F92F-6325-A2F4-2EBE-85B0E4F5817D}"/>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225E950-17B4-7160-F1D9-0711134FFBEC}"/>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677AF7D2-9302-420D-4832-1542DBAB555F}"/>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001668A8-B818-468A-B903-AF7A02495556}"/>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32F816F4-F671-8EC1-F692-1EA59C5296CB}"/>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C5189E6-34A9-BF76-CC49-665B79761547}"/>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D7B879A8-4F22-7A17-645C-4CFAC5F2470F}"/>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F797F923-20A1-2009-4B69-18B53ACBFC50}"/>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15F0E8A1-3ED2-BE33-9DC1-86210B4743FA}"/>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280DBA1C-C950-C2D6-DAA0-8E67354E4CCB}"/>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707F633C-2BD9-FCE7-98D6-270F1DF96C5B}"/>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5F5A2B41-A15D-5480-2979-B0C64F548C96}"/>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7EFC7C5-E8F8-8CD2-1B7E-B06DA7495826}"/>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C48A54C1-1C1C-F763-4A8E-3116B41FB189}"/>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46B8E8C9-0883-798C-98EF-BFF901F02A25}"/>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8EB76DEB-AE1D-A37A-A282-4BEB4DDAC716}"/>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C9E2175A-8E1C-3F71-6474-5DEDFB4A7E51}"/>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21A8674-6018-EFDF-5028-78E3114CDBAC}"/>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1235577E-674F-C3BF-C0B2-0D31226D4705}"/>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AF3BBAAC-4841-427A-F35E-DB908EFD8380}"/>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1" name="TextBox 10">
            <a:extLst>
              <a:ext uri="{FF2B5EF4-FFF2-40B4-BE49-F238E27FC236}">
                <a16:creationId xmlns:a16="http://schemas.microsoft.com/office/drawing/2014/main" id="{F10F0F19-4F2A-3730-16D8-890BA1FB26E3}"/>
              </a:ext>
            </a:extLst>
          </p:cNvPr>
          <p:cNvSpPr txBox="1"/>
          <p:nvPr/>
        </p:nvSpPr>
        <p:spPr>
          <a:xfrm>
            <a:off x="3187810" y="6164"/>
            <a:ext cx="6094369" cy="523220"/>
          </a:xfrm>
          <a:prstGeom prst="rect">
            <a:avLst/>
          </a:prstGeom>
          <a:noFill/>
        </p:spPr>
        <p:txBody>
          <a:bodyPr wrap="square">
            <a:spAutoFit/>
          </a:bodyPr>
          <a:lstStyle/>
          <a:p>
            <a:r>
              <a:rPr lang="en-GB" sz="2800" dirty="0">
                <a:solidFill>
                  <a:srgbClr val="92D050"/>
                </a:solidFill>
                <a:latin typeface="Consolas"/>
              </a:rPr>
              <a:t>Feedforward (the </a:t>
            </a:r>
            <a:r>
              <a:rPr lang="en-US" sz="2800" dirty="0">
                <a:solidFill>
                  <a:srgbClr val="92D050"/>
                </a:solidFill>
                <a:latin typeface="Consolas"/>
              </a:rPr>
              <a:t>prediction</a:t>
            </a:r>
            <a:r>
              <a:rPr lang="en-GB" sz="2800" dirty="0">
                <a:solidFill>
                  <a:srgbClr val="92D050"/>
                </a:solidFill>
                <a:latin typeface="Consolas"/>
              </a:rPr>
              <a:t>)</a:t>
            </a:r>
          </a:p>
        </p:txBody>
      </p:sp>
      <p:sp>
        <p:nvSpPr>
          <p:cNvPr id="14" name="Oval 13">
            <a:extLst>
              <a:ext uri="{FF2B5EF4-FFF2-40B4-BE49-F238E27FC236}">
                <a16:creationId xmlns:a16="http://schemas.microsoft.com/office/drawing/2014/main" id="{64DC826C-4B4B-10F0-E6C4-CFC3DB38CC7B}"/>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5" name="Straight Arrow Connector 14">
            <a:extLst>
              <a:ext uri="{FF2B5EF4-FFF2-40B4-BE49-F238E27FC236}">
                <a16:creationId xmlns:a16="http://schemas.microsoft.com/office/drawing/2014/main" id="{3B161B8E-BEDD-8ADE-8B96-31A43148C6DC}"/>
              </a:ext>
            </a:extLst>
          </p:cNvPr>
          <p:cNvCxnSpPr>
            <a:cxnSpLocks/>
            <a:endCxn id="14"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9F722C4-4563-9602-FDEC-571F6DAE5948}"/>
              </a:ext>
            </a:extLst>
          </p:cNvPr>
          <p:cNvCxnSpPr>
            <a:cxnSpLocks/>
            <a:endCxn id="14"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D081EB5-AB26-BB04-FA59-76B10937AE70}"/>
              </a:ext>
            </a:extLst>
          </p:cNvPr>
          <p:cNvCxnSpPr>
            <a:cxnSpLocks/>
            <a:endCxn id="14"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90236EC-349C-B76D-5DD7-49AD7B758BB2}"/>
              </a:ext>
            </a:extLst>
          </p:cNvPr>
          <p:cNvSpPr/>
          <p:nvPr/>
        </p:nvSpPr>
        <p:spPr>
          <a:xfrm>
            <a:off x="8634479" y="2510596"/>
            <a:ext cx="647700" cy="1270101"/>
          </a:xfrm>
          <a:prstGeom prst="rect">
            <a:avLst/>
          </a:prstGeom>
          <a:noFill/>
          <a:ln w="28575">
            <a:solidFill>
              <a:srgbClr val="C8E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C00319BE-71DB-F64E-9A33-0C429265F2DF}"/>
              </a:ext>
            </a:extLst>
          </p:cNvPr>
          <p:cNvSpPr txBox="1"/>
          <p:nvPr/>
        </p:nvSpPr>
        <p:spPr>
          <a:xfrm>
            <a:off x="9984925" y="2845384"/>
            <a:ext cx="568303" cy="584775"/>
          </a:xfrm>
          <a:prstGeom prst="rect">
            <a:avLst/>
          </a:prstGeom>
          <a:noFill/>
        </p:spPr>
        <p:txBody>
          <a:bodyPr wrap="square">
            <a:spAutoFit/>
          </a:bodyPr>
          <a:lstStyle/>
          <a:p>
            <a:r>
              <a:rPr lang="cy-GB" sz="3200" b="1" i="0" dirty="0">
                <a:solidFill>
                  <a:srgbClr val="C8E5C1"/>
                </a:solidFill>
                <a:effectLst/>
                <a:latin typeface="Arial" panose="020B0604020202020204" pitchFamily="34" charset="0"/>
              </a:rPr>
              <a:t>ŷ</a:t>
            </a:r>
            <a:endParaRPr lang="en-GB" sz="3200" dirty="0">
              <a:solidFill>
                <a:srgbClr val="C8E5C1"/>
              </a:solidFill>
            </a:endParaRPr>
          </a:p>
        </p:txBody>
      </p:sp>
      <p:cxnSp>
        <p:nvCxnSpPr>
          <p:cNvPr id="19" name="Straight Arrow Connector 18">
            <a:extLst>
              <a:ext uri="{FF2B5EF4-FFF2-40B4-BE49-F238E27FC236}">
                <a16:creationId xmlns:a16="http://schemas.microsoft.com/office/drawing/2014/main" id="{2E291479-6B15-3F79-DB4A-FF311FB0A09E}"/>
              </a:ext>
            </a:extLst>
          </p:cNvPr>
          <p:cNvCxnSpPr>
            <a:cxnSpLocks/>
          </p:cNvCxnSpPr>
          <p:nvPr/>
        </p:nvCxnSpPr>
        <p:spPr>
          <a:xfrm>
            <a:off x="9261497" y="3169153"/>
            <a:ext cx="568303" cy="22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D8F181A-4032-FB61-6748-D82E0C4A4D01}"/>
              </a:ext>
            </a:extLst>
          </p:cNvPr>
          <p:cNvSpPr txBox="1"/>
          <p:nvPr/>
        </p:nvSpPr>
        <p:spPr>
          <a:xfrm>
            <a:off x="9552359" y="3503994"/>
            <a:ext cx="1581150" cy="461665"/>
          </a:xfrm>
          <a:prstGeom prst="rect">
            <a:avLst/>
          </a:prstGeom>
          <a:noFill/>
        </p:spPr>
        <p:txBody>
          <a:bodyPr wrap="square">
            <a:spAutoFit/>
          </a:bodyPr>
          <a:lstStyle/>
          <a:p>
            <a:pPr algn="ctr">
              <a:buNone/>
            </a:pPr>
            <a:r>
              <a:rPr lang="en-GB" sz="2400" b="1" dirty="0"/>
              <a:t>prediction</a:t>
            </a:r>
          </a:p>
        </p:txBody>
      </p:sp>
      <p:cxnSp>
        <p:nvCxnSpPr>
          <p:cNvPr id="24" name="Straight Arrow Connector 23">
            <a:extLst>
              <a:ext uri="{FF2B5EF4-FFF2-40B4-BE49-F238E27FC236}">
                <a16:creationId xmlns:a16="http://schemas.microsoft.com/office/drawing/2014/main" id="{BD1018F4-19A7-56E2-6A48-D820D71B1AF5}"/>
              </a:ext>
            </a:extLst>
          </p:cNvPr>
          <p:cNvCxnSpPr>
            <a:cxnSpLocks/>
          </p:cNvCxnSpPr>
          <p:nvPr/>
        </p:nvCxnSpPr>
        <p:spPr>
          <a:xfrm>
            <a:off x="747157" y="990600"/>
            <a:ext cx="8244443" cy="7620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3431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80638-A65E-363E-514C-B0E5BED9F008}"/>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A98772F6-F45E-5E0B-E174-CAE081CD34F5}"/>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36ED74C7-DF0D-FDB4-03E1-214FE5F1FCD0}"/>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A8DAC23D-00A3-F201-6FFF-445534A5A63F}"/>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CF7F1665-5EA5-C408-A548-7F73EBD65B17}"/>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6" name="Straight Arrow Connector 5">
            <a:extLst>
              <a:ext uri="{FF2B5EF4-FFF2-40B4-BE49-F238E27FC236}">
                <a16:creationId xmlns:a16="http://schemas.microsoft.com/office/drawing/2014/main" id="{750A08D9-CF6F-6223-4AAC-C1A12041C787}"/>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BB2AC72E-4BD2-0EB5-B1D2-4C31F41624EF}"/>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F0845DA4-3796-9157-0A5D-48E70CD2478E}"/>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4E21F32-855F-B88B-F9CD-EEF9AE6EA05A}"/>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B21DD88-DF9C-3591-A733-31DAF23D28FF}"/>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2E72442A-D7DF-FC6C-B2E0-438C8A4A8BF3}"/>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C6EC2EB8-5346-F483-7463-5B39726D650F}"/>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E0AEA4EF-4D2A-1A68-994C-5887945A500A}"/>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1B34FA6-C09B-8DED-A13E-BE0FB825DBAA}"/>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7F831456-AB61-1501-A4CF-3FB424997708}"/>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2773D7C-E3B9-3523-C34F-DC1792AE1BEC}"/>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F4ECB99-08A2-CE3B-6917-82246D8B8694}"/>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A9891C7-1DD9-9BD9-C889-71C24E14B185}"/>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E95C6FA-9ED5-F7D0-9A05-E785E6D9161F}"/>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849E266-0701-EC3B-A688-632BE0699B14}"/>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E4F0443-C52A-C903-3749-7835CCECE652}"/>
              </a:ext>
            </a:extLst>
          </p:cNvPr>
          <p:cNvSpPr txBox="1"/>
          <p:nvPr/>
        </p:nvSpPr>
        <p:spPr>
          <a:xfrm>
            <a:off x="0" y="4853941"/>
            <a:ext cx="1581150" cy="461665"/>
          </a:xfrm>
          <a:prstGeom prst="rect">
            <a:avLst/>
          </a:prstGeom>
          <a:noFill/>
        </p:spPr>
        <p:txBody>
          <a:bodyPr wrap="square">
            <a:spAutoFit/>
          </a:bodyPr>
          <a:lstStyle/>
          <a:p>
            <a:pPr algn="ctr">
              <a:buNone/>
            </a:pPr>
            <a:r>
              <a:rPr lang="en-GB" sz="2400" b="1" dirty="0"/>
              <a:t>X</a:t>
            </a:r>
            <a:r>
              <a:rPr lang="en-GB" sz="2000" b="1" dirty="0"/>
              <a:t>1</a:t>
            </a:r>
            <a:endParaRPr lang="en-GB" sz="2400" b="1" dirty="0"/>
          </a:p>
        </p:txBody>
      </p:sp>
      <p:sp>
        <p:nvSpPr>
          <p:cNvPr id="46" name="Oval 45">
            <a:extLst>
              <a:ext uri="{FF2B5EF4-FFF2-40B4-BE49-F238E27FC236}">
                <a16:creationId xmlns:a16="http://schemas.microsoft.com/office/drawing/2014/main" id="{90D2153B-6662-F400-8D65-4A465A49D5A5}"/>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42D803F0-CA93-0816-604F-736C7ED8F168}"/>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71403A43-D4FC-3B65-563A-44EC0328018B}"/>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B4132EA3-8EF9-4DE4-4665-696F9539CC8A}"/>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B28AC35E-CFA1-3FF2-0790-AAC6203CE1E3}"/>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D0B6CCF-5963-5FEA-96B7-AF038162BD36}"/>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49A5D63-714D-620F-135A-D490949CFB1A}"/>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A369D4A-11D3-E1D8-3F5B-1783691A396A}"/>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8D4B0978-44AF-7409-C40E-109F6BBE3020}"/>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4E793966-CD0D-1413-FF9B-9EBCD5D7417E}"/>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5CE88EA4-A24D-D500-D939-B9C30D0416BA}"/>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13756E7D-2CDD-8E1F-B1B1-B065D6E00CD8}"/>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6EA005E0-FCFA-0482-F8BD-9E421C66C107}"/>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59C487C6-9B69-8C91-34A6-4F1EF7D024F6}"/>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5D227AAE-42B2-84A1-9BC1-D70283C01A81}"/>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45616FBA-CCDD-DA49-183A-05BABDC6CE9C}"/>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1A2D3B8D-561F-82DF-2EF5-5FDD5B5EAA28}"/>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48DB6157-6F8E-2F7F-8536-DFD6F8D408DE}"/>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B9418235-13D6-860B-816C-C08B95494C2C}"/>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E61FD369-C16B-EE00-77C5-EB0724F73E5D}"/>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6CE5104F-438D-85AF-3798-E0306EA2B1B6}"/>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4EFC6B56-7663-8DC7-0FCF-01964F4C2A57}"/>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DA38020C-F153-ECA3-C09F-D8FD6C70A9F4}"/>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5A3A22B1-69B1-7C05-E2CE-14510C0819F4}"/>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2156EA5-42DB-1129-80E8-F08F963D1691}"/>
              </a:ext>
            </a:extLst>
          </p:cNvPr>
          <p:cNvSpPr txBox="1"/>
          <p:nvPr/>
        </p:nvSpPr>
        <p:spPr>
          <a:xfrm>
            <a:off x="4144431" y="38800"/>
            <a:ext cx="6094369" cy="584775"/>
          </a:xfrm>
          <a:prstGeom prst="rect">
            <a:avLst/>
          </a:prstGeom>
          <a:noFill/>
        </p:spPr>
        <p:txBody>
          <a:bodyPr wrap="square">
            <a:spAutoFit/>
          </a:bodyPr>
          <a:lstStyle/>
          <a:p>
            <a:r>
              <a:rPr lang="en-US" sz="3200" dirty="0">
                <a:solidFill>
                  <a:srgbClr val="92D050"/>
                </a:solidFill>
                <a:latin typeface="Consolas"/>
              </a:rPr>
              <a:t>Measuring Error</a:t>
            </a:r>
            <a:endParaRPr lang="en-GB" sz="3200" dirty="0">
              <a:solidFill>
                <a:srgbClr val="92D050"/>
              </a:solidFill>
              <a:latin typeface="Consolas"/>
            </a:endParaRPr>
          </a:p>
        </p:txBody>
      </p:sp>
      <p:sp>
        <p:nvSpPr>
          <p:cNvPr id="14" name="Oval 13">
            <a:extLst>
              <a:ext uri="{FF2B5EF4-FFF2-40B4-BE49-F238E27FC236}">
                <a16:creationId xmlns:a16="http://schemas.microsoft.com/office/drawing/2014/main" id="{33C8E302-F172-8899-F83F-D1B6DC5F82DB}"/>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5" name="Straight Arrow Connector 14">
            <a:extLst>
              <a:ext uri="{FF2B5EF4-FFF2-40B4-BE49-F238E27FC236}">
                <a16:creationId xmlns:a16="http://schemas.microsoft.com/office/drawing/2014/main" id="{8D0B7B0A-A88F-3565-F050-7B3B9DCDAE99}"/>
              </a:ext>
            </a:extLst>
          </p:cNvPr>
          <p:cNvCxnSpPr>
            <a:cxnSpLocks/>
            <a:endCxn id="14"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3F9FA8E-625D-2FD8-6107-1E98D7516877}"/>
              </a:ext>
            </a:extLst>
          </p:cNvPr>
          <p:cNvCxnSpPr>
            <a:cxnSpLocks/>
            <a:endCxn id="14"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D1169BD-71DA-4DA0-2ED2-7749BA8C6861}"/>
              </a:ext>
            </a:extLst>
          </p:cNvPr>
          <p:cNvCxnSpPr>
            <a:cxnSpLocks/>
            <a:endCxn id="14"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687DA62-2237-06FA-9806-E0F1FE706D93}"/>
              </a:ext>
            </a:extLst>
          </p:cNvPr>
          <p:cNvSpPr/>
          <p:nvPr/>
        </p:nvSpPr>
        <p:spPr>
          <a:xfrm>
            <a:off x="8634479" y="2510596"/>
            <a:ext cx="647700" cy="1270101"/>
          </a:xfrm>
          <a:prstGeom prst="rect">
            <a:avLst/>
          </a:prstGeom>
          <a:noFill/>
          <a:ln w="28575">
            <a:solidFill>
              <a:srgbClr val="C8E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93ED22FA-5A76-346A-6D21-EC6EC239792C}"/>
              </a:ext>
            </a:extLst>
          </p:cNvPr>
          <p:cNvSpPr txBox="1"/>
          <p:nvPr/>
        </p:nvSpPr>
        <p:spPr>
          <a:xfrm>
            <a:off x="9984925" y="2845384"/>
            <a:ext cx="750720" cy="584775"/>
          </a:xfrm>
          <a:prstGeom prst="rect">
            <a:avLst/>
          </a:prstGeom>
          <a:noFill/>
        </p:spPr>
        <p:txBody>
          <a:bodyPr wrap="square">
            <a:spAutoFit/>
          </a:bodyPr>
          <a:lstStyle/>
          <a:p>
            <a:r>
              <a:rPr lang="cy-GB" sz="3200" b="1" i="0" dirty="0">
                <a:solidFill>
                  <a:srgbClr val="C8E5C1"/>
                </a:solidFill>
                <a:effectLst/>
                <a:latin typeface="Arial" panose="020B0604020202020204" pitchFamily="34" charset="0"/>
              </a:rPr>
              <a:t>ŷ</a:t>
            </a:r>
            <a:r>
              <a:rPr lang="cy-GB" b="1" i="0" dirty="0">
                <a:solidFill>
                  <a:srgbClr val="C8E5C1"/>
                </a:solidFill>
                <a:effectLst/>
                <a:latin typeface="Arial" panose="020B0604020202020204" pitchFamily="34" charset="0"/>
              </a:rPr>
              <a:t>1</a:t>
            </a:r>
            <a:endParaRPr lang="en-GB" sz="3200" dirty="0">
              <a:solidFill>
                <a:srgbClr val="C8E5C1"/>
              </a:solidFill>
            </a:endParaRPr>
          </a:p>
        </p:txBody>
      </p:sp>
      <p:cxnSp>
        <p:nvCxnSpPr>
          <p:cNvPr id="19" name="Straight Arrow Connector 18">
            <a:extLst>
              <a:ext uri="{FF2B5EF4-FFF2-40B4-BE49-F238E27FC236}">
                <a16:creationId xmlns:a16="http://schemas.microsoft.com/office/drawing/2014/main" id="{CCDEE468-B77A-C6BC-4C0C-53F90FBA1EE6}"/>
              </a:ext>
            </a:extLst>
          </p:cNvPr>
          <p:cNvCxnSpPr>
            <a:cxnSpLocks/>
          </p:cNvCxnSpPr>
          <p:nvPr/>
        </p:nvCxnSpPr>
        <p:spPr>
          <a:xfrm>
            <a:off x="9261497" y="3169153"/>
            <a:ext cx="568303" cy="22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BBFB74E-E5FE-B257-E27F-681571C68914}"/>
              </a:ext>
            </a:extLst>
          </p:cNvPr>
          <p:cNvSpPr txBox="1"/>
          <p:nvPr/>
        </p:nvSpPr>
        <p:spPr>
          <a:xfrm>
            <a:off x="8382000" y="4236885"/>
            <a:ext cx="3276600" cy="584775"/>
          </a:xfrm>
          <a:prstGeom prst="rect">
            <a:avLst/>
          </a:prstGeom>
          <a:noFill/>
        </p:spPr>
        <p:txBody>
          <a:bodyPr wrap="square">
            <a:spAutoFit/>
          </a:bodyPr>
          <a:lstStyle/>
          <a:p>
            <a:r>
              <a:rPr lang="cy-GB" sz="3200" b="1" dirty="0">
                <a:solidFill>
                  <a:srgbClr val="C8E5C1"/>
                </a:solidFill>
                <a:latin typeface="Arial" panose="020B0604020202020204" pitchFamily="34" charset="0"/>
              </a:rPr>
              <a:t>Error: (y</a:t>
            </a:r>
            <a:r>
              <a:rPr lang="cy-GB" b="1" i="0" dirty="0">
                <a:solidFill>
                  <a:srgbClr val="C8E5C1"/>
                </a:solidFill>
                <a:effectLst/>
                <a:latin typeface="Arial" panose="020B0604020202020204" pitchFamily="34" charset="0"/>
              </a:rPr>
              <a:t>1</a:t>
            </a:r>
            <a:r>
              <a:rPr lang="cy-GB" sz="3200" b="1" i="0" dirty="0">
                <a:solidFill>
                  <a:srgbClr val="C8E5C1"/>
                </a:solidFill>
                <a:effectLst/>
                <a:latin typeface="Arial" panose="020B0604020202020204" pitchFamily="34" charset="0"/>
              </a:rPr>
              <a:t> - ŷ</a:t>
            </a:r>
            <a:r>
              <a:rPr lang="cy-GB" b="1" i="0" dirty="0">
                <a:solidFill>
                  <a:srgbClr val="C8E5C1"/>
                </a:solidFill>
                <a:effectLst/>
                <a:latin typeface="Arial" panose="020B0604020202020204" pitchFamily="34" charset="0"/>
              </a:rPr>
              <a:t>1</a:t>
            </a:r>
            <a:r>
              <a:rPr lang="cy-GB" sz="2800" b="1" i="0" dirty="0">
                <a:solidFill>
                  <a:srgbClr val="C8E5C1"/>
                </a:solidFill>
                <a:effectLst/>
                <a:latin typeface="Arial" panose="020B0604020202020204" pitchFamily="34" charset="0"/>
              </a:rPr>
              <a:t>)</a:t>
            </a:r>
            <a:r>
              <a:rPr lang="cy-GB" sz="2800" b="1" i="0" baseline="30000" dirty="0">
                <a:solidFill>
                  <a:srgbClr val="C8E5C1"/>
                </a:solidFill>
                <a:effectLst/>
                <a:latin typeface="Arial" panose="020B0604020202020204" pitchFamily="34" charset="0"/>
              </a:rPr>
              <a:t>2</a:t>
            </a:r>
            <a:endParaRPr lang="en-GB" sz="3200" baseline="30000" dirty="0">
              <a:solidFill>
                <a:srgbClr val="C8E5C1"/>
              </a:solidFill>
            </a:endParaRPr>
          </a:p>
        </p:txBody>
      </p:sp>
      <p:sp>
        <p:nvSpPr>
          <p:cNvPr id="24" name="TextBox 23">
            <a:extLst>
              <a:ext uri="{FF2B5EF4-FFF2-40B4-BE49-F238E27FC236}">
                <a16:creationId xmlns:a16="http://schemas.microsoft.com/office/drawing/2014/main" id="{EAA177AB-1E8A-BF44-E622-8B159DFC38B5}"/>
              </a:ext>
            </a:extLst>
          </p:cNvPr>
          <p:cNvSpPr txBox="1"/>
          <p:nvPr/>
        </p:nvSpPr>
        <p:spPr>
          <a:xfrm>
            <a:off x="304800" y="668753"/>
            <a:ext cx="4755896" cy="584775"/>
          </a:xfrm>
          <a:prstGeom prst="rect">
            <a:avLst/>
          </a:prstGeom>
          <a:noFill/>
        </p:spPr>
        <p:txBody>
          <a:bodyPr wrap="square">
            <a:spAutoFit/>
          </a:bodyPr>
          <a:lstStyle/>
          <a:p>
            <a:r>
              <a:rPr lang="cy-GB" sz="3200" dirty="0">
                <a:solidFill>
                  <a:srgbClr val="C8E5C1"/>
                </a:solidFill>
                <a:latin typeface="Arial" panose="020B0604020202020204" pitchFamily="34" charset="0"/>
              </a:rPr>
              <a:t>In data we have (x</a:t>
            </a:r>
            <a:r>
              <a:rPr lang="cy-GB" i="0" dirty="0">
                <a:solidFill>
                  <a:srgbClr val="C8E5C1"/>
                </a:solidFill>
                <a:effectLst/>
                <a:latin typeface="Arial" panose="020B0604020202020204" pitchFamily="34" charset="0"/>
              </a:rPr>
              <a:t>1</a:t>
            </a:r>
            <a:r>
              <a:rPr lang="cy-GB" sz="3200" dirty="0">
                <a:solidFill>
                  <a:srgbClr val="C8E5C1"/>
                </a:solidFill>
                <a:latin typeface="Arial" panose="020B0604020202020204" pitchFamily="34" charset="0"/>
              </a:rPr>
              <a:t>, y</a:t>
            </a:r>
            <a:r>
              <a:rPr lang="cy-GB" i="0" dirty="0">
                <a:solidFill>
                  <a:srgbClr val="C8E5C1"/>
                </a:solidFill>
                <a:effectLst/>
                <a:latin typeface="Arial" panose="020B0604020202020204" pitchFamily="34" charset="0"/>
              </a:rPr>
              <a:t>1</a:t>
            </a:r>
            <a:r>
              <a:rPr lang="cy-GB" sz="2800" i="0" dirty="0">
                <a:solidFill>
                  <a:srgbClr val="C8E5C1"/>
                </a:solidFill>
                <a:effectLst/>
                <a:latin typeface="Arial" panose="020B0604020202020204" pitchFamily="34" charset="0"/>
              </a:rPr>
              <a:t>)</a:t>
            </a:r>
            <a:endParaRPr lang="en-GB" sz="3200" baseline="30000" dirty="0">
              <a:solidFill>
                <a:srgbClr val="C8E5C1"/>
              </a:solidFill>
            </a:endParaRPr>
          </a:p>
        </p:txBody>
      </p:sp>
      <p:cxnSp>
        <p:nvCxnSpPr>
          <p:cNvPr id="20" name="Straight Arrow Connector 19">
            <a:extLst>
              <a:ext uri="{FF2B5EF4-FFF2-40B4-BE49-F238E27FC236}">
                <a16:creationId xmlns:a16="http://schemas.microsoft.com/office/drawing/2014/main" id="{437C08A8-4DB7-8220-D721-3A7177253D6A}"/>
              </a:ext>
            </a:extLst>
          </p:cNvPr>
          <p:cNvCxnSpPr>
            <a:cxnSpLocks/>
          </p:cNvCxnSpPr>
          <p:nvPr/>
        </p:nvCxnSpPr>
        <p:spPr>
          <a:xfrm>
            <a:off x="1994357" y="1457929"/>
            <a:ext cx="8244443" cy="7620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793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3B350-6177-4A51-D7D0-C95C9A9B87E2}"/>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658145E0-AA37-B9C3-2502-ACAF35865358}"/>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0.5</a:t>
            </a:r>
            <a:endParaRPr lang="en-GB" sz="1600" dirty="0"/>
          </a:p>
        </p:txBody>
      </p:sp>
      <p:sp>
        <p:nvSpPr>
          <p:cNvPr id="3" name="Oval 2">
            <a:extLst>
              <a:ext uri="{FF2B5EF4-FFF2-40B4-BE49-F238E27FC236}">
                <a16:creationId xmlns:a16="http://schemas.microsoft.com/office/drawing/2014/main" id="{BAF2E709-0ED6-7372-614D-4AD6F8BF86FE}"/>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4" name="Oval 3">
            <a:extLst>
              <a:ext uri="{FF2B5EF4-FFF2-40B4-BE49-F238E27FC236}">
                <a16:creationId xmlns:a16="http://schemas.microsoft.com/office/drawing/2014/main" id="{620DB603-26CE-861B-15EE-713CF34DEB60}"/>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5" name="Oval 4">
            <a:extLst>
              <a:ext uri="{FF2B5EF4-FFF2-40B4-BE49-F238E27FC236}">
                <a16:creationId xmlns:a16="http://schemas.microsoft.com/office/drawing/2014/main" id="{B8789A62-5644-FCDD-9865-D3EE05D3D08D}"/>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0.8</a:t>
            </a:r>
            <a:endParaRPr lang="en-GB" sz="1600" dirty="0"/>
          </a:p>
        </p:txBody>
      </p:sp>
      <p:cxnSp>
        <p:nvCxnSpPr>
          <p:cNvPr id="6" name="Straight Arrow Connector 5">
            <a:extLst>
              <a:ext uri="{FF2B5EF4-FFF2-40B4-BE49-F238E27FC236}">
                <a16:creationId xmlns:a16="http://schemas.microsoft.com/office/drawing/2014/main" id="{F8699521-9027-E1B8-C6EC-8840D0C599F4}"/>
              </a:ext>
            </a:extLst>
          </p:cNvPr>
          <p:cNvCxnSpPr>
            <a:cxnSpLocks/>
            <a:stCxn id="2" idx="6"/>
            <a:endCxn id="7" idx="2"/>
          </p:cNvCxnSpPr>
          <p:nvPr/>
        </p:nvCxnSpPr>
        <p:spPr>
          <a:xfrm>
            <a:off x="1186144" y="1726297"/>
            <a:ext cx="2019300" cy="13528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83AD6B8-754D-C713-8323-5C6A044EA49D}"/>
              </a:ext>
            </a:extLst>
          </p:cNvPr>
          <p:cNvSpPr/>
          <p:nvPr/>
        </p:nvSpPr>
        <p:spPr>
          <a:xfrm>
            <a:off x="3205444" y="2755967"/>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cxnSp>
        <p:nvCxnSpPr>
          <p:cNvPr id="8" name="Straight Arrow Connector 7">
            <a:extLst>
              <a:ext uri="{FF2B5EF4-FFF2-40B4-BE49-F238E27FC236}">
                <a16:creationId xmlns:a16="http://schemas.microsoft.com/office/drawing/2014/main" id="{3CDE6F9C-8F7F-BB6F-7EEE-E76058C9BA8E}"/>
              </a:ext>
            </a:extLst>
          </p:cNvPr>
          <p:cNvCxnSpPr>
            <a:cxnSpLocks/>
            <a:stCxn id="3" idx="6"/>
            <a:endCxn id="7" idx="2"/>
          </p:cNvCxnSpPr>
          <p:nvPr/>
        </p:nvCxnSpPr>
        <p:spPr>
          <a:xfrm>
            <a:off x="1138718" y="2652004"/>
            <a:ext cx="2066726" cy="4271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DFF46FE-1069-933F-6517-B7C6FD9CFB92}"/>
              </a:ext>
            </a:extLst>
          </p:cNvPr>
          <p:cNvCxnSpPr>
            <a:cxnSpLocks/>
            <a:stCxn id="5" idx="6"/>
            <a:endCxn id="7" idx="2"/>
          </p:cNvCxnSpPr>
          <p:nvPr/>
        </p:nvCxnSpPr>
        <p:spPr>
          <a:xfrm flipV="1">
            <a:off x="1124530" y="3079133"/>
            <a:ext cx="2080914" cy="13557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B420CB1-34F5-D0A4-5C09-60C00A587764}"/>
              </a:ext>
            </a:extLst>
          </p:cNvPr>
          <p:cNvCxnSpPr>
            <a:cxnSpLocks/>
            <a:stCxn id="4" idx="6"/>
            <a:endCxn id="7" idx="2"/>
          </p:cNvCxnSpPr>
          <p:nvPr/>
        </p:nvCxnSpPr>
        <p:spPr>
          <a:xfrm flipV="1">
            <a:off x="1124530" y="3079133"/>
            <a:ext cx="2080914" cy="464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4A33CA90-8020-5F0A-9625-3A9267D3EE62}"/>
              </a:ext>
            </a:extLst>
          </p:cNvPr>
          <p:cNvSpPr/>
          <p:nvPr/>
        </p:nvSpPr>
        <p:spPr>
          <a:xfrm>
            <a:off x="3205444" y="1826872"/>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23" name="Oval 22">
            <a:extLst>
              <a:ext uri="{FF2B5EF4-FFF2-40B4-BE49-F238E27FC236}">
                <a16:creationId xmlns:a16="http://schemas.microsoft.com/office/drawing/2014/main" id="{60357540-9BD3-A13B-4D6E-179FA40B33F6}"/>
              </a:ext>
            </a:extLst>
          </p:cNvPr>
          <p:cNvSpPr/>
          <p:nvPr/>
        </p:nvSpPr>
        <p:spPr>
          <a:xfrm>
            <a:off x="3176670" y="3788524"/>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29" name="Straight Arrow Connector 28">
            <a:extLst>
              <a:ext uri="{FF2B5EF4-FFF2-40B4-BE49-F238E27FC236}">
                <a16:creationId xmlns:a16="http://schemas.microsoft.com/office/drawing/2014/main" id="{92B58D09-C3FA-F3D1-E7BA-EEEE58757C57}"/>
              </a:ext>
            </a:extLst>
          </p:cNvPr>
          <p:cNvCxnSpPr>
            <a:cxnSpLocks/>
            <a:endCxn id="22" idx="2"/>
          </p:cNvCxnSpPr>
          <p:nvPr/>
        </p:nvCxnSpPr>
        <p:spPr>
          <a:xfrm>
            <a:off x="1183096" y="1722927"/>
            <a:ext cx="2022348" cy="4271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FB60F54-9371-43B6-091F-9330B5377AF4}"/>
              </a:ext>
            </a:extLst>
          </p:cNvPr>
          <p:cNvCxnSpPr>
            <a:cxnSpLocks/>
            <a:endCxn id="23" idx="2"/>
          </p:cNvCxnSpPr>
          <p:nvPr/>
        </p:nvCxnSpPr>
        <p:spPr>
          <a:xfrm>
            <a:off x="1165098" y="1711134"/>
            <a:ext cx="2011572" cy="2400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72E3FCF-7D53-31E3-9E9D-6A5CF5F2EFAC}"/>
              </a:ext>
            </a:extLst>
          </p:cNvPr>
          <p:cNvCxnSpPr>
            <a:cxnSpLocks/>
            <a:endCxn id="22" idx="2"/>
          </p:cNvCxnSpPr>
          <p:nvPr/>
        </p:nvCxnSpPr>
        <p:spPr>
          <a:xfrm flipV="1">
            <a:off x="1131624" y="2150038"/>
            <a:ext cx="2073820" cy="495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FEB1EB6-C911-817C-6203-1A11BD93A979}"/>
              </a:ext>
            </a:extLst>
          </p:cNvPr>
          <p:cNvCxnSpPr>
            <a:cxnSpLocks/>
            <a:endCxn id="23" idx="2"/>
          </p:cNvCxnSpPr>
          <p:nvPr/>
        </p:nvCxnSpPr>
        <p:spPr>
          <a:xfrm>
            <a:off x="1157006" y="2671477"/>
            <a:ext cx="2019664" cy="14402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49044F1-F7CD-225D-E8D1-9EA1591F8FBD}"/>
              </a:ext>
            </a:extLst>
          </p:cNvPr>
          <p:cNvCxnSpPr>
            <a:cxnSpLocks/>
            <a:endCxn id="22" idx="2"/>
          </p:cNvCxnSpPr>
          <p:nvPr/>
        </p:nvCxnSpPr>
        <p:spPr>
          <a:xfrm flipV="1">
            <a:off x="1009033" y="2150038"/>
            <a:ext cx="2196411" cy="14116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35BF0C7-FAB9-D4C9-314C-D038CD5D228C}"/>
              </a:ext>
            </a:extLst>
          </p:cNvPr>
          <p:cNvCxnSpPr>
            <a:cxnSpLocks/>
            <a:endCxn id="23" idx="2"/>
          </p:cNvCxnSpPr>
          <p:nvPr/>
        </p:nvCxnSpPr>
        <p:spPr>
          <a:xfrm>
            <a:off x="1043865" y="3552563"/>
            <a:ext cx="2132805" cy="5591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7CAC71F-45DE-70EA-9EC7-3278DC67E33D}"/>
              </a:ext>
            </a:extLst>
          </p:cNvPr>
          <p:cNvCxnSpPr>
            <a:cxnSpLocks/>
            <a:endCxn id="22" idx="2"/>
          </p:cNvCxnSpPr>
          <p:nvPr/>
        </p:nvCxnSpPr>
        <p:spPr>
          <a:xfrm flipV="1">
            <a:off x="1106386" y="2150038"/>
            <a:ext cx="2099058" cy="22801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556C84C-08F1-8F4C-AE8D-F15AEB29FE8E}"/>
              </a:ext>
            </a:extLst>
          </p:cNvPr>
          <p:cNvCxnSpPr>
            <a:cxnSpLocks/>
            <a:endCxn id="23" idx="2"/>
          </p:cNvCxnSpPr>
          <p:nvPr/>
        </p:nvCxnSpPr>
        <p:spPr>
          <a:xfrm flipV="1">
            <a:off x="1106386" y="4111690"/>
            <a:ext cx="2070284" cy="3157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92CF3FF-E52D-B31F-5573-1482102CA7AB}"/>
              </a:ext>
            </a:extLst>
          </p:cNvPr>
          <p:cNvSpPr txBox="1"/>
          <p:nvPr/>
        </p:nvSpPr>
        <p:spPr>
          <a:xfrm>
            <a:off x="0" y="4853941"/>
            <a:ext cx="1581150" cy="461665"/>
          </a:xfrm>
          <a:prstGeom prst="rect">
            <a:avLst/>
          </a:prstGeom>
          <a:noFill/>
        </p:spPr>
        <p:txBody>
          <a:bodyPr wrap="square">
            <a:spAutoFit/>
          </a:bodyPr>
          <a:lstStyle/>
          <a:p>
            <a:pPr algn="ctr">
              <a:buNone/>
            </a:pPr>
            <a:r>
              <a:rPr lang="en-GB" sz="2400" b="1" dirty="0"/>
              <a:t>X</a:t>
            </a:r>
            <a:r>
              <a:rPr lang="en-GB" sz="2000" b="1" dirty="0"/>
              <a:t>2</a:t>
            </a:r>
            <a:endParaRPr lang="en-GB" sz="2400" b="1" dirty="0"/>
          </a:p>
        </p:txBody>
      </p:sp>
      <p:sp>
        <p:nvSpPr>
          <p:cNvPr id="46" name="Oval 45">
            <a:extLst>
              <a:ext uri="{FF2B5EF4-FFF2-40B4-BE49-F238E27FC236}">
                <a16:creationId xmlns:a16="http://schemas.microsoft.com/office/drawing/2014/main" id="{9CD1E5F1-E3EE-492E-5049-8D18743C8E7B}"/>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9924F982-FA87-54E3-9D80-7EC5F413D9D5}"/>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13AEF48D-77E4-252B-48B8-C92301538760}"/>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55" name="Straight Arrow Connector 54">
            <a:extLst>
              <a:ext uri="{FF2B5EF4-FFF2-40B4-BE49-F238E27FC236}">
                <a16:creationId xmlns:a16="http://schemas.microsoft.com/office/drawing/2014/main" id="{8C14FDB1-6112-D692-148B-E5F1965A69C3}"/>
              </a:ext>
            </a:extLst>
          </p:cNvPr>
          <p:cNvCxnSpPr>
            <a:cxnSpLocks/>
            <a:stCxn id="22" idx="6"/>
            <a:endCxn id="47" idx="2"/>
          </p:cNvCxnSpPr>
          <p:nvPr/>
        </p:nvCxnSpPr>
        <p:spPr>
          <a:xfrm>
            <a:off x="3853144" y="2150038"/>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ACBF8F2-13AF-9AC7-FE06-F86E89065F9A}"/>
              </a:ext>
            </a:extLst>
          </p:cNvPr>
          <p:cNvCxnSpPr>
            <a:cxnSpLocks/>
          </p:cNvCxnSpPr>
          <p:nvPr/>
        </p:nvCxnSpPr>
        <p:spPr>
          <a:xfrm>
            <a:off x="3824370" y="3091490"/>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8539AD7-9052-5D43-9CEB-3B330885DCA2}"/>
              </a:ext>
            </a:extLst>
          </p:cNvPr>
          <p:cNvCxnSpPr>
            <a:cxnSpLocks/>
          </p:cNvCxnSpPr>
          <p:nvPr/>
        </p:nvCxnSpPr>
        <p:spPr>
          <a:xfrm>
            <a:off x="3816568" y="411185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9A6FA81A-C1B3-67E7-56D4-92CC14E38C31}"/>
              </a:ext>
            </a:extLst>
          </p:cNvPr>
          <p:cNvCxnSpPr>
            <a:cxnSpLocks/>
            <a:stCxn id="22" idx="6"/>
            <a:endCxn id="46" idx="2"/>
          </p:cNvCxnSpPr>
          <p:nvPr/>
        </p:nvCxnSpPr>
        <p:spPr>
          <a:xfrm>
            <a:off x="3853144" y="2150038"/>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7F84684-5358-DD5E-6A13-B9FC6DAA9602}"/>
              </a:ext>
            </a:extLst>
          </p:cNvPr>
          <p:cNvCxnSpPr>
            <a:cxnSpLocks/>
            <a:stCxn id="22" idx="6"/>
            <a:endCxn id="48" idx="2"/>
          </p:cNvCxnSpPr>
          <p:nvPr/>
        </p:nvCxnSpPr>
        <p:spPr>
          <a:xfrm>
            <a:off x="3853144" y="2150038"/>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B130CC7A-EF68-8111-BC61-B6982225F9EF}"/>
              </a:ext>
            </a:extLst>
          </p:cNvPr>
          <p:cNvCxnSpPr>
            <a:cxnSpLocks/>
          </p:cNvCxnSpPr>
          <p:nvPr/>
        </p:nvCxnSpPr>
        <p:spPr>
          <a:xfrm>
            <a:off x="3824166" y="311907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349FC3B-6973-70B2-C700-7615B564DE28}"/>
              </a:ext>
            </a:extLst>
          </p:cNvPr>
          <p:cNvCxnSpPr>
            <a:cxnSpLocks/>
            <a:endCxn id="47" idx="2"/>
          </p:cNvCxnSpPr>
          <p:nvPr/>
        </p:nvCxnSpPr>
        <p:spPr>
          <a:xfrm flipV="1">
            <a:off x="3808078" y="2168735"/>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D2D4B592-7D61-FB5A-45F4-280AA834832F}"/>
              </a:ext>
            </a:extLst>
          </p:cNvPr>
          <p:cNvCxnSpPr>
            <a:cxnSpLocks/>
            <a:endCxn id="46" idx="2"/>
          </p:cNvCxnSpPr>
          <p:nvPr/>
        </p:nvCxnSpPr>
        <p:spPr>
          <a:xfrm flipV="1">
            <a:off x="3813959" y="3119535"/>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EE5BEE7-CFEA-2C78-6CE1-DAB22AB91018}"/>
              </a:ext>
            </a:extLst>
          </p:cNvPr>
          <p:cNvCxnSpPr>
            <a:cxnSpLocks/>
          </p:cNvCxnSpPr>
          <p:nvPr/>
        </p:nvCxnSpPr>
        <p:spPr>
          <a:xfrm flipV="1">
            <a:off x="3810257" y="2124174"/>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8B6D6E1F-A155-DD15-C9CB-367FE6C91B2F}"/>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C35E2AE4-137A-3899-757F-7FB94E053870}"/>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28BB7E59-7465-59CF-07F0-A0DC48EB4D8D}"/>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77" name="Straight Arrow Connector 76">
            <a:extLst>
              <a:ext uri="{FF2B5EF4-FFF2-40B4-BE49-F238E27FC236}">
                <a16:creationId xmlns:a16="http://schemas.microsoft.com/office/drawing/2014/main" id="{93D2F5A6-2076-4CF3-1612-E7805A258D93}"/>
              </a:ext>
            </a:extLst>
          </p:cNvPr>
          <p:cNvCxnSpPr>
            <a:cxnSpLocks/>
            <a:endCxn id="75" idx="2"/>
          </p:cNvCxnSpPr>
          <p:nvPr/>
        </p:nvCxnSpPr>
        <p:spPr>
          <a:xfrm>
            <a:off x="5704117" y="2168735"/>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E7CB3FA0-A04F-EB95-960C-1745FB6FD602}"/>
              </a:ext>
            </a:extLst>
          </p:cNvPr>
          <p:cNvCxnSpPr>
            <a:cxnSpLocks/>
          </p:cNvCxnSpPr>
          <p:nvPr/>
        </p:nvCxnSpPr>
        <p:spPr>
          <a:xfrm>
            <a:off x="5675343" y="3110187"/>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6E828BA4-2E80-6B2C-92BB-9EC070478D00}"/>
              </a:ext>
            </a:extLst>
          </p:cNvPr>
          <p:cNvCxnSpPr>
            <a:cxnSpLocks/>
          </p:cNvCxnSpPr>
          <p:nvPr/>
        </p:nvCxnSpPr>
        <p:spPr>
          <a:xfrm>
            <a:off x="5667541" y="4130552"/>
            <a:ext cx="1163649" cy="18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08991C16-FDBD-AA37-F029-94401BFDF827}"/>
              </a:ext>
            </a:extLst>
          </p:cNvPr>
          <p:cNvCxnSpPr>
            <a:cxnSpLocks/>
            <a:endCxn id="74" idx="2"/>
          </p:cNvCxnSpPr>
          <p:nvPr/>
        </p:nvCxnSpPr>
        <p:spPr>
          <a:xfrm>
            <a:off x="5704117" y="2168735"/>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A57D8E28-25D5-BFEF-A713-A751FABAB15A}"/>
              </a:ext>
            </a:extLst>
          </p:cNvPr>
          <p:cNvCxnSpPr>
            <a:cxnSpLocks/>
            <a:endCxn id="76" idx="2"/>
          </p:cNvCxnSpPr>
          <p:nvPr/>
        </p:nvCxnSpPr>
        <p:spPr>
          <a:xfrm>
            <a:off x="5704117" y="2168735"/>
            <a:ext cx="1142967" cy="20052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8120D90A-D8C4-378E-E283-47B1AB96A78B}"/>
              </a:ext>
            </a:extLst>
          </p:cNvPr>
          <p:cNvCxnSpPr>
            <a:cxnSpLocks/>
          </p:cNvCxnSpPr>
          <p:nvPr/>
        </p:nvCxnSpPr>
        <p:spPr>
          <a:xfrm>
            <a:off x="5675139" y="3137772"/>
            <a:ext cx="1163649"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96C46518-1AC0-B3C6-8437-AE7600512C69}"/>
              </a:ext>
            </a:extLst>
          </p:cNvPr>
          <p:cNvCxnSpPr>
            <a:cxnSpLocks/>
            <a:endCxn id="75" idx="2"/>
          </p:cNvCxnSpPr>
          <p:nvPr/>
        </p:nvCxnSpPr>
        <p:spPr>
          <a:xfrm flipV="1">
            <a:off x="5659051" y="2187432"/>
            <a:ext cx="1208715" cy="19181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79EBB972-6E67-F0E6-4455-7BE0E2A4BF4D}"/>
              </a:ext>
            </a:extLst>
          </p:cNvPr>
          <p:cNvCxnSpPr>
            <a:cxnSpLocks/>
            <a:endCxn id="74" idx="2"/>
          </p:cNvCxnSpPr>
          <p:nvPr/>
        </p:nvCxnSpPr>
        <p:spPr>
          <a:xfrm flipV="1">
            <a:off x="5664932" y="3138232"/>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C095F397-95AE-59FB-021C-D1439C3DCD01}"/>
              </a:ext>
            </a:extLst>
          </p:cNvPr>
          <p:cNvCxnSpPr>
            <a:cxnSpLocks/>
          </p:cNvCxnSpPr>
          <p:nvPr/>
        </p:nvCxnSpPr>
        <p:spPr>
          <a:xfrm flipV="1">
            <a:off x="5661230" y="2142871"/>
            <a:ext cx="1202834" cy="9777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781052D-F915-3C41-BAAD-0A75F1461FB3}"/>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5" name="Straight Arrow Connector 14">
            <a:extLst>
              <a:ext uri="{FF2B5EF4-FFF2-40B4-BE49-F238E27FC236}">
                <a16:creationId xmlns:a16="http://schemas.microsoft.com/office/drawing/2014/main" id="{802E2246-B05E-87D2-54C4-572DB38AC300}"/>
              </a:ext>
            </a:extLst>
          </p:cNvPr>
          <p:cNvCxnSpPr>
            <a:cxnSpLocks/>
            <a:endCxn id="14" idx="2"/>
          </p:cNvCxnSpPr>
          <p:nvPr/>
        </p:nvCxnSpPr>
        <p:spPr>
          <a:xfrm>
            <a:off x="7515466" y="2187432"/>
            <a:ext cx="1119013" cy="9547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84512FF-88B5-9397-2FDA-04C1AE3C0882}"/>
              </a:ext>
            </a:extLst>
          </p:cNvPr>
          <p:cNvCxnSpPr>
            <a:cxnSpLocks/>
            <a:endCxn id="14" idx="2"/>
          </p:cNvCxnSpPr>
          <p:nvPr/>
        </p:nvCxnSpPr>
        <p:spPr>
          <a:xfrm flipV="1">
            <a:off x="7494784" y="3142146"/>
            <a:ext cx="1139695" cy="10318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16053E7-534C-A923-0D21-C1E15A4CC18C}"/>
              </a:ext>
            </a:extLst>
          </p:cNvPr>
          <p:cNvCxnSpPr>
            <a:cxnSpLocks/>
            <a:endCxn id="14" idx="2"/>
          </p:cNvCxnSpPr>
          <p:nvPr/>
        </p:nvCxnSpPr>
        <p:spPr>
          <a:xfrm>
            <a:off x="7515466" y="3138232"/>
            <a:ext cx="1119013" cy="39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A29CBBBE-04F0-C86E-6490-2F8B65DD182A}"/>
              </a:ext>
            </a:extLst>
          </p:cNvPr>
          <p:cNvSpPr/>
          <p:nvPr/>
        </p:nvSpPr>
        <p:spPr>
          <a:xfrm>
            <a:off x="8634479" y="2510596"/>
            <a:ext cx="647700" cy="1270101"/>
          </a:xfrm>
          <a:prstGeom prst="rect">
            <a:avLst/>
          </a:prstGeom>
          <a:noFill/>
          <a:ln w="28575">
            <a:solidFill>
              <a:srgbClr val="C8E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16A28719-A717-321D-41A5-BC48CE762A9C}"/>
              </a:ext>
            </a:extLst>
          </p:cNvPr>
          <p:cNvSpPr txBox="1"/>
          <p:nvPr/>
        </p:nvSpPr>
        <p:spPr>
          <a:xfrm>
            <a:off x="9984925" y="2845384"/>
            <a:ext cx="750720" cy="584775"/>
          </a:xfrm>
          <a:prstGeom prst="rect">
            <a:avLst/>
          </a:prstGeom>
          <a:noFill/>
        </p:spPr>
        <p:txBody>
          <a:bodyPr wrap="square">
            <a:spAutoFit/>
          </a:bodyPr>
          <a:lstStyle/>
          <a:p>
            <a:r>
              <a:rPr lang="cy-GB" sz="3200" b="1" i="0" dirty="0">
                <a:solidFill>
                  <a:srgbClr val="C8E5C1"/>
                </a:solidFill>
                <a:effectLst/>
                <a:latin typeface="Arial" panose="020B0604020202020204" pitchFamily="34" charset="0"/>
              </a:rPr>
              <a:t>ŷ</a:t>
            </a:r>
            <a:r>
              <a:rPr lang="cy-GB" b="1" i="0" dirty="0">
                <a:solidFill>
                  <a:srgbClr val="C8E5C1"/>
                </a:solidFill>
                <a:effectLst/>
                <a:latin typeface="Arial" panose="020B0604020202020204" pitchFamily="34" charset="0"/>
              </a:rPr>
              <a:t>2</a:t>
            </a:r>
            <a:endParaRPr lang="en-GB" sz="3200" dirty="0">
              <a:solidFill>
                <a:srgbClr val="C8E5C1"/>
              </a:solidFill>
            </a:endParaRPr>
          </a:p>
        </p:txBody>
      </p:sp>
      <p:cxnSp>
        <p:nvCxnSpPr>
          <p:cNvPr id="19" name="Straight Arrow Connector 18">
            <a:extLst>
              <a:ext uri="{FF2B5EF4-FFF2-40B4-BE49-F238E27FC236}">
                <a16:creationId xmlns:a16="http://schemas.microsoft.com/office/drawing/2014/main" id="{6EEB4796-D583-DDF0-9D51-8D7DBF4A5F66}"/>
              </a:ext>
            </a:extLst>
          </p:cNvPr>
          <p:cNvCxnSpPr>
            <a:cxnSpLocks/>
          </p:cNvCxnSpPr>
          <p:nvPr/>
        </p:nvCxnSpPr>
        <p:spPr>
          <a:xfrm>
            <a:off x="9261497" y="3169153"/>
            <a:ext cx="568303" cy="22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C2ED57A-EDC5-2A72-1711-986270658B81}"/>
              </a:ext>
            </a:extLst>
          </p:cNvPr>
          <p:cNvSpPr txBox="1"/>
          <p:nvPr/>
        </p:nvSpPr>
        <p:spPr>
          <a:xfrm>
            <a:off x="8382000" y="4236885"/>
            <a:ext cx="3276600" cy="584775"/>
          </a:xfrm>
          <a:prstGeom prst="rect">
            <a:avLst/>
          </a:prstGeom>
          <a:noFill/>
        </p:spPr>
        <p:txBody>
          <a:bodyPr wrap="square">
            <a:spAutoFit/>
          </a:bodyPr>
          <a:lstStyle/>
          <a:p>
            <a:r>
              <a:rPr lang="cy-GB" sz="3200" b="1" dirty="0">
                <a:solidFill>
                  <a:srgbClr val="C8E5C1"/>
                </a:solidFill>
                <a:latin typeface="Arial" panose="020B0604020202020204" pitchFamily="34" charset="0"/>
              </a:rPr>
              <a:t>Error: (y</a:t>
            </a:r>
            <a:r>
              <a:rPr lang="cy-GB" b="1" i="0" dirty="0">
                <a:solidFill>
                  <a:srgbClr val="C8E5C1"/>
                </a:solidFill>
                <a:effectLst/>
                <a:latin typeface="Arial" panose="020B0604020202020204" pitchFamily="34" charset="0"/>
              </a:rPr>
              <a:t>2</a:t>
            </a:r>
            <a:r>
              <a:rPr lang="cy-GB" sz="3200" b="1" i="0" dirty="0">
                <a:solidFill>
                  <a:srgbClr val="C8E5C1"/>
                </a:solidFill>
                <a:effectLst/>
                <a:latin typeface="Arial" panose="020B0604020202020204" pitchFamily="34" charset="0"/>
              </a:rPr>
              <a:t> - ŷ</a:t>
            </a:r>
            <a:r>
              <a:rPr lang="cy-GB" b="1" i="0" dirty="0">
                <a:solidFill>
                  <a:srgbClr val="C8E5C1"/>
                </a:solidFill>
                <a:effectLst/>
                <a:latin typeface="Arial" panose="020B0604020202020204" pitchFamily="34" charset="0"/>
              </a:rPr>
              <a:t>2</a:t>
            </a:r>
            <a:r>
              <a:rPr lang="cy-GB" sz="2800" b="1" i="0" dirty="0">
                <a:solidFill>
                  <a:srgbClr val="C8E5C1"/>
                </a:solidFill>
                <a:effectLst/>
                <a:latin typeface="Arial" panose="020B0604020202020204" pitchFamily="34" charset="0"/>
              </a:rPr>
              <a:t>)</a:t>
            </a:r>
            <a:r>
              <a:rPr lang="cy-GB" sz="2800" b="1" i="0" baseline="30000" dirty="0">
                <a:solidFill>
                  <a:srgbClr val="C8E5C1"/>
                </a:solidFill>
                <a:effectLst/>
                <a:latin typeface="Arial" panose="020B0604020202020204" pitchFamily="34" charset="0"/>
              </a:rPr>
              <a:t>2</a:t>
            </a:r>
            <a:endParaRPr lang="en-GB" sz="3200" baseline="30000" dirty="0">
              <a:solidFill>
                <a:srgbClr val="C8E5C1"/>
              </a:solidFill>
            </a:endParaRPr>
          </a:p>
        </p:txBody>
      </p:sp>
      <p:sp>
        <p:nvSpPr>
          <p:cNvPr id="24" name="TextBox 23">
            <a:extLst>
              <a:ext uri="{FF2B5EF4-FFF2-40B4-BE49-F238E27FC236}">
                <a16:creationId xmlns:a16="http://schemas.microsoft.com/office/drawing/2014/main" id="{BB571F68-4B38-1591-ED32-0545FF6B7730}"/>
              </a:ext>
            </a:extLst>
          </p:cNvPr>
          <p:cNvSpPr txBox="1"/>
          <p:nvPr/>
        </p:nvSpPr>
        <p:spPr>
          <a:xfrm>
            <a:off x="304800" y="668753"/>
            <a:ext cx="4755896" cy="584775"/>
          </a:xfrm>
          <a:prstGeom prst="rect">
            <a:avLst/>
          </a:prstGeom>
          <a:noFill/>
        </p:spPr>
        <p:txBody>
          <a:bodyPr wrap="square">
            <a:spAutoFit/>
          </a:bodyPr>
          <a:lstStyle/>
          <a:p>
            <a:r>
              <a:rPr lang="cy-GB" sz="3200" dirty="0">
                <a:solidFill>
                  <a:srgbClr val="C8E5C1"/>
                </a:solidFill>
                <a:latin typeface="Arial" panose="020B0604020202020204" pitchFamily="34" charset="0"/>
              </a:rPr>
              <a:t>In data we have (x</a:t>
            </a:r>
            <a:r>
              <a:rPr lang="cy-GB" dirty="0">
                <a:solidFill>
                  <a:srgbClr val="C8E5C1"/>
                </a:solidFill>
                <a:latin typeface="Arial" panose="020B0604020202020204" pitchFamily="34" charset="0"/>
              </a:rPr>
              <a:t>2</a:t>
            </a:r>
            <a:r>
              <a:rPr lang="cy-GB" sz="3200" dirty="0">
                <a:solidFill>
                  <a:srgbClr val="C8E5C1"/>
                </a:solidFill>
                <a:latin typeface="Arial" panose="020B0604020202020204" pitchFamily="34" charset="0"/>
              </a:rPr>
              <a:t>, y</a:t>
            </a:r>
            <a:r>
              <a:rPr lang="cy-GB" dirty="0">
                <a:solidFill>
                  <a:srgbClr val="C8E5C1"/>
                </a:solidFill>
                <a:latin typeface="Arial" panose="020B0604020202020204" pitchFamily="34" charset="0"/>
              </a:rPr>
              <a:t>2</a:t>
            </a:r>
            <a:r>
              <a:rPr lang="cy-GB" sz="2800" i="0" dirty="0">
                <a:solidFill>
                  <a:srgbClr val="C8E5C1"/>
                </a:solidFill>
                <a:effectLst/>
                <a:latin typeface="Arial" panose="020B0604020202020204" pitchFamily="34" charset="0"/>
              </a:rPr>
              <a:t>)</a:t>
            </a:r>
            <a:endParaRPr lang="en-GB" sz="3200" baseline="30000" dirty="0">
              <a:solidFill>
                <a:srgbClr val="C8E5C1"/>
              </a:solidFill>
            </a:endParaRPr>
          </a:p>
        </p:txBody>
      </p:sp>
      <p:sp>
        <p:nvSpPr>
          <p:cNvPr id="20" name="TextBox 19">
            <a:extLst>
              <a:ext uri="{FF2B5EF4-FFF2-40B4-BE49-F238E27FC236}">
                <a16:creationId xmlns:a16="http://schemas.microsoft.com/office/drawing/2014/main" id="{9C2A2ECC-582D-C325-738D-E4FE7638CE61}"/>
              </a:ext>
            </a:extLst>
          </p:cNvPr>
          <p:cNvSpPr txBox="1"/>
          <p:nvPr/>
        </p:nvSpPr>
        <p:spPr>
          <a:xfrm>
            <a:off x="4144431" y="38800"/>
            <a:ext cx="6094369" cy="584775"/>
          </a:xfrm>
          <a:prstGeom prst="rect">
            <a:avLst/>
          </a:prstGeom>
          <a:noFill/>
        </p:spPr>
        <p:txBody>
          <a:bodyPr wrap="square">
            <a:spAutoFit/>
          </a:bodyPr>
          <a:lstStyle/>
          <a:p>
            <a:r>
              <a:rPr lang="en-US" sz="3200" dirty="0">
                <a:solidFill>
                  <a:srgbClr val="92D050"/>
                </a:solidFill>
                <a:latin typeface="Consolas"/>
              </a:rPr>
              <a:t>Measuring Error</a:t>
            </a:r>
            <a:endParaRPr lang="en-GB" sz="3200" dirty="0">
              <a:solidFill>
                <a:srgbClr val="92D050"/>
              </a:solidFill>
              <a:latin typeface="Consolas"/>
            </a:endParaRPr>
          </a:p>
        </p:txBody>
      </p:sp>
      <p:cxnSp>
        <p:nvCxnSpPr>
          <p:cNvPr id="11" name="Straight Arrow Connector 10">
            <a:extLst>
              <a:ext uri="{FF2B5EF4-FFF2-40B4-BE49-F238E27FC236}">
                <a16:creationId xmlns:a16="http://schemas.microsoft.com/office/drawing/2014/main" id="{006D1A85-C627-B24A-3D16-7CB9D5590FE7}"/>
              </a:ext>
            </a:extLst>
          </p:cNvPr>
          <p:cNvCxnSpPr>
            <a:cxnSpLocks/>
          </p:cNvCxnSpPr>
          <p:nvPr/>
        </p:nvCxnSpPr>
        <p:spPr>
          <a:xfrm>
            <a:off x="1994357" y="1457929"/>
            <a:ext cx="8244443" cy="7620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044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F03184-6BE9-2A16-F2F0-EFE1318BC113}"/>
              </a:ext>
            </a:extLst>
          </p:cNvPr>
          <p:cNvSpPr txBox="1"/>
          <p:nvPr/>
        </p:nvSpPr>
        <p:spPr>
          <a:xfrm>
            <a:off x="457200" y="2514600"/>
            <a:ext cx="10972800" cy="2811026"/>
          </a:xfrm>
          <a:prstGeom prst="rect">
            <a:avLst/>
          </a:prstGeom>
          <a:noFill/>
        </p:spPr>
        <p:txBody>
          <a:bodyPr wrap="square">
            <a:spAutoFit/>
          </a:bodyPr>
          <a:lstStyle/>
          <a:p>
            <a:pPr marL="0" marR="0" algn="just">
              <a:spcBef>
                <a:spcPts val="1800"/>
              </a:spcBef>
              <a:spcAft>
                <a:spcPts val="400"/>
              </a:spcAft>
              <a:buNone/>
            </a:pPr>
            <a:r>
              <a:rPr lang="en-GB" sz="2800" b="1" kern="100" dirty="0">
                <a:solidFill>
                  <a:srgbClr val="92D050"/>
                </a:solidFill>
                <a:effectLst/>
                <a:latin typeface="Aptos" panose="020B0004020202020204" pitchFamily="34" charset="0"/>
                <a:ea typeface="Aptos" panose="020B0004020202020204" pitchFamily="34" charset="0"/>
                <a:cs typeface="Times New Roman" panose="02020603050405020304" pitchFamily="18" charset="0"/>
              </a:rPr>
              <a:t>Split: </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We divide the training set into small equal-sized groups (common sizes </a:t>
            </a:r>
            <a:r>
              <a:rPr lang="en-GB" sz="2800" i="1" kern="100" dirty="0">
                <a:effectLst/>
                <a:latin typeface="Aptos" panose="020B0004020202020204" pitchFamily="34" charset="0"/>
                <a:ea typeface="Aptos" panose="020B0004020202020204" pitchFamily="34" charset="0"/>
                <a:cs typeface="Times New Roman" panose="02020603050405020304" pitchFamily="18" charset="0"/>
              </a:rPr>
              <a:t>n</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 are 32, 64, or 128).</a:t>
            </a:r>
          </a:p>
          <a:p>
            <a:pPr marL="0" marR="0" algn="just">
              <a:spcBef>
                <a:spcPts val="1800"/>
              </a:spcBef>
              <a:spcAft>
                <a:spcPts val="400"/>
              </a:spcAft>
              <a:buNone/>
            </a:pPr>
            <a:r>
              <a:rPr lang="en-GB" sz="2800" b="1" kern="100" dirty="0">
                <a:solidFill>
                  <a:srgbClr val="92D050"/>
                </a:solidFill>
                <a:effectLst/>
                <a:latin typeface="Aptos" panose="020B0004020202020204" pitchFamily="34" charset="0"/>
                <a:ea typeface="Aptos" panose="020B0004020202020204" pitchFamily="34" charset="0"/>
                <a:cs typeface="Times New Roman" panose="02020603050405020304" pitchFamily="18" charset="0"/>
              </a:rPr>
              <a:t>Feedforward: </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We pass one mini-batch through the network at once.</a:t>
            </a:r>
          </a:p>
          <a:p>
            <a:pPr marL="0" marR="0" algn="just">
              <a:spcBef>
                <a:spcPts val="1800"/>
              </a:spcBef>
              <a:spcAft>
                <a:spcPts val="400"/>
              </a:spcAft>
              <a:buNone/>
            </a:pPr>
            <a:r>
              <a:rPr lang="en-GB" sz="2800" b="1" kern="100" dirty="0">
                <a:solidFill>
                  <a:srgbClr val="92D050"/>
                </a:solidFill>
                <a:effectLst/>
                <a:latin typeface="Aptos" panose="020B0004020202020204" pitchFamily="34" charset="0"/>
                <a:ea typeface="Aptos" panose="020B0004020202020204" pitchFamily="34" charset="0"/>
                <a:cs typeface="Times New Roman" panose="02020603050405020304" pitchFamily="18" charset="0"/>
              </a:rPr>
              <a:t>Loss Calculation: </a:t>
            </a:r>
            <a:r>
              <a:rPr lang="en-GB" sz="2800" kern="100" dirty="0">
                <a:effectLst/>
                <a:latin typeface="Aptos" panose="020B0004020202020204" pitchFamily="34" charset="0"/>
                <a:ea typeface="Aptos" panose="020B0004020202020204" pitchFamily="34" charset="0"/>
                <a:cs typeface="Times New Roman" panose="02020603050405020304" pitchFamily="18" charset="0"/>
              </a:rPr>
              <a:t>We calculate the average loss for just those 32 or 64 samples.</a:t>
            </a:r>
          </a:p>
        </p:txBody>
      </p:sp>
      <p:sp>
        <p:nvSpPr>
          <p:cNvPr id="6" name="TextBox 5">
            <a:extLst>
              <a:ext uri="{FF2B5EF4-FFF2-40B4-BE49-F238E27FC236}">
                <a16:creationId xmlns:a16="http://schemas.microsoft.com/office/drawing/2014/main" id="{CCE6AFF1-91DE-7D99-5BA4-CE4AFC89238C}"/>
              </a:ext>
            </a:extLst>
          </p:cNvPr>
          <p:cNvSpPr txBox="1"/>
          <p:nvPr/>
        </p:nvSpPr>
        <p:spPr>
          <a:xfrm>
            <a:off x="609600" y="797318"/>
            <a:ext cx="10972800" cy="1384995"/>
          </a:xfrm>
          <a:prstGeom prst="rect">
            <a:avLst/>
          </a:prstGeom>
          <a:noFill/>
        </p:spPr>
        <p:txBody>
          <a:bodyPr wrap="square">
            <a:spAutoFit/>
          </a:bodyPr>
          <a:lstStyle/>
          <a:p>
            <a:r>
              <a:rPr lang="en-GB" sz="2800" kern="100" dirty="0">
                <a:latin typeface="Aptos" panose="020B0004020202020204" pitchFamily="34" charset="0"/>
                <a:cs typeface="Times New Roman" panose="02020603050405020304" pitchFamily="18" charset="0"/>
              </a:rPr>
              <a:t>Instead of calculating the error for one single row of data (SGD) or the entire dataset (Batch), we divide the data into small groups called mini-batches.</a:t>
            </a:r>
          </a:p>
        </p:txBody>
      </p:sp>
      <p:sp>
        <p:nvSpPr>
          <p:cNvPr id="7" name="TextBox 6">
            <a:extLst>
              <a:ext uri="{FF2B5EF4-FFF2-40B4-BE49-F238E27FC236}">
                <a16:creationId xmlns:a16="http://schemas.microsoft.com/office/drawing/2014/main" id="{53217AAC-AC0D-F3DA-7B27-BB6BC0AAD8E6}"/>
              </a:ext>
            </a:extLst>
          </p:cNvPr>
          <p:cNvSpPr txBox="1"/>
          <p:nvPr/>
        </p:nvSpPr>
        <p:spPr>
          <a:xfrm>
            <a:off x="3810000" y="32657"/>
            <a:ext cx="6094369" cy="584775"/>
          </a:xfrm>
          <a:prstGeom prst="rect">
            <a:avLst/>
          </a:prstGeom>
          <a:noFill/>
        </p:spPr>
        <p:txBody>
          <a:bodyPr wrap="square">
            <a:spAutoFit/>
          </a:bodyPr>
          <a:lstStyle/>
          <a:p>
            <a:r>
              <a:rPr lang="en-US" sz="3200" dirty="0">
                <a:solidFill>
                  <a:srgbClr val="92D050"/>
                </a:solidFill>
                <a:latin typeface="Consolas"/>
              </a:rPr>
              <a:t>Mini-batch approach</a:t>
            </a:r>
            <a:endParaRPr lang="en-GB" sz="3200" dirty="0">
              <a:solidFill>
                <a:srgbClr val="92D050"/>
              </a:solidFill>
              <a:latin typeface="Consola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DE543FC-A920-AA39-D3F3-5F28906479D9}"/>
                  </a:ext>
                </a:extLst>
              </p:cNvPr>
              <p:cNvSpPr txBox="1"/>
              <p:nvPr/>
            </p:nvSpPr>
            <p:spPr>
              <a:xfrm>
                <a:off x="6857184" y="5369354"/>
                <a:ext cx="4648200" cy="12685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800" i="1" smtClean="0">
                          <a:latin typeface="Cambria Math" panose="02040503050406030204" pitchFamily="18" charset="0"/>
                        </a:rPr>
                        <m:t>𝑀𝑆𝐸</m:t>
                      </m:r>
                      <m:r>
                        <a:rPr lang="en-GB" sz="2800" i="1" smtClean="0">
                          <a:latin typeface="Cambria Math" panose="02040503050406030204" pitchFamily="18" charset="0"/>
                        </a:rPr>
                        <m:t>=</m:t>
                      </m:r>
                      <m:f>
                        <m:fPr>
                          <m:ctrlPr>
                            <a:rPr lang="en-GB" sz="2800" i="1">
                              <a:latin typeface="Cambria Math" panose="02040503050406030204" pitchFamily="18" charset="0"/>
                            </a:rPr>
                          </m:ctrlPr>
                        </m:fPr>
                        <m:num>
                          <m:r>
                            <a:rPr lang="en-GB" sz="2800" i="1">
                              <a:latin typeface="Cambria Math" panose="02040503050406030204" pitchFamily="18" charset="0"/>
                            </a:rPr>
                            <m:t>1</m:t>
                          </m:r>
                        </m:num>
                        <m:den>
                          <m:r>
                            <a:rPr lang="en-GB" sz="2800" i="1">
                              <a:latin typeface="Cambria Math" panose="02040503050406030204" pitchFamily="18" charset="0"/>
                            </a:rPr>
                            <m:t>𝑛</m:t>
                          </m:r>
                        </m:den>
                      </m:f>
                      <m:nary>
                        <m:naryPr>
                          <m:chr m:val="∑"/>
                          <m:ctrlPr>
                            <a:rPr lang="en-GB" sz="2800" i="1">
                              <a:latin typeface="Cambria Math" panose="02040503050406030204" pitchFamily="18" charset="0"/>
                            </a:rPr>
                          </m:ctrlPr>
                        </m:naryPr>
                        <m:sub>
                          <m:r>
                            <a:rPr lang="en-GB" sz="2800" i="1">
                              <a:latin typeface="Cambria Math" panose="02040503050406030204" pitchFamily="18" charset="0"/>
                            </a:rPr>
                            <m:t>𝑖</m:t>
                          </m:r>
                          <m:r>
                            <a:rPr lang="en-GB" sz="2800" i="1">
                              <a:latin typeface="Cambria Math" panose="02040503050406030204" pitchFamily="18" charset="0"/>
                            </a:rPr>
                            <m:t>=1</m:t>
                          </m:r>
                        </m:sub>
                        <m:sup>
                          <m:r>
                            <a:rPr lang="en-GB" sz="2800" i="1">
                              <a:latin typeface="Cambria Math" panose="02040503050406030204" pitchFamily="18" charset="0"/>
                            </a:rPr>
                            <m:t>𝑛</m:t>
                          </m:r>
                        </m:sup>
                        <m:e>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𝑖</m:t>
                                      </m:r>
                                    </m:sub>
                                  </m:sSub>
                                  <m:r>
                                    <a:rPr lang="en-GB" sz="2800" i="1">
                                      <a:latin typeface="Cambria Math" panose="02040503050406030204" pitchFamily="18" charset="0"/>
                                    </a:rPr>
                                    <m:t>−</m:t>
                                  </m:r>
                                  <m:acc>
                                    <m:accPr>
                                      <m:chr m:val="̂"/>
                                      <m:ctrlPr>
                                        <a:rPr lang="en-GB" sz="2800" i="1">
                                          <a:latin typeface="Cambria Math" panose="02040503050406030204" pitchFamily="18" charset="0"/>
                                        </a:rPr>
                                      </m:ctrlPr>
                                    </m:accPr>
                                    <m:e>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𝑖</m:t>
                                          </m:r>
                                        </m:sub>
                                      </m:sSub>
                                    </m:e>
                                  </m:acc>
                                </m:e>
                              </m:d>
                            </m:e>
                            <m:sup>
                              <m:r>
                                <a:rPr lang="en-GB" sz="2800" i="1">
                                  <a:latin typeface="Cambria Math" panose="02040503050406030204" pitchFamily="18" charset="0"/>
                                </a:rPr>
                                <m:t>2</m:t>
                              </m:r>
                            </m:sup>
                          </m:sSup>
                        </m:e>
                      </m:nary>
                    </m:oMath>
                  </m:oMathPara>
                </a14:m>
                <a:endParaRPr lang="en-GB" dirty="0"/>
              </a:p>
            </p:txBody>
          </p:sp>
        </mc:Choice>
        <mc:Fallback xmlns="">
          <p:sp>
            <p:nvSpPr>
              <p:cNvPr id="5" name="TextBox 4">
                <a:extLst>
                  <a:ext uri="{FF2B5EF4-FFF2-40B4-BE49-F238E27FC236}">
                    <a16:creationId xmlns:a16="http://schemas.microsoft.com/office/drawing/2014/main" id="{9DE543FC-A920-AA39-D3F3-5F28906479D9}"/>
                  </a:ext>
                </a:extLst>
              </p:cNvPr>
              <p:cNvSpPr txBox="1">
                <a:spLocks noRot="1" noChangeAspect="1" noMove="1" noResize="1" noEditPoints="1" noAdjustHandles="1" noChangeArrowheads="1" noChangeShapeType="1" noTextEdit="1"/>
              </p:cNvSpPr>
              <p:nvPr/>
            </p:nvSpPr>
            <p:spPr>
              <a:xfrm>
                <a:off x="6857184" y="5369354"/>
                <a:ext cx="4648200" cy="1268552"/>
              </a:xfrm>
              <a:prstGeom prst="rect">
                <a:avLst/>
              </a:prstGeom>
              <a:blipFill>
                <a:blip r:embed="rId2"/>
                <a:stretch>
                  <a:fillRect/>
                </a:stretch>
              </a:blipFill>
            </p:spPr>
            <p:txBody>
              <a:bodyPr/>
              <a:lstStyle/>
              <a:p>
                <a:r>
                  <a:rPr lang="en-GB">
                    <a:noFill/>
                  </a:rPr>
                  <a:t> </a:t>
                </a:r>
              </a:p>
            </p:txBody>
          </p:sp>
        </mc:Fallback>
      </mc:AlternateContent>
      <p:sp>
        <p:nvSpPr>
          <p:cNvPr id="9" name="TextBox 8">
            <a:extLst>
              <a:ext uri="{FF2B5EF4-FFF2-40B4-BE49-F238E27FC236}">
                <a16:creationId xmlns:a16="http://schemas.microsoft.com/office/drawing/2014/main" id="{D9911DA0-619F-EC9C-CDDB-67D54FD75177}"/>
              </a:ext>
            </a:extLst>
          </p:cNvPr>
          <p:cNvSpPr txBox="1"/>
          <p:nvPr/>
        </p:nvSpPr>
        <p:spPr>
          <a:xfrm>
            <a:off x="609600" y="5465021"/>
            <a:ext cx="6781800" cy="1077218"/>
          </a:xfrm>
          <a:prstGeom prst="rect">
            <a:avLst/>
          </a:prstGeom>
          <a:noFill/>
        </p:spPr>
        <p:txBody>
          <a:bodyPr wrap="square">
            <a:spAutoFit/>
          </a:bodyPr>
          <a:lstStyle/>
          <a:p>
            <a:r>
              <a:rPr lang="en-GB" sz="3200" dirty="0"/>
              <a:t>Loss (cost) function for regression:</a:t>
            </a:r>
          </a:p>
          <a:p>
            <a:r>
              <a:rPr lang="en-GB" sz="3200" dirty="0"/>
              <a:t>Mean Squared Error (MSE)</a:t>
            </a:r>
          </a:p>
        </p:txBody>
      </p:sp>
    </p:spTree>
    <p:extLst>
      <p:ext uri="{BB962C8B-B14F-4D97-AF65-F5344CB8AC3E}">
        <p14:creationId xmlns:p14="http://schemas.microsoft.com/office/powerpoint/2010/main" val="3139583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8EF8E-1710-E176-6332-FAA9B9F4276C}"/>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13FFF973-25AD-B20B-D8AD-6C595FB6137B}"/>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2E42D7C3-D171-CE24-B361-DA2B8B136192}"/>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C186FF04-367D-57B0-C67C-D93454BACEFB}"/>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292AB0B1-0F28-FE01-8049-C33CF1CD1FB0}"/>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37" name="Straight Arrow Connector 36">
            <a:extLst>
              <a:ext uri="{FF2B5EF4-FFF2-40B4-BE49-F238E27FC236}">
                <a16:creationId xmlns:a16="http://schemas.microsoft.com/office/drawing/2014/main" id="{3091B40B-9218-628A-89D3-3CA6A29C933D}"/>
              </a:ext>
            </a:extLst>
          </p:cNvPr>
          <p:cNvCxnSpPr>
            <a:cxnSpLocks/>
            <a:stCxn id="72" idx="2"/>
            <a:endCxn id="2" idx="6"/>
          </p:cNvCxnSpPr>
          <p:nvPr/>
        </p:nvCxnSpPr>
        <p:spPr>
          <a:xfrm flipH="1" flipV="1">
            <a:off x="1186144" y="1726297"/>
            <a:ext cx="1980860" cy="4308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13BCFE4-016B-A603-93A8-88D08709B898}"/>
              </a:ext>
            </a:extLst>
          </p:cNvPr>
          <p:cNvCxnSpPr>
            <a:cxnSpLocks/>
            <a:endCxn id="3" idx="6"/>
          </p:cNvCxnSpPr>
          <p:nvPr/>
        </p:nvCxnSpPr>
        <p:spPr>
          <a:xfrm flipH="1" flipV="1">
            <a:off x="1138718" y="2652004"/>
            <a:ext cx="2028286" cy="4746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47414774-A4A4-DA9E-8C88-C73D1DA41C7A}"/>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BE874A27-C0D1-E54D-687C-99687A80BBAE}"/>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F120A218-22B5-5B6B-0932-0C86AC25B5AD}"/>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EA5A2661-26E7-FD25-8C47-D8F3421F117D}"/>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sp>
        <p:nvSpPr>
          <p:cNvPr id="74" name="Oval 73">
            <a:extLst>
              <a:ext uri="{FF2B5EF4-FFF2-40B4-BE49-F238E27FC236}">
                <a16:creationId xmlns:a16="http://schemas.microsoft.com/office/drawing/2014/main" id="{86283437-920E-2E16-C05B-9F11712AB04B}"/>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830E1DC3-6C4C-2E08-3830-0526A892CFF7}"/>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500E5381-9271-0AA3-6138-CE190315A8B0}"/>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sp>
        <p:nvSpPr>
          <p:cNvPr id="11" name="TextBox 10">
            <a:extLst>
              <a:ext uri="{FF2B5EF4-FFF2-40B4-BE49-F238E27FC236}">
                <a16:creationId xmlns:a16="http://schemas.microsoft.com/office/drawing/2014/main" id="{834FCC57-A4F2-CB85-2718-30C130ED067B}"/>
              </a:ext>
            </a:extLst>
          </p:cNvPr>
          <p:cNvSpPr txBox="1"/>
          <p:nvPr/>
        </p:nvSpPr>
        <p:spPr>
          <a:xfrm>
            <a:off x="3187810" y="6164"/>
            <a:ext cx="6641990" cy="523220"/>
          </a:xfrm>
          <a:prstGeom prst="rect">
            <a:avLst/>
          </a:prstGeom>
          <a:noFill/>
        </p:spPr>
        <p:txBody>
          <a:bodyPr wrap="square">
            <a:spAutoFit/>
          </a:bodyPr>
          <a:lstStyle/>
          <a:p>
            <a:r>
              <a:rPr lang="en-GB" sz="2800" dirty="0">
                <a:solidFill>
                  <a:srgbClr val="92D050"/>
                </a:solidFill>
                <a:latin typeface="Consolas"/>
              </a:rPr>
              <a:t>Backpropagation (the </a:t>
            </a:r>
            <a:r>
              <a:rPr lang="en-US" sz="2800" dirty="0">
                <a:solidFill>
                  <a:srgbClr val="92D050"/>
                </a:solidFill>
                <a:latin typeface="Consolas"/>
              </a:rPr>
              <a:t>correction</a:t>
            </a:r>
            <a:r>
              <a:rPr lang="en-GB" sz="2800" dirty="0">
                <a:solidFill>
                  <a:srgbClr val="92D050"/>
                </a:solidFill>
                <a:latin typeface="Consolas"/>
              </a:rPr>
              <a:t>)</a:t>
            </a:r>
          </a:p>
        </p:txBody>
      </p:sp>
      <p:sp>
        <p:nvSpPr>
          <p:cNvPr id="14" name="Oval 13">
            <a:extLst>
              <a:ext uri="{FF2B5EF4-FFF2-40B4-BE49-F238E27FC236}">
                <a16:creationId xmlns:a16="http://schemas.microsoft.com/office/drawing/2014/main" id="{1506EB44-6E53-BAB2-21D0-751BE709F3DA}"/>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5" name="Straight Arrow Connector 14">
            <a:extLst>
              <a:ext uri="{FF2B5EF4-FFF2-40B4-BE49-F238E27FC236}">
                <a16:creationId xmlns:a16="http://schemas.microsoft.com/office/drawing/2014/main" id="{E4392900-9EE7-F0A9-50F9-FB2300F83D86}"/>
              </a:ext>
            </a:extLst>
          </p:cNvPr>
          <p:cNvCxnSpPr>
            <a:cxnSpLocks/>
            <a:stCxn id="14" idx="2"/>
          </p:cNvCxnSpPr>
          <p:nvPr/>
        </p:nvCxnSpPr>
        <p:spPr>
          <a:xfrm flipH="1" flipV="1">
            <a:off x="7515358" y="2219649"/>
            <a:ext cx="1119121" cy="922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704DB86-311F-0F1E-1233-241CA8F3DA13}"/>
              </a:ext>
            </a:extLst>
          </p:cNvPr>
          <p:cNvCxnSpPr>
            <a:cxnSpLocks/>
            <a:stCxn id="14" idx="2"/>
          </p:cNvCxnSpPr>
          <p:nvPr/>
        </p:nvCxnSpPr>
        <p:spPr>
          <a:xfrm flipH="1">
            <a:off x="7486380" y="3142146"/>
            <a:ext cx="1148099" cy="9825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6C4B5-C57A-04A6-704E-66C3FBA94766}"/>
              </a:ext>
            </a:extLst>
          </p:cNvPr>
          <p:cNvCxnSpPr>
            <a:cxnSpLocks/>
            <a:stCxn id="14" idx="2"/>
          </p:cNvCxnSpPr>
          <p:nvPr/>
        </p:nvCxnSpPr>
        <p:spPr>
          <a:xfrm flipH="1">
            <a:off x="7536040" y="3142146"/>
            <a:ext cx="109843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A6D1299-2801-35CB-6229-114A41434BD8}"/>
              </a:ext>
            </a:extLst>
          </p:cNvPr>
          <p:cNvCxnSpPr>
            <a:cxnSpLocks/>
          </p:cNvCxnSpPr>
          <p:nvPr/>
        </p:nvCxnSpPr>
        <p:spPr>
          <a:xfrm flipH="1">
            <a:off x="7162800" y="1173062"/>
            <a:ext cx="3200400"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4CDEA60-5498-252A-F5C9-075491C567C0}"/>
              </a:ext>
            </a:extLst>
          </p:cNvPr>
          <p:cNvCxnSpPr>
            <a:cxnSpLocks/>
            <a:stCxn id="75" idx="2"/>
          </p:cNvCxnSpPr>
          <p:nvPr/>
        </p:nvCxnSpPr>
        <p:spPr>
          <a:xfrm flipH="1" flipV="1">
            <a:off x="5664493" y="2168734"/>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243ED05-0F4E-FFB1-45E1-563E714588D9}"/>
              </a:ext>
            </a:extLst>
          </p:cNvPr>
          <p:cNvCxnSpPr>
            <a:cxnSpLocks/>
          </p:cNvCxnSpPr>
          <p:nvPr/>
        </p:nvCxnSpPr>
        <p:spPr>
          <a:xfrm flipH="1" flipV="1">
            <a:off x="5652518" y="3091490"/>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24EA613-FB02-C84F-0960-D0AAEA277137}"/>
              </a:ext>
            </a:extLst>
          </p:cNvPr>
          <p:cNvCxnSpPr>
            <a:cxnSpLocks/>
          </p:cNvCxnSpPr>
          <p:nvPr/>
        </p:nvCxnSpPr>
        <p:spPr>
          <a:xfrm flipH="1" flipV="1">
            <a:off x="5631836" y="4173988"/>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9A60CE0-E288-7805-177B-6F44671138D5}"/>
              </a:ext>
            </a:extLst>
          </p:cNvPr>
          <p:cNvCxnSpPr>
            <a:cxnSpLocks/>
            <a:endCxn id="46" idx="6"/>
          </p:cNvCxnSpPr>
          <p:nvPr/>
        </p:nvCxnSpPr>
        <p:spPr>
          <a:xfrm flipH="1">
            <a:off x="5664493" y="2208026"/>
            <a:ext cx="1214821" cy="9115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5D884746-BEFF-BA48-265B-479C11689C5F}"/>
              </a:ext>
            </a:extLst>
          </p:cNvPr>
          <p:cNvCxnSpPr>
            <a:cxnSpLocks/>
            <a:stCxn id="75" idx="2"/>
            <a:endCxn id="48" idx="6"/>
          </p:cNvCxnSpPr>
          <p:nvPr/>
        </p:nvCxnSpPr>
        <p:spPr>
          <a:xfrm flipH="1">
            <a:off x="5643811" y="2187432"/>
            <a:ext cx="1223955" cy="19678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799AB7A-44C3-CE99-E527-87A6B34B3243}"/>
              </a:ext>
            </a:extLst>
          </p:cNvPr>
          <p:cNvCxnSpPr>
            <a:cxnSpLocks/>
            <a:stCxn id="74" idx="2"/>
            <a:endCxn id="47" idx="6"/>
          </p:cNvCxnSpPr>
          <p:nvPr/>
        </p:nvCxnSpPr>
        <p:spPr>
          <a:xfrm flipH="1" flipV="1">
            <a:off x="5664493" y="2168735"/>
            <a:ext cx="1203273"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310389E2-6B3A-22EC-DA56-C3FC96235413}"/>
              </a:ext>
            </a:extLst>
          </p:cNvPr>
          <p:cNvCxnSpPr>
            <a:cxnSpLocks/>
            <a:stCxn id="74" idx="2"/>
            <a:endCxn id="48" idx="6"/>
          </p:cNvCxnSpPr>
          <p:nvPr/>
        </p:nvCxnSpPr>
        <p:spPr>
          <a:xfrm flipH="1">
            <a:off x="5643811" y="3138232"/>
            <a:ext cx="1223955" cy="10170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789C530B-F90D-5360-9DA5-3D0155AC4750}"/>
              </a:ext>
            </a:extLst>
          </p:cNvPr>
          <p:cNvCxnSpPr>
            <a:cxnSpLocks/>
            <a:stCxn id="76" idx="2"/>
          </p:cNvCxnSpPr>
          <p:nvPr/>
        </p:nvCxnSpPr>
        <p:spPr>
          <a:xfrm flipH="1" flipV="1">
            <a:off x="5686305" y="3117170"/>
            <a:ext cx="1160779" cy="10568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49DA92A-F182-50E7-976B-C8830F0878BA}"/>
              </a:ext>
            </a:extLst>
          </p:cNvPr>
          <p:cNvCxnSpPr>
            <a:cxnSpLocks/>
          </p:cNvCxnSpPr>
          <p:nvPr/>
        </p:nvCxnSpPr>
        <p:spPr>
          <a:xfrm flipH="1" flipV="1">
            <a:off x="5631836" y="2179979"/>
            <a:ext cx="1188887" cy="19659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A843EC22-777C-7296-439F-C3FD970FA7E9}"/>
              </a:ext>
            </a:extLst>
          </p:cNvPr>
          <p:cNvSpPr/>
          <p:nvPr/>
        </p:nvSpPr>
        <p:spPr>
          <a:xfrm>
            <a:off x="3167004" y="2784778"/>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2" name="Oval 71">
            <a:extLst>
              <a:ext uri="{FF2B5EF4-FFF2-40B4-BE49-F238E27FC236}">
                <a16:creationId xmlns:a16="http://schemas.microsoft.com/office/drawing/2014/main" id="{EF1B7BB7-7FE3-243D-599C-A5F2FD83AE78}"/>
              </a:ext>
            </a:extLst>
          </p:cNvPr>
          <p:cNvSpPr/>
          <p:nvPr/>
        </p:nvSpPr>
        <p:spPr>
          <a:xfrm>
            <a:off x="3167004" y="1833978"/>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86" name="Oval 85">
            <a:extLst>
              <a:ext uri="{FF2B5EF4-FFF2-40B4-BE49-F238E27FC236}">
                <a16:creationId xmlns:a16="http://schemas.microsoft.com/office/drawing/2014/main" id="{27ACA7D4-5A18-875D-69F9-C3670D49A315}"/>
              </a:ext>
            </a:extLst>
          </p:cNvPr>
          <p:cNvSpPr/>
          <p:nvPr/>
        </p:nvSpPr>
        <p:spPr>
          <a:xfrm>
            <a:off x="3146322" y="3820535"/>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91" name="Straight Arrow Connector 90">
            <a:extLst>
              <a:ext uri="{FF2B5EF4-FFF2-40B4-BE49-F238E27FC236}">
                <a16:creationId xmlns:a16="http://schemas.microsoft.com/office/drawing/2014/main" id="{6C42ED7E-0197-CE33-C418-DB97884EBC8B}"/>
              </a:ext>
            </a:extLst>
          </p:cNvPr>
          <p:cNvCxnSpPr>
            <a:cxnSpLocks/>
          </p:cNvCxnSpPr>
          <p:nvPr/>
        </p:nvCxnSpPr>
        <p:spPr>
          <a:xfrm flipH="1" flipV="1">
            <a:off x="3814704" y="2157143"/>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704D7EA1-671C-E47B-D6DF-CF7008AE6687}"/>
              </a:ext>
            </a:extLst>
          </p:cNvPr>
          <p:cNvCxnSpPr>
            <a:cxnSpLocks/>
          </p:cNvCxnSpPr>
          <p:nvPr/>
        </p:nvCxnSpPr>
        <p:spPr>
          <a:xfrm flipH="1" flipV="1">
            <a:off x="3802729" y="3079899"/>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C117E242-9B14-A2C1-7F96-278165B247E8}"/>
              </a:ext>
            </a:extLst>
          </p:cNvPr>
          <p:cNvCxnSpPr>
            <a:cxnSpLocks/>
          </p:cNvCxnSpPr>
          <p:nvPr/>
        </p:nvCxnSpPr>
        <p:spPr>
          <a:xfrm flipH="1" flipV="1">
            <a:off x="3782047" y="4162397"/>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32D126F-34A5-D9B1-6AB7-9AA95AB7DFC2}"/>
              </a:ext>
            </a:extLst>
          </p:cNvPr>
          <p:cNvCxnSpPr>
            <a:cxnSpLocks/>
            <a:endCxn id="70" idx="6"/>
          </p:cNvCxnSpPr>
          <p:nvPr/>
        </p:nvCxnSpPr>
        <p:spPr>
          <a:xfrm flipH="1">
            <a:off x="3814704" y="2196435"/>
            <a:ext cx="1214821" cy="9115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672EF6C3-5B0C-93BA-3F5E-15AB3907D863}"/>
              </a:ext>
            </a:extLst>
          </p:cNvPr>
          <p:cNvCxnSpPr>
            <a:cxnSpLocks/>
            <a:endCxn id="86" idx="6"/>
          </p:cNvCxnSpPr>
          <p:nvPr/>
        </p:nvCxnSpPr>
        <p:spPr>
          <a:xfrm flipH="1">
            <a:off x="3794022" y="2175841"/>
            <a:ext cx="1223955" cy="19678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213D7B2B-43B4-1BA5-776E-0925CFED6AA5}"/>
              </a:ext>
            </a:extLst>
          </p:cNvPr>
          <p:cNvCxnSpPr>
            <a:cxnSpLocks/>
            <a:endCxn id="72" idx="6"/>
          </p:cNvCxnSpPr>
          <p:nvPr/>
        </p:nvCxnSpPr>
        <p:spPr>
          <a:xfrm flipH="1" flipV="1">
            <a:off x="3814704" y="2157144"/>
            <a:ext cx="1203273"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669EB956-AB95-412F-8CFC-42050185A455}"/>
              </a:ext>
            </a:extLst>
          </p:cNvPr>
          <p:cNvCxnSpPr>
            <a:cxnSpLocks/>
            <a:endCxn id="86" idx="6"/>
          </p:cNvCxnSpPr>
          <p:nvPr/>
        </p:nvCxnSpPr>
        <p:spPr>
          <a:xfrm flipH="1">
            <a:off x="3794022" y="3126641"/>
            <a:ext cx="1223955" cy="10170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09CB3EF3-C880-B74E-18EA-6348ACF4BE5E}"/>
              </a:ext>
            </a:extLst>
          </p:cNvPr>
          <p:cNvCxnSpPr>
            <a:cxnSpLocks/>
          </p:cNvCxnSpPr>
          <p:nvPr/>
        </p:nvCxnSpPr>
        <p:spPr>
          <a:xfrm flipH="1" flipV="1">
            <a:off x="3836516" y="3105579"/>
            <a:ext cx="1160779" cy="10568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88911B9B-FE9F-FAFE-5F5B-68F830B02E85}"/>
              </a:ext>
            </a:extLst>
          </p:cNvPr>
          <p:cNvCxnSpPr>
            <a:cxnSpLocks/>
          </p:cNvCxnSpPr>
          <p:nvPr/>
        </p:nvCxnSpPr>
        <p:spPr>
          <a:xfrm flipH="1" flipV="1">
            <a:off x="3782047" y="2168388"/>
            <a:ext cx="1188887" cy="19659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769E36CF-8DA6-1958-81E9-F048A1DFE8BD}"/>
              </a:ext>
            </a:extLst>
          </p:cNvPr>
          <p:cNvCxnSpPr>
            <a:cxnSpLocks/>
            <a:stCxn id="86" idx="2"/>
          </p:cNvCxnSpPr>
          <p:nvPr/>
        </p:nvCxnSpPr>
        <p:spPr>
          <a:xfrm flipH="1" flipV="1">
            <a:off x="1079461" y="3584923"/>
            <a:ext cx="2066861" cy="5587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4A32EF95-1FEC-B687-E018-EF23D916A4BD}"/>
              </a:ext>
            </a:extLst>
          </p:cNvPr>
          <p:cNvCxnSpPr>
            <a:cxnSpLocks/>
            <a:stCxn id="86" idx="2"/>
          </p:cNvCxnSpPr>
          <p:nvPr/>
        </p:nvCxnSpPr>
        <p:spPr>
          <a:xfrm flipH="1">
            <a:off x="1101583" y="4143701"/>
            <a:ext cx="2044739" cy="2911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7C686E5D-77AA-D6E3-E8E8-F559D91C41D3}"/>
              </a:ext>
            </a:extLst>
          </p:cNvPr>
          <p:cNvCxnSpPr>
            <a:cxnSpLocks/>
            <a:stCxn id="72" idx="2"/>
          </p:cNvCxnSpPr>
          <p:nvPr/>
        </p:nvCxnSpPr>
        <p:spPr>
          <a:xfrm flipH="1">
            <a:off x="1101583" y="2157144"/>
            <a:ext cx="2065421" cy="22586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903E1C7F-76F9-A42F-18D9-8168ED6085AF}"/>
              </a:ext>
            </a:extLst>
          </p:cNvPr>
          <p:cNvCxnSpPr>
            <a:cxnSpLocks/>
            <a:endCxn id="4" idx="6"/>
          </p:cNvCxnSpPr>
          <p:nvPr/>
        </p:nvCxnSpPr>
        <p:spPr>
          <a:xfrm flipH="1">
            <a:off x="1124530" y="2175885"/>
            <a:ext cx="2021792" cy="136754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868F660B-DAD6-03B6-CFA3-D9E1A3663E0E}"/>
              </a:ext>
            </a:extLst>
          </p:cNvPr>
          <p:cNvCxnSpPr>
            <a:cxnSpLocks/>
            <a:stCxn id="72" idx="2"/>
          </p:cNvCxnSpPr>
          <p:nvPr/>
        </p:nvCxnSpPr>
        <p:spPr>
          <a:xfrm flipH="1">
            <a:off x="1142947" y="2157144"/>
            <a:ext cx="2024057" cy="4820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67267F96-0AB4-8AE6-11ED-649778702698}"/>
              </a:ext>
            </a:extLst>
          </p:cNvPr>
          <p:cNvCxnSpPr>
            <a:cxnSpLocks/>
            <a:stCxn id="70" idx="2"/>
            <a:endCxn id="4" idx="6"/>
          </p:cNvCxnSpPr>
          <p:nvPr/>
        </p:nvCxnSpPr>
        <p:spPr>
          <a:xfrm flipH="1">
            <a:off x="1124530" y="3107944"/>
            <a:ext cx="2042474" cy="43548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A75F665E-C358-4776-AFA4-9976D8DD7624}"/>
              </a:ext>
            </a:extLst>
          </p:cNvPr>
          <p:cNvCxnSpPr>
            <a:cxnSpLocks/>
            <a:stCxn id="70" idx="2"/>
            <a:endCxn id="5" idx="6"/>
          </p:cNvCxnSpPr>
          <p:nvPr/>
        </p:nvCxnSpPr>
        <p:spPr>
          <a:xfrm flipH="1">
            <a:off x="1124530" y="3107944"/>
            <a:ext cx="2042474" cy="13269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A0F7AEBD-E3D8-6851-7925-156641DCC82A}"/>
              </a:ext>
            </a:extLst>
          </p:cNvPr>
          <p:cNvCxnSpPr>
            <a:cxnSpLocks/>
            <a:stCxn id="70" idx="2"/>
          </p:cNvCxnSpPr>
          <p:nvPr/>
        </p:nvCxnSpPr>
        <p:spPr>
          <a:xfrm flipH="1" flipV="1">
            <a:off x="1143071" y="1759095"/>
            <a:ext cx="2023933" cy="13488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F8570514-AEAB-B3BB-BACA-3AE7B90FC83F}"/>
              </a:ext>
            </a:extLst>
          </p:cNvPr>
          <p:cNvCxnSpPr>
            <a:cxnSpLocks/>
            <a:stCxn id="86" idx="2"/>
            <a:endCxn id="3" idx="6"/>
          </p:cNvCxnSpPr>
          <p:nvPr/>
        </p:nvCxnSpPr>
        <p:spPr>
          <a:xfrm flipH="1" flipV="1">
            <a:off x="1138718" y="2652004"/>
            <a:ext cx="2007604" cy="1491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8A0E2A12-D99F-5DD9-1E91-0A243A999A92}"/>
              </a:ext>
            </a:extLst>
          </p:cNvPr>
          <p:cNvCxnSpPr>
            <a:cxnSpLocks/>
            <a:stCxn id="86" idx="2"/>
          </p:cNvCxnSpPr>
          <p:nvPr/>
        </p:nvCxnSpPr>
        <p:spPr>
          <a:xfrm flipH="1" flipV="1">
            <a:off x="1165091" y="1820766"/>
            <a:ext cx="1981231" cy="23229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0" name="TextBox 139">
            <a:extLst>
              <a:ext uri="{FF2B5EF4-FFF2-40B4-BE49-F238E27FC236}">
                <a16:creationId xmlns:a16="http://schemas.microsoft.com/office/drawing/2014/main" id="{A0B25FB4-A8D4-B8CC-F61A-9102BA338663}"/>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45" name="TextBox 144">
            <a:extLst>
              <a:ext uri="{FF2B5EF4-FFF2-40B4-BE49-F238E27FC236}">
                <a16:creationId xmlns:a16="http://schemas.microsoft.com/office/drawing/2014/main" id="{7BBCD651-322D-49B0-5FE5-86D6352EB419}"/>
              </a:ext>
            </a:extLst>
          </p:cNvPr>
          <p:cNvSpPr txBox="1"/>
          <p:nvPr/>
        </p:nvSpPr>
        <p:spPr>
          <a:xfrm>
            <a:off x="7560068" y="3882088"/>
            <a:ext cx="1581150" cy="830997"/>
          </a:xfrm>
          <a:prstGeom prst="rect">
            <a:avLst/>
          </a:prstGeom>
          <a:noFill/>
        </p:spPr>
        <p:txBody>
          <a:bodyPr wrap="square">
            <a:spAutoFit/>
          </a:bodyPr>
          <a:lstStyle/>
          <a:p>
            <a:pPr algn="ctr">
              <a:buNone/>
            </a:pPr>
            <a:r>
              <a:rPr lang="en-GB" sz="2400" b="1" dirty="0">
                <a:solidFill>
                  <a:srgbClr val="92D050"/>
                </a:solidFill>
              </a:rPr>
              <a:t>Adjust the weights</a:t>
            </a:r>
          </a:p>
        </p:txBody>
      </p:sp>
      <p:sp>
        <p:nvSpPr>
          <p:cNvPr id="7" name="TextBox 6">
            <a:extLst>
              <a:ext uri="{FF2B5EF4-FFF2-40B4-BE49-F238E27FC236}">
                <a16:creationId xmlns:a16="http://schemas.microsoft.com/office/drawing/2014/main" id="{774E249C-02C3-1266-D4EB-E33B363885A7}"/>
              </a:ext>
            </a:extLst>
          </p:cNvPr>
          <p:cNvSpPr txBox="1"/>
          <p:nvPr/>
        </p:nvSpPr>
        <p:spPr>
          <a:xfrm>
            <a:off x="9929879" y="2289971"/>
            <a:ext cx="1828800" cy="1631216"/>
          </a:xfrm>
          <a:prstGeom prst="rect">
            <a:avLst/>
          </a:prstGeom>
          <a:noFill/>
        </p:spPr>
        <p:txBody>
          <a:bodyPr wrap="square">
            <a:spAutoFit/>
          </a:bodyPr>
          <a:lstStyle/>
          <a:p>
            <a:r>
              <a:rPr lang="en-GB" altLang="en-US" sz="2000" dirty="0">
                <a:latin typeface="Google Sans Text"/>
              </a:rPr>
              <a:t>The error is propagated </a:t>
            </a:r>
            <a:r>
              <a:rPr lang="en-GB" altLang="en-US" sz="2000" dirty="0">
                <a:solidFill>
                  <a:srgbClr val="92D050"/>
                </a:solidFill>
                <a:latin typeface="Google Sans Text"/>
              </a:rPr>
              <a:t>backward</a:t>
            </a:r>
            <a:r>
              <a:rPr lang="en-GB" altLang="en-US" sz="2000" dirty="0">
                <a:latin typeface="Google Sans Text"/>
              </a:rPr>
              <a:t> through the network </a:t>
            </a:r>
            <a:endParaRPr lang="en-GB" sz="2000" dirty="0"/>
          </a:p>
        </p:txBody>
      </p:sp>
      <p:cxnSp>
        <p:nvCxnSpPr>
          <p:cNvPr id="8" name="Straight Arrow Connector 7">
            <a:extLst>
              <a:ext uri="{FF2B5EF4-FFF2-40B4-BE49-F238E27FC236}">
                <a16:creationId xmlns:a16="http://schemas.microsoft.com/office/drawing/2014/main" id="{740314C8-778E-21E9-DE6B-E4FA3564F07D}"/>
              </a:ext>
            </a:extLst>
          </p:cNvPr>
          <p:cNvCxnSpPr>
            <a:cxnSpLocks/>
          </p:cNvCxnSpPr>
          <p:nvPr/>
        </p:nvCxnSpPr>
        <p:spPr>
          <a:xfrm flipH="1">
            <a:off x="9282179" y="3105579"/>
            <a:ext cx="569165" cy="70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2D39746-E034-7D1E-1A56-7138ACDC3644}"/>
              </a:ext>
            </a:extLst>
          </p:cNvPr>
          <p:cNvSpPr/>
          <p:nvPr/>
        </p:nvSpPr>
        <p:spPr>
          <a:xfrm>
            <a:off x="8634479" y="2510596"/>
            <a:ext cx="647700" cy="1270101"/>
          </a:xfrm>
          <a:prstGeom prst="rect">
            <a:avLst/>
          </a:prstGeom>
          <a:noFill/>
          <a:ln w="28575">
            <a:solidFill>
              <a:srgbClr val="C8E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10839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7BE7F-670D-5674-8C84-C98E3E2A11B8}"/>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CDB877D6-9712-4FB0-8591-A8A42E5FA9C2}"/>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9AD77F45-2B17-4148-431F-49B21348EF44}"/>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4549C527-5461-CF7A-A28A-ED9915CF26D0}"/>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2DB9AD23-8B0B-B1C4-239A-40F96D61ED8B}"/>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37" name="Straight Arrow Connector 36">
            <a:extLst>
              <a:ext uri="{FF2B5EF4-FFF2-40B4-BE49-F238E27FC236}">
                <a16:creationId xmlns:a16="http://schemas.microsoft.com/office/drawing/2014/main" id="{EB2B1E37-CD79-1CC6-DAAF-6DE51CBC9DE6}"/>
              </a:ext>
            </a:extLst>
          </p:cNvPr>
          <p:cNvCxnSpPr>
            <a:cxnSpLocks/>
            <a:stCxn id="72" idx="2"/>
            <a:endCxn id="2" idx="6"/>
          </p:cNvCxnSpPr>
          <p:nvPr/>
        </p:nvCxnSpPr>
        <p:spPr>
          <a:xfrm flipH="1" flipV="1">
            <a:off x="1186144" y="1726297"/>
            <a:ext cx="1980860" cy="4308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4060D8E-0C08-9512-C81C-D03D37C6C2E3}"/>
              </a:ext>
            </a:extLst>
          </p:cNvPr>
          <p:cNvCxnSpPr>
            <a:cxnSpLocks/>
            <a:endCxn id="3" idx="6"/>
          </p:cNvCxnSpPr>
          <p:nvPr/>
        </p:nvCxnSpPr>
        <p:spPr>
          <a:xfrm flipH="1" flipV="1">
            <a:off x="1138718" y="2652004"/>
            <a:ext cx="2028286" cy="4746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87EBEAB-8728-043C-A7D5-BB11DACC9496}"/>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DB7F4C30-763F-FBF1-5F60-F315E4CD913C}"/>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7CAF2193-6949-D5BA-D8DD-910A1CFC42D0}"/>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D3608C13-6E20-5C97-CE8F-339972FDBD98}"/>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sp>
        <p:nvSpPr>
          <p:cNvPr id="74" name="Oval 73">
            <a:extLst>
              <a:ext uri="{FF2B5EF4-FFF2-40B4-BE49-F238E27FC236}">
                <a16:creationId xmlns:a16="http://schemas.microsoft.com/office/drawing/2014/main" id="{221B3B19-B92E-C4C5-4892-3F719F5CCEC7}"/>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80AE3D7D-3649-4310-8E32-45F750CD96C3}"/>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AD75C4CC-10A1-9475-DF39-E9C389AE8815}"/>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sp>
        <p:nvSpPr>
          <p:cNvPr id="11" name="TextBox 10">
            <a:extLst>
              <a:ext uri="{FF2B5EF4-FFF2-40B4-BE49-F238E27FC236}">
                <a16:creationId xmlns:a16="http://schemas.microsoft.com/office/drawing/2014/main" id="{CE7AFD7B-5CB5-4518-D594-C0E7566D4E07}"/>
              </a:ext>
            </a:extLst>
          </p:cNvPr>
          <p:cNvSpPr txBox="1"/>
          <p:nvPr/>
        </p:nvSpPr>
        <p:spPr>
          <a:xfrm>
            <a:off x="3187810" y="6164"/>
            <a:ext cx="6641990" cy="523220"/>
          </a:xfrm>
          <a:prstGeom prst="rect">
            <a:avLst/>
          </a:prstGeom>
          <a:noFill/>
        </p:spPr>
        <p:txBody>
          <a:bodyPr wrap="square">
            <a:spAutoFit/>
          </a:bodyPr>
          <a:lstStyle/>
          <a:p>
            <a:r>
              <a:rPr lang="en-GB" sz="2800" dirty="0">
                <a:solidFill>
                  <a:srgbClr val="92D050"/>
                </a:solidFill>
                <a:latin typeface="Consolas"/>
              </a:rPr>
              <a:t>Backpropagation (the </a:t>
            </a:r>
            <a:r>
              <a:rPr lang="en-US" sz="2800" dirty="0">
                <a:solidFill>
                  <a:srgbClr val="92D050"/>
                </a:solidFill>
                <a:latin typeface="Consolas"/>
              </a:rPr>
              <a:t>correction</a:t>
            </a:r>
            <a:r>
              <a:rPr lang="en-GB" sz="2800" dirty="0">
                <a:solidFill>
                  <a:srgbClr val="92D050"/>
                </a:solidFill>
                <a:latin typeface="Consolas"/>
              </a:rPr>
              <a:t>)</a:t>
            </a:r>
          </a:p>
        </p:txBody>
      </p:sp>
      <p:sp>
        <p:nvSpPr>
          <p:cNvPr id="12" name="Rectangle 11">
            <a:extLst>
              <a:ext uri="{FF2B5EF4-FFF2-40B4-BE49-F238E27FC236}">
                <a16:creationId xmlns:a16="http://schemas.microsoft.com/office/drawing/2014/main" id="{859F8207-E4BC-8390-EF36-EBF761EE752D}"/>
              </a:ext>
            </a:extLst>
          </p:cNvPr>
          <p:cNvSpPr/>
          <p:nvPr/>
        </p:nvSpPr>
        <p:spPr>
          <a:xfrm>
            <a:off x="6820723" y="1854918"/>
            <a:ext cx="700428" cy="2632888"/>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7D7BA668-E805-B86A-EB16-C48099B3262E}"/>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5" name="Straight Arrow Connector 14">
            <a:extLst>
              <a:ext uri="{FF2B5EF4-FFF2-40B4-BE49-F238E27FC236}">
                <a16:creationId xmlns:a16="http://schemas.microsoft.com/office/drawing/2014/main" id="{CC24BD12-0032-27CA-98B5-011966F15767}"/>
              </a:ext>
            </a:extLst>
          </p:cNvPr>
          <p:cNvCxnSpPr>
            <a:cxnSpLocks/>
            <a:stCxn id="14" idx="2"/>
          </p:cNvCxnSpPr>
          <p:nvPr/>
        </p:nvCxnSpPr>
        <p:spPr>
          <a:xfrm flipH="1" flipV="1">
            <a:off x="7515358" y="2219649"/>
            <a:ext cx="1119121" cy="922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830BFE5-5A22-1F42-5BDF-CC0035CAD076}"/>
              </a:ext>
            </a:extLst>
          </p:cNvPr>
          <p:cNvCxnSpPr>
            <a:cxnSpLocks/>
            <a:stCxn id="14" idx="2"/>
          </p:cNvCxnSpPr>
          <p:nvPr/>
        </p:nvCxnSpPr>
        <p:spPr>
          <a:xfrm flipH="1">
            <a:off x="7486380" y="3142146"/>
            <a:ext cx="1148099" cy="9825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D592704-7BB3-AD17-77A9-E19828325E65}"/>
              </a:ext>
            </a:extLst>
          </p:cNvPr>
          <p:cNvCxnSpPr>
            <a:cxnSpLocks/>
            <a:stCxn id="14" idx="2"/>
          </p:cNvCxnSpPr>
          <p:nvPr/>
        </p:nvCxnSpPr>
        <p:spPr>
          <a:xfrm flipH="1">
            <a:off x="7536040" y="3142146"/>
            <a:ext cx="109843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332B67C-2D0E-9CB7-1ECA-53694A646974}"/>
              </a:ext>
            </a:extLst>
          </p:cNvPr>
          <p:cNvCxnSpPr>
            <a:cxnSpLocks/>
            <a:stCxn id="75" idx="2"/>
          </p:cNvCxnSpPr>
          <p:nvPr/>
        </p:nvCxnSpPr>
        <p:spPr>
          <a:xfrm flipH="1" flipV="1">
            <a:off x="5664493" y="2168734"/>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FABE475-94F6-F3F1-7F1B-D1279D2462D0}"/>
              </a:ext>
            </a:extLst>
          </p:cNvPr>
          <p:cNvCxnSpPr>
            <a:cxnSpLocks/>
          </p:cNvCxnSpPr>
          <p:nvPr/>
        </p:nvCxnSpPr>
        <p:spPr>
          <a:xfrm flipH="1" flipV="1">
            <a:off x="5652518" y="3091490"/>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6942099-F269-436B-6E1A-E51930E080ED}"/>
              </a:ext>
            </a:extLst>
          </p:cNvPr>
          <p:cNvCxnSpPr>
            <a:cxnSpLocks/>
          </p:cNvCxnSpPr>
          <p:nvPr/>
        </p:nvCxnSpPr>
        <p:spPr>
          <a:xfrm flipH="1" flipV="1">
            <a:off x="5631836" y="4173988"/>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6A8D7D3-B816-8934-FC60-6FB0D4AB2BD3}"/>
              </a:ext>
            </a:extLst>
          </p:cNvPr>
          <p:cNvCxnSpPr>
            <a:cxnSpLocks/>
            <a:endCxn id="46" idx="6"/>
          </p:cNvCxnSpPr>
          <p:nvPr/>
        </p:nvCxnSpPr>
        <p:spPr>
          <a:xfrm flipH="1">
            <a:off x="5664493" y="2208026"/>
            <a:ext cx="1214821" cy="9115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805EDAC-C7FD-9CAD-88D4-240A2D190624}"/>
              </a:ext>
            </a:extLst>
          </p:cNvPr>
          <p:cNvCxnSpPr>
            <a:cxnSpLocks/>
            <a:stCxn id="75" idx="2"/>
            <a:endCxn id="48" idx="6"/>
          </p:cNvCxnSpPr>
          <p:nvPr/>
        </p:nvCxnSpPr>
        <p:spPr>
          <a:xfrm flipH="1">
            <a:off x="5643811" y="2187432"/>
            <a:ext cx="1223955" cy="19678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6695A5FA-57A6-1691-B7FD-34B9089F3EE5}"/>
              </a:ext>
            </a:extLst>
          </p:cNvPr>
          <p:cNvCxnSpPr>
            <a:cxnSpLocks/>
            <a:stCxn id="74" idx="2"/>
            <a:endCxn id="47" idx="6"/>
          </p:cNvCxnSpPr>
          <p:nvPr/>
        </p:nvCxnSpPr>
        <p:spPr>
          <a:xfrm flipH="1" flipV="1">
            <a:off x="5664493" y="2168735"/>
            <a:ext cx="1203273"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AE604829-14B2-FE8D-5B20-07690B01B9CB}"/>
              </a:ext>
            </a:extLst>
          </p:cNvPr>
          <p:cNvCxnSpPr>
            <a:cxnSpLocks/>
            <a:stCxn id="74" idx="2"/>
            <a:endCxn id="48" idx="6"/>
          </p:cNvCxnSpPr>
          <p:nvPr/>
        </p:nvCxnSpPr>
        <p:spPr>
          <a:xfrm flipH="1">
            <a:off x="5643811" y="3138232"/>
            <a:ext cx="1223955" cy="10170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94619B5-FE06-13D9-BF00-C2715FB809F8}"/>
              </a:ext>
            </a:extLst>
          </p:cNvPr>
          <p:cNvCxnSpPr>
            <a:cxnSpLocks/>
            <a:stCxn id="76" idx="2"/>
          </p:cNvCxnSpPr>
          <p:nvPr/>
        </p:nvCxnSpPr>
        <p:spPr>
          <a:xfrm flipH="1" flipV="1">
            <a:off x="5686305" y="3117170"/>
            <a:ext cx="1160779" cy="10568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0CCD1E3-D0C7-EC2E-E571-B5D1868DE99B}"/>
              </a:ext>
            </a:extLst>
          </p:cNvPr>
          <p:cNvCxnSpPr>
            <a:cxnSpLocks/>
          </p:cNvCxnSpPr>
          <p:nvPr/>
        </p:nvCxnSpPr>
        <p:spPr>
          <a:xfrm flipH="1" flipV="1">
            <a:off x="5631836" y="2179979"/>
            <a:ext cx="1188887" cy="19659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209320AE-5D16-EEE4-81BF-2D68A682644B}"/>
              </a:ext>
            </a:extLst>
          </p:cNvPr>
          <p:cNvSpPr/>
          <p:nvPr/>
        </p:nvSpPr>
        <p:spPr>
          <a:xfrm>
            <a:off x="3167004" y="2784778"/>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2" name="Oval 71">
            <a:extLst>
              <a:ext uri="{FF2B5EF4-FFF2-40B4-BE49-F238E27FC236}">
                <a16:creationId xmlns:a16="http://schemas.microsoft.com/office/drawing/2014/main" id="{8DFE5BE2-C465-4DBB-22BA-92F99996F7BA}"/>
              </a:ext>
            </a:extLst>
          </p:cNvPr>
          <p:cNvSpPr/>
          <p:nvPr/>
        </p:nvSpPr>
        <p:spPr>
          <a:xfrm>
            <a:off x="3167004" y="1833978"/>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86" name="Oval 85">
            <a:extLst>
              <a:ext uri="{FF2B5EF4-FFF2-40B4-BE49-F238E27FC236}">
                <a16:creationId xmlns:a16="http://schemas.microsoft.com/office/drawing/2014/main" id="{30AC4635-8E77-1DF9-AB13-C7E5BC44DC86}"/>
              </a:ext>
            </a:extLst>
          </p:cNvPr>
          <p:cNvSpPr/>
          <p:nvPr/>
        </p:nvSpPr>
        <p:spPr>
          <a:xfrm>
            <a:off x="3146322" y="3820535"/>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91" name="Straight Arrow Connector 90">
            <a:extLst>
              <a:ext uri="{FF2B5EF4-FFF2-40B4-BE49-F238E27FC236}">
                <a16:creationId xmlns:a16="http://schemas.microsoft.com/office/drawing/2014/main" id="{2F783E32-A1F0-D7E9-AF83-26A66DBC19DD}"/>
              </a:ext>
            </a:extLst>
          </p:cNvPr>
          <p:cNvCxnSpPr>
            <a:cxnSpLocks/>
          </p:cNvCxnSpPr>
          <p:nvPr/>
        </p:nvCxnSpPr>
        <p:spPr>
          <a:xfrm flipH="1" flipV="1">
            <a:off x="3814704" y="2157143"/>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2FE0411E-5D7B-BBF9-1013-DACDC07995C0}"/>
              </a:ext>
            </a:extLst>
          </p:cNvPr>
          <p:cNvCxnSpPr>
            <a:cxnSpLocks/>
          </p:cNvCxnSpPr>
          <p:nvPr/>
        </p:nvCxnSpPr>
        <p:spPr>
          <a:xfrm flipH="1" flipV="1">
            <a:off x="3802729" y="3079899"/>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A98BF71A-CC98-061F-8816-913420EC4EF4}"/>
              </a:ext>
            </a:extLst>
          </p:cNvPr>
          <p:cNvCxnSpPr>
            <a:cxnSpLocks/>
          </p:cNvCxnSpPr>
          <p:nvPr/>
        </p:nvCxnSpPr>
        <p:spPr>
          <a:xfrm flipH="1" flipV="1">
            <a:off x="3782047" y="4162397"/>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B3D362D8-EB26-B758-CAE7-FF7E4CD67437}"/>
              </a:ext>
            </a:extLst>
          </p:cNvPr>
          <p:cNvCxnSpPr>
            <a:cxnSpLocks/>
            <a:endCxn id="70" idx="6"/>
          </p:cNvCxnSpPr>
          <p:nvPr/>
        </p:nvCxnSpPr>
        <p:spPr>
          <a:xfrm flipH="1">
            <a:off x="3814704" y="2196435"/>
            <a:ext cx="1214821" cy="9115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C187DE22-C2F2-824D-A75A-042C35E50104}"/>
              </a:ext>
            </a:extLst>
          </p:cNvPr>
          <p:cNvCxnSpPr>
            <a:cxnSpLocks/>
            <a:endCxn id="86" idx="6"/>
          </p:cNvCxnSpPr>
          <p:nvPr/>
        </p:nvCxnSpPr>
        <p:spPr>
          <a:xfrm flipH="1">
            <a:off x="3794022" y="2175841"/>
            <a:ext cx="1223955" cy="19678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93D5A3D4-626C-3B7E-C9CB-0E4203E27051}"/>
              </a:ext>
            </a:extLst>
          </p:cNvPr>
          <p:cNvCxnSpPr>
            <a:cxnSpLocks/>
            <a:endCxn id="72" idx="6"/>
          </p:cNvCxnSpPr>
          <p:nvPr/>
        </p:nvCxnSpPr>
        <p:spPr>
          <a:xfrm flipH="1" flipV="1">
            <a:off x="3814704" y="2157144"/>
            <a:ext cx="1203273"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7D8EF94F-1BCD-146D-7A2D-6B31C80333EE}"/>
              </a:ext>
            </a:extLst>
          </p:cNvPr>
          <p:cNvCxnSpPr>
            <a:cxnSpLocks/>
            <a:endCxn id="86" idx="6"/>
          </p:cNvCxnSpPr>
          <p:nvPr/>
        </p:nvCxnSpPr>
        <p:spPr>
          <a:xfrm flipH="1">
            <a:off x="3794022" y="3126641"/>
            <a:ext cx="1223955" cy="10170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575E08A7-D1B9-29A9-3EF5-EBC6CA350CFF}"/>
              </a:ext>
            </a:extLst>
          </p:cNvPr>
          <p:cNvCxnSpPr>
            <a:cxnSpLocks/>
          </p:cNvCxnSpPr>
          <p:nvPr/>
        </p:nvCxnSpPr>
        <p:spPr>
          <a:xfrm flipH="1" flipV="1">
            <a:off x="3836516" y="3105579"/>
            <a:ext cx="1160779" cy="10568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A31F81B4-A44C-EF6E-556E-D5FB7A5F2D10}"/>
              </a:ext>
            </a:extLst>
          </p:cNvPr>
          <p:cNvCxnSpPr>
            <a:cxnSpLocks/>
          </p:cNvCxnSpPr>
          <p:nvPr/>
        </p:nvCxnSpPr>
        <p:spPr>
          <a:xfrm flipH="1" flipV="1">
            <a:off x="3782047" y="2168388"/>
            <a:ext cx="1188887" cy="19659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AA401491-5BC7-2CA3-82A2-6A742E536814}"/>
              </a:ext>
            </a:extLst>
          </p:cNvPr>
          <p:cNvCxnSpPr>
            <a:cxnSpLocks/>
            <a:stCxn id="86" idx="2"/>
          </p:cNvCxnSpPr>
          <p:nvPr/>
        </p:nvCxnSpPr>
        <p:spPr>
          <a:xfrm flipH="1" flipV="1">
            <a:off x="1079461" y="3584923"/>
            <a:ext cx="2066861" cy="5587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4DBE34B5-BCAA-BCF3-7708-B8F0D280E969}"/>
              </a:ext>
            </a:extLst>
          </p:cNvPr>
          <p:cNvCxnSpPr>
            <a:cxnSpLocks/>
            <a:stCxn id="86" idx="2"/>
          </p:cNvCxnSpPr>
          <p:nvPr/>
        </p:nvCxnSpPr>
        <p:spPr>
          <a:xfrm flipH="1">
            <a:off x="1101583" y="4143701"/>
            <a:ext cx="2044739" cy="2911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9073739C-1037-1627-D357-E7A03A2F241A}"/>
              </a:ext>
            </a:extLst>
          </p:cNvPr>
          <p:cNvCxnSpPr>
            <a:cxnSpLocks/>
            <a:stCxn id="72" idx="2"/>
          </p:cNvCxnSpPr>
          <p:nvPr/>
        </p:nvCxnSpPr>
        <p:spPr>
          <a:xfrm flipH="1">
            <a:off x="1101583" y="2157144"/>
            <a:ext cx="2065421" cy="22586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A73562E0-E133-73F2-D3E1-223BDBD34C02}"/>
              </a:ext>
            </a:extLst>
          </p:cNvPr>
          <p:cNvCxnSpPr>
            <a:cxnSpLocks/>
            <a:endCxn id="4" idx="6"/>
          </p:cNvCxnSpPr>
          <p:nvPr/>
        </p:nvCxnSpPr>
        <p:spPr>
          <a:xfrm flipH="1">
            <a:off x="1124530" y="2175885"/>
            <a:ext cx="2021792" cy="136754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E5EA67BE-736A-0160-0243-5CE77A8A77FA}"/>
              </a:ext>
            </a:extLst>
          </p:cNvPr>
          <p:cNvCxnSpPr>
            <a:cxnSpLocks/>
            <a:stCxn id="72" idx="2"/>
          </p:cNvCxnSpPr>
          <p:nvPr/>
        </p:nvCxnSpPr>
        <p:spPr>
          <a:xfrm flipH="1">
            <a:off x="1142947" y="2157144"/>
            <a:ext cx="2024057" cy="4820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11AAA351-3CC0-00CE-5009-68C7454B35C5}"/>
              </a:ext>
            </a:extLst>
          </p:cNvPr>
          <p:cNvCxnSpPr>
            <a:cxnSpLocks/>
            <a:stCxn id="70" idx="2"/>
            <a:endCxn id="4" idx="6"/>
          </p:cNvCxnSpPr>
          <p:nvPr/>
        </p:nvCxnSpPr>
        <p:spPr>
          <a:xfrm flipH="1">
            <a:off x="1124530" y="3107944"/>
            <a:ext cx="2042474" cy="43548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C883909E-A93E-28AF-DB6C-4DE6C501AC69}"/>
              </a:ext>
            </a:extLst>
          </p:cNvPr>
          <p:cNvCxnSpPr>
            <a:cxnSpLocks/>
            <a:stCxn id="70" idx="2"/>
            <a:endCxn id="5" idx="6"/>
          </p:cNvCxnSpPr>
          <p:nvPr/>
        </p:nvCxnSpPr>
        <p:spPr>
          <a:xfrm flipH="1">
            <a:off x="1124530" y="3107944"/>
            <a:ext cx="2042474" cy="13269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B1256DAD-C439-1603-3C01-1B2365D77899}"/>
              </a:ext>
            </a:extLst>
          </p:cNvPr>
          <p:cNvCxnSpPr>
            <a:cxnSpLocks/>
            <a:stCxn id="70" idx="2"/>
          </p:cNvCxnSpPr>
          <p:nvPr/>
        </p:nvCxnSpPr>
        <p:spPr>
          <a:xfrm flipH="1" flipV="1">
            <a:off x="1143071" y="1759095"/>
            <a:ext cx="2023933" cy="13488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7C304749-EACB-20A3-9C9B-342E5FE53E60}"/>
              </a:ext>
            </a:extLst>
          </p:cNvPr>
          <p:cNvCxnSpPr>
            <a:cxnSpLocks/>
            <a:stCxn id="86" idx="2"/>
            <a:endCxn id="3" idx="6"/>
          </p:cNvCxnSpPr>
          <p:nvPr/>
        </p:nvCxnSpPr>
        <p:spPr>
          <a:xfrm flipH="1" flipV="1">
            <a:off x="1138718" y="2652004"/>
            <a:ext cx="2007604" cy="1491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75BA72CB-983B-CDC0-66C7-5D92AEE0194D}"/>
              </a:ext>
            </a:extLst>
          </p:cNvPr>
          <p:cNvCxnSpPr>
            <a:cxnSpLocks/>
            <a:stCxn id="86" idx="2"/>
          </p:cNvCxnSpPr>
          <p:nvPr/>
        </p:nvCxnSpPr>
        <p:spPr>
          <a:xfrm flipH="1" flipV="1">
            <a:off x="1165091" y="1820766"/>
            <a:ext cx="1981231" cy="23229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0" name="TextBox 139">
            <a:extLst>
              <a:ext uri="{FF2B5EF4-FFF2-40B4-BE49-F238E27FC236}">
                <a16:creationId xmlns:a16="http://schemas.microsoft.com/office/drawing/2014/main" id="{DD2F4BE5-5718-0DFB-BC06-536DC93F2BDA}"/>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45" name="TextBox 144">
            <a:extLst>
              <a:ext uri="{FF2B5EF4-FFF2-40B4-BE49-F238E27FC236}">
                <a16:creationId xmlns:a16="http://schemas.microsoft.com/office/drawing/2014/main" id="{D238B477-9123-A4C4-8220-5DA10F72AE1D}"/>
              </a:ext>
            </a:extLst>
          </p:cNvPr>
          <p:cNvSpPr txBox="1"/>
          <p:nvPr/>
        </p:nvSpPr>
        <p:spPr>
          <a:xfrm>
            <a:off x="5448657" y="4403952"/>
            <a:ext cx="1581150" cy="830997"/>
          </a:xfrm>
          <a:prstGeom prst="rect">
            <a:avLst/>
          </a:prstGeom>
          <a:noFill/>
        </p:spPr>
        <p:txBody>
          <a:bodyPr wrap="square">
            <a:spAutoFit/>
          </a:bodyPr>
          <a:lstStyle/>
          <a:p>
            <a:pPr algn="ctr">
              <a:buNone/>
            </a:pPr>
            <a:r>
              <a:rPr lang="en-GB" sz="2400" b="1" dirty="0">
                <a:solidFill>
                  <a:srgbClr val="92D050"/>
                </a:solidFill>
              </a:rPr>
              <a:t>Adjust the weights</a:t>
            </a:r>
          </a:p>
        </p:txBody>
      </p:sp>
      <p:sp>
        <p:nvSpPr>
          <p:cNvPr id="7" name="TextBox 6">
            <a:extLst>
              <a:ext uri="{FF2B5EF4-FFF2-40B4-BE49-F238E27FC236}">
                <a16:creationId xmlns:a16="http://schemas.microsoft.com/office/drawing/2014/main" id="{6136E94D-82DB-D996-050F-4B587DD1E22D}"/>
              </a:ext>
            </a:extLst>
          </p:cNvPr>
          <p:cNvSpPr txBox="1"/>
          <p:nvPr/>
        </p:nvSpPr>
        <p:spPr>
          <a:xfrm>
            <a:off x="9929879" y="2289971"/>
            <a:ext cx="1828800" cy="1631216"/>
          </a:xfrm>
          <a:prstGeom prst="rect">
            <a:avLst/>
          </a:prstGeom>
          <a:noFill/>
        </p:spPr>
        <p:txBody>
          <a:bodyPr wrap="square">
            <a:spAutoFit/>
          </a:bodyPr>
          <a:lstStyle/>
          <a:p>
            <a:r>
              <a:rPr lang="en-GB" altLang="en-US" sz="2000" dirty="0">
                <a:latin typeface="Google Sans Text"/>
              </a:rPr>
              <a:t>The error is propagated </a:t>
            </a:r>
            <a:r>
              <a:rPr lang="en-GB" altLang="en-US" sz="2000" dirty="0">
                <a:solidFill>
                  <a:srgbClr val="92D050"/>
                </a:solidFill>
                <a:latin typeface="Google Sans Text"/>
              </a:rPr>
              <a:t>backward</a:t>
            </a:r>
            <a:r>
              <a:rPr lang="en-GB" altLang="en-US" sz="2000" dirty="0">
                <a:latin typeface="Google Sans Text"/>
              </a:rPr>
              <a:t> through the network </a:t>
            </a:r>
            <a:endParaRPr lang="en-GB" sz="2000" dirty="0"/>
          </a:p>
        </p:txBody>
      </p:sp>
      <p:cxnSp>
        <p:nvCxnSpPr>
          <p:cNvPr id="8" name="Straight Arrow Connector 7">
            <a:extLst>
              <a:ext uri="{FF2B5EF4-FFF2-40B4-BE49-F238E27FC236}">
                <a16:creationId xmlns:a16="http://schemas.microsoft.com/office/drawing/2014/main" id="{66DAE080-9000-01D3-8A5A-065D92A5B319}"/>
              </a:ext>
            </a:extLst>
          </p:cNvPr>
          <p:cNvCxnSpPr>
            <a:cxnSpLocks/>
          </p:cNvCxnSpPr>
          <p:nvPr/>
        </p:nvCxnSpPr>
        <p:spPr>
          <a:xfrm flipH="1">
            <a:off x="9282179" y="3105579"/>
            <a:ext cx="569165" cy="70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5784D6B-963A-4F8B-CD96-1D71CE526C25}"/>
              </a:ext>
            </a:extLst>
          </p:cNvPr>
          <p:cNvCxnSpPr>
            <a:cxnSpLocks/>
          </p:cNvCxnSpPr>
          <p:nvPr/>
        </p:nvCxnSpPr>
        <p:spPr>
          <a:xfrm flipH="1">
            <a:off x="5334000" y="1173062"/>
            <a:ext cx="5029200"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6313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F6674-9107-EAF9-552F-24B2F41DDBD6}"/>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198C9213-23E0-58ED-AE22-CB71586FF00E}"/>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B31EC085-C89A-4BA3-6BF6-4AA86EF21243}"/>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5082B71A-6130-4684-60A1-C042434A8A72}"/>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959368A2-F8DF-8F1F-7545-0D64539D5E71}"/>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37" name="Straight Arrow Connector 36">
            <a:extLst>
              <a:ext uri="{FF2B5EF4-FFF2-40B4-BE49-F238E27FC236}">
                <a16:creationId xmlns:a16="http://schemas.microsoft.com/office/drawing/2014/main" id="{F27106C8-A7A7-F1D4-D724-C94E93CDECE1}"/>
              </a:ext>
            </a:extLst>
          </p:cNvPr>
          <p:cNvCxnSpPr>
            <a:cxnSpLocks/>
            <a:stCxn id="72" idx="2"/>
            <a:endCxn id="2" idx="6"/>
          </p:cNvCxnSpPr>
          <p:nvPr/>
        </p:nvCxnSpPr>
        <p:spPr>
          <a:xfrm flipH="1" flipV="1">
            <a:off x="1186144" y="1726297"/>
            <a:ext cx="1980860" cy="4308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F3096B6-707D-9963-A6DA-02A67757F1E1}"/>
              </a:ext>
            </a:extLst>
          </p:cNvPr>
          <p:cNvCxnSpPr>
            <a:cxnSpLocks/>
            <a:endCxn id="3" idx="6"/>
          </p:cNvCxnSpPr>
          <p:nvPr/>
        </p:nvCxnSpPr>
        <p:spPr>
          <a:xfrm flipH="1" flipV="1">
            <a:off x="1138718" y="2652004"/>
            <a:ext cx="2028286" cy="4746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FA515D2-1E3F-3CE6-F48F-E58824F47679}"/>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64452A53-6043-0FC4-8C23-882414F6A9DA}"/>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0C0D3EFE-9F26-2C0A-41BE-7934FEBD63A1}"/>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3970C7AA-7149-18EF-AA05-4CBA6981B68D}"/>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sp>
        <p:nvSpPr>
          <p:cNvPr id="74" name="Oval 73">
            <a:extLst>
              <a:ext uri="{FF2B5EF4-FFF2-40B4-BE49-F238E27FC236}">
                <a16:creationId xmlns:a16="http://schemas.microsoft.com/office/drawing/2014/main" id="{B09A85C4-4DC1-9501-B909-DA1228BD4C43}"/>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214A9658-EDFE-B9BB-0567-3192B5094AEC}"/>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C0E3BA0D-4656-6543-78DA-6A77A6ACA3E8}"/>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sp>
        <p:nvSpPr>
          <p:cNvPr id="104" name="TextBox 103">
            <a:extLst>
              <a:ext uri="{FF2B5EF4-FFF2-40B4-BE49-F238E27FC236}">
                <a16:creationId xmlns:a16="http://schemas.microsoft.com/office/drawing/2014/main" id="{F29F01A5-A70F-915C-644C-9A80FCC3B153}"/>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2" name="Rectangle 11">
            <a:extLst>
              <a:ext uri="{FF2B5EF4-FFF2-40B4-BE49-F238E27FC236}">
                <a16:creationId xmlns:a16="http://schemas.microsoft.com/office/drawing/2014/main" id="{6C76014B-10FD-C579-3B6F-A5E14EF09F70}"/>
              </a:ext>
            </a:extLst>
          </p:cNvPr>
          <p:cNvSpPr/>
          <p:nvPr/>
        </p:nvSpPr>
        <p:spPr>
          <a:xfrm>
            <a:off x="4990429" y="1843327"/>
            <a:ext cx="700428" cy="2632888"/>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C47D4AF8-3098-BD2A-9C8E-6DB83D62CC0D}"/>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5" name="Straight Arrow Connector 14">
            <a:extLst>
              <a:ext uri="{FF2B5EF4-FFF2-40B4-BE49-F238E27FC236}">
                <a16:creationId xmlns:a16="http://schemas.microsoft.com/office/drawing/2014/main" id="{644B2ACF-B7D8-9C5B-B4EE-807C710F5883}"/>
              </a:ext>
            </a:extLst>
          </p:cNvPr>
          <p:cNvCxnSpPr>
            <a:cxnSpLocks/>
            <a:stCxn id="14" idx="2"/>
          </p:cNvCxnSpPr>
          <p:nvPr/>
        </p:nvCxnSpPr>
        <p:spPr>
          <a:xfrm flipH="1" flipV="1">
            <a:off x="7515358" y="2219649"/>
            <a:ext cx="1119121" cy="922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20D0019-0072-167E-8A1C-2FA689151B21}"/>
              </a:ext>
            </a:extLst>
          </p:cNvPr>
          <p:cNvCxnSpPr>
            <a:cxnSpLocks/>
            <a:stCxn id="14" idx="2"/>
          </p:cNvCxnSpPr>
          <p:nvPr/>
        </p:nvCxnSpPr>
        <p:spPr>
          <a:xfrm flipH="1">
            <a:off x="7486380" y="3142146"/>
            <a:ext cx="1148099" cy="9825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3D9E327-6222-AEFF-FA12-8C0B33B4C5D9}"/>
              </a:ext>
            </a:extLst>
          </p:cNvPr>
          <p:cNvCxnSpPr>
            <a:cxnSpLocks/>
            <a:stCxn id="14" idx="2"/>
          </p:cNvCxnSpPr>
          <p:nvPr/>
        </p:nvCxnSpPr>
        <p:spPr>
          <a:xfrm flipH="1">
            <a:off x="7536040" y="3142146"/>
            <a:ext cx="109843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5CED5F6-6E00-C2D1-CC42-EEAE19C8FD49}"/>
              </a:ext>
            </a:extLst>
          </p:cNvPr>
          <p:cNvCxnSpPr>
            <a:cxnSpLocks/>
            <a:stCxn id="75" idx="2"/>
          </p:cNvCxnSpPr>
          <p:nvPr/>
        </p:nvCxnSpPr>
        <p:spPr>
          <a:xfrm flipH="1" flipV="1">
            <a:off x="5664493" y="2168734"/>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AB4BE1D-2515-1D8F-C88B-DC3C55433B9A}"/>
              </a:ext>
            </a:extLst>
          </p:cNvPr>
          <p:cNvCxnSpPr>
            <a:cxnSpLocks/>
          </p:cNvCxnSpPr>
          <p:nvPr/>
        </p:nvCxnSpPr>
        <p:spPr>
          <a:xfrm flipH="1" flipV="1">
            <a:off x="5652518" y="3091490"/>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C2FB740-94A6-3081-2D3C-009BB670C806}"/>
              </a:ext>
            </a:extLst>
          </p:cNvPr>
          <p:cNvCxnSpPr>
            <a:cxnSpLocks/>
          </p:cNvCxnSpPr>
          <p:nvPr/>
        </p:nvCxnSpPr>
        <p:spPr>
          <a:xfrm flipH="1" flipV="1">
            <a:off x="5631836" y="4173988"/>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9A269D7-32B7-C155-B83B-F7AFAA168C23}"/>
              </a:ext>
            </a:extLst>
          </p:cNvPr>
          <p:cNvCxnSpPr>
            <a:cxnSpLocks/>
            <a:endCxn id="46" idx="6"/>
          </p:cNvCxnSpPr>
          <p:nvPr/>
        </p:nvCxnSpPr>
        <p:spPr>
          <a:xfrm flipH="1">
            <a:off x="5664493" y="2208026"/>
            <a:ext cx="1214821" cy="9115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F1833EE-68A2-2859-ADFA-6B3C18C2C4A6}"/>
              </a:ext>
            </a:extLst>
          </p:cNvPr>
          <p:cNvCxnSpPr>
            <a:cxnSpLocks/>
            <a:stCxn id="75" idx="2"/>
            <a:endCxn id="48" idx="6"/>
          </p:cNvCxnSpPr>
          <p:nvPr/>
        </p:nvCxnSpPr>
        <p:spPr>
          <a:xfrm flipH="1">
            <a:off x="5643811" y="2187432"/>
            <a:ext cx="1223955" cy="19678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CBF093C-67DE-20FD-CD5A-090FAB6D40E9}"/>
              </a:ext>
            </a:extLst>
          </p:cNvPr>
          <p:cNvCxnSpPr>
            <a:cxnSpLocks/>
            <a:stCxn id="74" idx="2"/>
            <a:endCxn id="47" idx="6"/>
          </p:cNvCxnSpPr>
          <p:nvPr/>
        </p:nvCxnSpPr>
        <p:spPr>
          <a:xfrm flipH="1" flipV="1">
            <a:off x="5664493" y="2168735"/>
            <a:ext cx="1203273"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60487EBF-3982-5737-4B4D-BE02ADF6BDC1}"/>
              </a:ext>
            </a:extLst>
          </p:cNvPr>
          <p:cNvCxnSpPr>
            <a:cxnSpLocks/>
            <a:stCxn id="74" idx="2"/>
            <a:endCxn id="48" idx="6"/>
          </p:cNvCxnSpPr>
          <p:nvPr/>
        </p:nvCxnSpPr>
        <p:spPr>
          <a:xfrm flipH="1">
            <a:off x="5643811" y="3138232"/>
            <a:ext cx="1223955" cy="10170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96EAE64-C239-16B9-34D1-EE9D765450BF}"/>
              </a:ext>
            </a:extLst>
          </p:cNvPr>
          <p:cNvCxnSpPr>
            <a:cxnSpLocks/>
            <a:stCxn id="76" idx="2"/>
          </p:cNvCxnSpPr>
          <p:nvPr/>
        </p:nvCxnSpPr>
        <p:spPr>
          <a:xfrm flipH="1" flipV="1">
            <a:off x="5686305" y="3117170"/>
            <a:ext cx="1160779" cy="10568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BFFF683-EB00-5CFD-16D9-B9C2CF7D6F6B}"/>
              </a:ext>
            </a:extLst>
          </p:cNvPr>
          <p:cNvCxnSpPr>
            <a:cxnSpLocks/>
          </p:cNvCxnSpPr>
          <p:nvPr/>
        </p:nvCxnSpPr>
        <p:spPr>
          <a:xfrm flipH="1" flipV="1">
            <a:off x="5631836" y="2179979"/>
            <a:ext cx="1188887" cy="19659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AB0F7F53-77BD-D49D-ED9E-001EF310EABB}"/>
              </a:ext>
            </a:extLst>
          </p:cNvPr>
          <p:cNvSpPr/>
          <p:nvPr/>
        </p:nvSpPr>
        <p:spPr>
          <a:xfrm>
            <a:off x="3167004" y="2784778"/>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2" name="Oval 71">
            <a:extLst>
              <a:ext uri="{FF2B5EF4-FFF2-40B4-BE49-F238E27FC236}">
                <a16:creationId xmlns:a16="http://schemas.microsoft.com/office/drawing/2014/main" id="{84C64D78-7767-563D-60D1-D1A816C2E159}"/>
              </a:ext>
            </a:extLst>
          </p:cNvPr>
          <p:cNvSpPr/>
          <p:nvPr/>
        </p:nvSpPr>
        <p:spPr>
          <a:xfrm>
            <a:off x="3167004" y="1833978"/>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86" name="Oval 85">
            <a:extLst>
              <a:ext uri="{FF2B5EF4-FFF2-40B4-BE49-F238E27FC236}">
                <a16:creationId xmlns:a16="http://schemas.microsoft.com/office/drawing/2014/main" id="{E99F6CD2-7C24-2FEA-5A6E-F28B35A7BFF9}"/>
              </a:ext>
            </a:extLst>
          </p:cNvPr>
          <p:cNvSpPr/>
          <p:nvPr/>
        </p:nvSpPr>
        <p:spPr>
          <a:xfrm>
            <a:off x="3146322" y="3820535"/>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91" name="Straight Arrow Connector 90">
            <a:extLst>
              <a:ext uri="{FF2B5EF4-FFF2-40B4-BE49-F238E27FC236}">
                <a16:creationId xmlns:a16="http://schemas.microsoft.com/office/drawing/2014/main" id="{638C7C5F-2147-2DD6-FCBA-37E122D7B3CD}"/>
              </a:ext>
            </a:extLst>
          </p:cNvPr>
          <p:cNvCxnSpPr>
            <a:cxnSpLocks/>
          </p:cNvCxnSpPr>
          <p:nvPr/>
        </p:nvCxnSpPr>
        <p:spPr>
          <a:xfrm flipH="1" flipV="1">
            <a:off x="3814704" y="2157143"/>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CFCFE1E5-D80D-F750-C58B-7076701EEC7A}"/>
              </a:ext>
            </a:extLst>
          </p:cNvPr>
          <p:cNvCxnSpPr>
            <a:cxnSpLocks/>
          </p:cNvCxnSpPr>
          <p:nvPr/>
        </p:nvCxnSpPr>
        <p:spPr>
          <a:xfrm flipH="1" flipV="1">
            <a:off x="3802729" y="3079899"/>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9310C2A6-42B9-A27D-B6BE-00302D4562AC}"/>
              </a:ext>
            </a:extLst>
          </p:cNvPr>
          <p:cNvCxnSpPr>
            <a:cxnSpLocks/>
          </p:cNvCxnSpPr>
          <p:nvPr/>
        </p:nvCxnSpPr>
        <p:spPr>
          <a:xfrm flipH="1" flipV="1">
            <a:off x="3782047" y="4162397"/>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DC380E97-9B38-68A3-8161-DE444B109864}"/>
              </a:ext>
            </a:extLst>
          </p:cNvPr>
          <p:cNvCxnSpPr>
            <a:cxnSpLocks/>
            <a:endCxn id="70" idx="6"/>
          </p:cNvCxnSpPr>
          <p:nvPr/>
        </p:nvCxnSpPr>
        <p:spPr>
          <a:xfrm flipH="1">
            <a:off x="3814704" y="2196435"/>
            <a:ext cx="1214821" cy="9115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A90C1D77-BB28-91D4-210A-33F839415F6E}"/>
              </a:ext>
            </a:extLst>
          </p:cNvPr>
          <p:cNvCxnSpPr>
            <a:cxnSpLocks/>
            <a:endCxn id="86" idx="6"/>
          </p:cNvCxnSpPr>
          <p:nvPr/>
        </p:nvCxnSpPr>
        <p:spPr>
          <a:xfrm flipH="1">
            <a:off x="3794022" y="2175841"/>
            <a:ext cx="1223955" cy="19678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38D07581-37A3-7706-D750-D52200511ECC}"/>
              </a:ext>
            </a:extLst>
          </p:cNvPr>
          <p:cNvCxnSpPr>
            <a:cxnSpLocks/>
            <a:endCxn id="72" idx="6"/>
          </p:cNvCxnSpPr>
          <p:nvPr/>
        </p:nvCxnSpPr>
        <p:spPr>
          <a:xfrm flipH="1" flipV="1">
            <a:off x="3814704" y="2157144"/>
            <a:ext cx="1203273"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60393724-B723-7034-07F6-45A572D5A48D}"/>
              </a:ext>
            </a:extLst>
          </p:cNvPr>
          <p:cNvCxnSpPr>
            <a:cxnSpLocks/>
            <a:endCxn id="86" idx="6"/>
          </p:cNvCxnSpPr>
          <p:nvPr/>
        </p:nvCxnSpPr>
        <p:spPr>
          <a:xfrm flipH="1">
            <a:off x="3794022" y="3126641"/>
            <a:ext cx="1223955" cy="10170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9B275B9F-9302-550D-F4FE-00BFD351C01D}"/>
              </a:ext>
            </a:extLst>
          </p:cNvPr>
          <p:cNvCxnSpPr>
            <a:cxnSpLocks/>
          </p:cNvCxnSpPr>
          <p:nvPr/>
        </p:nvCxnSpPr>
        <p:spPr>
          <a:xfrm flipH="1" flipV="1">
            <a:off x="3836516" y="3105579"/>
            <a:ext cx="1160779" cy="10568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FEDF748D-079A-DA9E-8A23-7ECD0F5143DB}"/>
              </a:ext>
            </a:extLst>
          </p:cNvPr>
          <p:cNvCxnSpPr>
            <a:cxnSpLocks/>
          </p:cNvCxnSpPr>
          <p:nvPr/>
        </p:nvCxnSpPr>
        <p:spPr>
          <a:xfrm flipH="1" flipV="1">
            <a:off x="3782047" y="2168388"/>
            <a:ext cx="1188887" cy="19659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C9588326-AB1E-E698-C07D-680385DC9C59}"/>
              </a:ext>
            </a:extLst>
          </p:cNvPr>
          <p:cNvCxnSpPr>
            <a:cxnSpLocks/>
            <a:stCxn id="86" idx="2"/>
          </p:cNvCxnSpPr>
          <p:nvPr/>
        </p:nvCxnSpPr>
        <p:spPr>
          <a:xfrm flipH="1" flipV="1">
            <a:off x="1079461" y="3584923"/>
            <a:ext cx="2066861" cy="5587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4AE86A37-94A6-CCD7-6F64-C0B5865E54D0}"/>
              </a:ext>
            </a:extLst>
          </p:cNvPr>
          <p:cNvCxnSpPr>
            <a:cxnSpLocks/>
            <a:stCxn id="86" idx="2"/>
          </p:cNvCxnSpPr>
          <p:nvPr/>
        </p:nvCxnSpPr>
        <p:spPr>
          <a:xfrm flipH="1">
            <a:off x="1101583" y="4143701"/>
            <a:ext cx="2044739" cy="2911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2FFB3E2E-3F73-4B85-74DF-AEBEF0EC1F18}"/>
              </a:ext>
            </a:extLst>
          </p:cNvPr>
          <p:cNvCxnSpPr>
            <a:cxnSpLocks/>
            <a:stCxn id="72" idx="2"/>
          </p:cNvCxnSpPr>
          <p:nvPr/>
        </p:nvCxnSpPr>
        <p:spPr>
          <a:xfrm flipH="1">
            <a:off x="1101583" y="2157144"/>
            <a:ext cx="2065421" cy="22586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281C9423-FEA7-FB6E-F066-5B1FEA4F8EA9}"/>
              </a:ext>
            </a:extLst>
          </p:cNvPr>
          <p:cNvCxnSpPr>
            <a:cxnSpLocks/>
            <a:endCxn id="4" idx="6"/>
          </p:cNvCxnSpPr>
          <p:nvPr/>
        </p:nvCxnSpPr>
        <p:spPr>
          <a:xfrm flipH="1">
            <a:off x="1124530" y="2175885"/>
            <a:ext cx="2021792" cy="136754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22AA41E0-2D0B-12B7-2DCF-784E1360AC80}"/>
              </a:ext>
            </a:extLst>
          </p:cNvPr>
          <p:cNvCxnSpPr>
            <a:cxnSpLocks/>
            <a:stCxn id="72" idx="2"/>
          </p:cNvCxnSpPr>
          <p:nvPr/>
        </p:nvCxnSpPr>
        <p:spPr>
          <a:xfrm flipH="1">
            <a:off x="1142947" y="2157144"/>
            <a:ext cx="2024057" cy="4820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B799140F-9147-1BB9-768C-1D1387E2EBDB}"/>
              </a:ext>
            </a:extLst>
          </p:cNvPr>
          <p:cNvCxnSpPr>
            <a:cxnSpLocks/>
            <a:stCxn id="70" idx="2"/>
            <a:endCxn id="4" idx="6"/>
          </p:cNvCxnSpPr>
          <p:nvPr/>
        </p:nvCxnSpPr>
        <p:spPr>
          <a:xfrm flipH="1">
            <a:off x="1124530" y="3107944"/>
            <a:ext cx="2042474" cy="43548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626390F1-1E3B-F9DD-2CAC-7CF3378C7382}"/>
              </a:ext>
            </a:extLst>
          </p:cNvPr>
          <p:cNvCxnSpPr>
            <a:cxnSpLocks/>
            <a:stCxn id="70" idx="2"/>
            <a:endCxn id="5" idx="6"/>
          </p:cNvCxnSpPr>
          <p:nvPr/>
        </p:nvCxnSpPr>
        <p:spPr>
          <a:xfrm flipH="1">
            <a:off x="1124530" y="3107944"/>
            <a:ext cx="2042474" cy="13269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C4199055-7B0A-C706-0893-40A3AB049093}"/>
              </a:ext>
            </a:extLst>
          </p:cNvPr>
          <p:cNvCxnSpPr>
            <a:cxnSpLocks/>
            <a:stCxn id="70" idx="2"/>
          </p:cNvCxnSpPr>
          <p:nvPr/>
        </p:nvCxnSpPr>
        <p:spPr>
          <a:xfrm flipH="1" flipV="1">
            <a:off x="1143071" y="1759095"/>
            <a:ext cx="2023933" cy="13488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36B0D26D-ACC3-1016-2A94-BA0C71346395}"/>
              </a:ext>
            </a:extLst>
          </p:cNvPr>
          <p:cNvCxnSpPr>
            <a:cxnSpLocks/>
            <a:stCxn id="86" idx="2"/>
            <a:endCxn id="3" idx="6"/>
          </p:cNvCxnSpPr>
          <p:nvPr/>
        </p:nvCxnSpPr>
        <p:spPr>
          <a:xfrm flipH="1" flipV="1">
            <a:off x="1138718" y="2652004"/>
            <a:ext cx="2007604" cy="1491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E1C47518-2AB7-C315-1A70-A2C227F73C5B}"/>
              </a:ext>
            </a:extLst>
          </p:cNvPr>
          <p:cNvCxnSpPr>
            <a:cxnSpLocks/>
            <a:stCxn id="86" idx="2"/>
          </p:cNvCxnSpPr>
          <p:nvPr/>
        </p:nvCxnSpPr>
        <p:spPr>
          <a:xfrm flipH="1" flipV="1">
            <a:off x="1165091" y="1820766"/>
            <a:ext cx="1981231" cy="23229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B5EDE7B-CA46-849E-20C5-4FDCD5F9BC32}"/>
              </a:ext>
            </a:extLst>
          </p:cNvPr>
          <p:cNvSpPr txBox="1"/>
          <p:nvPr/>
        </p:nvSpPr>
        <p:spPr>
          <a:xfrm>
            <a:off x="3187810" y="6164"/>
            <a:ext cx="6641990" cy="523220"/>
          </a:xfrm>
          <a:prstGeom prst="rect">
            <a:avLst/>
          </a:prstGeom>
          <a:noFill/>
        </p:spPr>
        <p:txBody>
          <a:bodyPr wrap="square">
            <a:spAutoFit/>
          </a:bodyPr>
          <a:lstStyle/>
          <a:p>
            <a:r>
              <a:rPr lang="en-GB" sz="2800" dirty="0">
                <a:solidFill>
                  <a:srgbClr val="92D050"/>
                </a:solidFill>
                <a:latin typeface="Consolas"/>
              </a:rPr>
              <a:t>Backpropagation (the </a:t>
            </a:r>
            <a:r>
              <a:rPr lang="en-US" sz="2800" dirty="0">
                <a:solidFill>
                  <a:srgbClr val="92D050"/>
                </a:solidFill>
                <a:latin typeface="Consolas"/>
              </a:rPr>
              <a:t>correction</a:t>
            </a:r>
            <a:r>
              <a:rPr lang="en-GB" sz="2800" dirty="0">
                <a:solidFill>
                  <a:srgbClr val="92D050"/>
                </a:solidFill>
                <a:latin typeface="Consolas"/>
              </a:rPr>
              <a:t>)</a:t>
            </a:r>
          </a:p>
        </p:txBody>
      </p:sp>
      <p:sp>
        <p:nvSpPr>
          <p:cNvPr id="7" name="TextBox 6">
            <a:extLst>
              <a:ext uri="{FF2B5EF4-FFF2-40B4-BE49-F238E27FC236}">
                <a16:creationId xmlns:a16="http://schemas.microsoft.com/office/drawing/2014/main" id="{31737DDD-84CA-E47E-27FA-1B4FB945E968}"/>
              </a:ext>
            </a:extLst>
          </p:cNvPr>
          <p:cNvSpPr txBox="1"/>
          <p:nvPr/>
        </p:nvSpPr>
        <p:spPr>
          <a:xfrm>
            <a:off x="3540638" y="4454168"/>
            <a:ext cx="1581150" cy="830997"/>
          </a:xfrm>
          <a:prstGeom prst="rect">
            <a:avLst/>
          </a:prstGeom>
          <a:noFill/>
        </p:spPr>
        <p:txBody>
          <a:bodyPr wrap="square">
            <a:spAutoFit/>
          </a:bodyPr>
          <a:lstStyle/>
          <a:p>
            <a:pPr algn="ctr">
              <a:buNone/>
            </a:pPr>
            <a:r>
              <a:rPr lang="en-GB" sz="2400" b="1" dirty="0">
                <a:solidFill>
                  <a:srgbClr val="92D050"/>
                </a:solidFill>
              </a:rPr>
              <a:t>Adjust the weights</a:t>
            </a:r>
          </a:p>
        </p:txBody>
      </p:sp>
      <p:sp>
        <p:nvSpPr>
          <p:cNvPr id="9" name="TextBox 8">
            <a:extLst>
              <a:ext uri="{FF2B5EF4-FFF2-40B4-BE49-F238E27FC236}">
                <a16:creationId xmlns:a16="http://schemas.microsoft.com/office/drawing/2014/main" id="{ECB6B01A-E89F-489E-C94F-24D1D552C6F3}"/>
              </a:ext>
            </a:extLst>
          </p:cNvPr>
          <p:cNvSpPr txBox="1"/>
          <p:nvPr/>
        </p:nvSpPr>
        <p:spPr>
          <a:xfrm>
            <a:off x="9929879" y="2289971"/>
            <a:ext cx="1828800" cy="1631216"/>
          </a:xfrm>
          <a:prstGeom prst="rect">
            <a:avLst/>
          </a:prstGeom>
          <a:noFill/>
        </p:spPr>
        <p:txBody>
          <a:bodyPr wrap="square">
            <a:spAutoFit/>
          </a:bodyPr>
          <a:lstStyle/>
          <a:p>
            <a:r>
              <a:rPr lang="en-GB" altLang="en-US" sz="2000" dirty="0">
                <a:latin typeface="Google Sans Text"/>
              </a:rPr>
              <a:t>The error is propagated </a:t>
            </a:r>
            <a:r>
              <a:rPr lang="en-GB" altLang="en-US" sz="2000" dirty="0">
                <a:solidFill>
                  <a:srgbClr val="92D050"/>
                </a:solidFill>
                <a:latin typeface="Google Sans Text"/>
              </a:rPr>
              <a:t>backward</a:t>
            </a:r>
            <a:r>
              <a:rPr lang="en-GB" altLang="en-US" sz="2000" dirty="0">
                <a:latin typeface="Google Sans Text"/>
              </a:rPr>
              <a:t> through the network </a:t>
            </a:r>
            <a:endParaRPr lang="en-GB" sz="2000" dirty="0"/>
          </a:p>
        </p:txBody>
      </p:sp>
      <p:cxnSp>
        <p:nvCxnSpPr>
          <p:cNvPr id="10" name="Straight Arrow Connector 9">
            <a:extLst>
              <a:ext uri="{FF2B5EF4-FFF2-40B4-BE49-F238E27FC236}">
                <a16:creationId xmlns:a16="http://schemas.microsoft.com/office/drawing/2014/main" id="{3FEAC11E-DF32-5C61-F63E-60549A14FE2F}"/>
              </a:ext>
            </a:extLst>
          </p:cNvPr>
          <p:cNvCxnSpPr>
            <a:cxnSpLocks/>
          </p:cNvCxnSpPr>
          <p:nvPr/>
        </p:nvCxnSpPr>
        <p:spPr>
          <a:xfrm flipH="1">
            <a:off x="9282179" y="3105579"/>
            <a:ext cx="569165" cy="70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D050995-AC01-4A58-90FB-169CDF35C095}"/>
              </a:ext>
            </a:extLst>
          </p:cNvPr>
          <p:cNvCxnSpPr>
            <a:cxnSpLocks/>
          </p:cNvCxnSpPr>
          <p:nvPr/>
        </p:nvCxnSpPr>
        <p:spPr>
          <a:xfrm flipH="1">
            <a:off x="3540638" y="1173062"/>
            <a:ext cx="6822562"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81487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49FA-7265-16C1-B200-D208360F9260}"/>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F7BCFEC0-4285-6452-CC1A-621F0BA49F13}"/>
              </a:ext>
            </a:extLst>
          </p:cNvPr>
          <p:cNvSpPr/>
          <p:nvPr/>
        </p:nvSpPr>
        <p:spPr>
          <a:xfrm>
            <a:off x="538444" y="1403131"/>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0.6</a:t>
            </a:r>
            <a:endParaRPr lang="en-GB" sz="1600" dirty="0"/>
          </a:p>
        </p:txBody>
      </p:sp>
      <p:sp>
        <p:nvSpPr>
          <p:cNvPr id="3" name="Oval 2">
            <a:extLst>
              <a:ext uri="{FF2B5EF4-FFF2-40B4-BE49-F238E27FC236}">
                <a16:creationId xmlns:a16="http://schemas.microsoft.com/office/drawing/2014/main" id="{1DE8AE08-B02E-3B0F-D625-60071F4BFA6D}"/>
              </a:ext>
            </a:extLst>
          </p:cNvPr>
          <p:cNvSpPr/>
          <p:nvPr/>
        </p:nvSpPr>
        <p:spPr>
          <a:xfrm>
            <a:off x="491018" y="2328838"/>
            <a:ext cx="647700" cy="646331"/>
          </a:xfrm>
          <a:prstGeom prst="ellipse">
            <a:avLst/>
          </a:prstGeom>
          <a:solidFill>
            <a:schemeClr val="tx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0.4</a:t>
            </a:r>
            <a:endParaRPr lang="en-GB" sz="1600" dirty="0"/>
          </a:p>
        </p:txBody>
      </p:sp>
      <p:sp>
        <p:nvSpPr>
          <p:cNvPr id="4" name="Oval 3">
            <a:extLst>
              <a:ext uri="{FF2B5EF4-FFF2-40B4-BE49-F238E27FC236}">
                <a16:creationId xmlns:a16="http://schemas.microsoft.com/office/drawing/2014/main" id="{9D00D89F-19A7-2952-3AB1-2B70460B6D68}"/>
              </a:ext>
            </a:extLst>
          </p:cNvPr>
          <p:cNvSpPr/>
          <p:nvPr/>
        </p:nvSpPr>
        <p:spPr>
          <a:xfrm>
            <a:off x="476830" y="3220264"/>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0.3</a:t>
            </a:r>
            <a:endParaRPr lang="en-GB" sz="1600" dirty="0"/>
          </a:p>
        </p:txBody>
      </p:sp>
      <p:sp>
        <p:nvSpPr>
          <p:cNvPr id="5" name="Oval 4">
            <a:extLst>
              <a:ext uri="{FF2B5EF4-FFF2-40B4-BE49-F238E27FC236}">
                <a16:creationId xmlns:a16="http://schemas.microsoft.com/office/drawing/2014/main" id="{E736122C-0447-73D0-7825-A8A9EA2C667E}"/>
              </a:ext>
            </a:extLst>
          </p:cNvPr>
          <p:cNvSpPr/>
          <p:nvPr/>
        </p:nvSpPr>
        <p:spPr>
          <a:xfrm>
            <a:off x="476830" y="4111690"/>
            <a:ext cx="647700" cy="646331"/>
          </a:xfrm>
          <a:prstGeom prst="ellipse">
            <a:avLst/>
          </a:prstGeom>
          <a:solidFill>
            <a:schemeClr val="tx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0.7</a:t>
            </a:r>
            <a:endParaRPr lang="en-GB" sz="1600" dirty="0"/>
          </a:p>
        </p:txBody>
      </p:sp>
      <p:cxnSp>
        <p:nvCxnSpPr>
          <p:cNvPr id="37" name="Straight Arrow Connector 36">
            <a:extLst>
              <a:ext uri="{FF2B5EF4-FFF2-40B4-BE49-F238E27FC236}">
                <a16:creationId xmlns:a16="http://schemas.microsoft.com/office/drawing/2014/main" id="{CFCABEFC-4620-95A0-D72E-5BDC50F6FFA7}"/>
              </a:ext>
            </a:extLst>
          </p:cNvPr>
          <p:cNvCxnSpPr>
            <a:cxnSpLocks/>
            <a:stCxn id="72" idx="2"/>
            <a:endCxn id="2" idx="6"/>
          </p:cNvCxnSpPr>
          <p:nvPr/>
        </p:nvCxnSpPr>
        <p:spPr>
          <a:xfrm flipH="1" flipV="1">
            <a:off x="1186144" y="1726297"/>
            <a:ext cx="1980860" cy="4308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6D1CDD1-C1E6-3972-471E-1AB92990A48B}"/>
              </a:ext>
            </a:extLst>
          </p:cNvPr>
          <p:cNvCxnSpPr>
            <a:cxnSpLocks/>
            <a:endCxn id="3" idx="6"/>
          </p:cNvCxnSpPr>
          <p:nvPr/>
        </p:nvCxnSpPr>
        <p:spPr>
          <a:xfrm flipH="1" flipV="1">
            <a:off x="1138718" y="2652004"/>
            <a:ext cx="2028286" cy="4746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54883A8-867F-245B-FAB6-7D869E793055}"/>
              </a:ext>
            </a:extLst>
          </p:cNvPr>
          <p:cNvSpPr txBox="1"/>
          <p:nvPr/>
        </p:nvSpPr>
        <p:spPr>
          <a:xfrm>
            <a:off x="0" y="4853941"/>
            <a:ext cx="1581150" cy="830997"/>
          </a:xfrm>
          <a:prstGeom prst="rect">
            <a:avLst/>
          </a:prstGeom>
          <a:noFill/>
        </p:spPr>
        <p:txBody>
          <a:bodyPr wrap="square">
            <a:spAutoFit/>
          </a:bodyPr>
          <a:lstStyle/>
          <a:p>
            <a:pPr algn="ctr">
              <a:buNone/>
            </a:pPr>
            <a:r>
              <a:rPr lang="en-GB" sz="2400" b="1" dirty="0"/>
              <a:t>Input layer</a:t>
            </a:r>
          </a:p>
        </p:txBody>
      </p:sp>
      <p:sp>
        <p:nvSpPr>
          <p:cNvPr id="46" name="Oval 45">
            <a:extLst>
              <a:ext uri="{FF2B5EF4-FFF2-40B4-BE49-F238E27FC236}">
                <a16:creationId xmlns:a16="http://schemas.microsoft.com/office/drawing/2014/main" id="{D449E4F3-21F8-96D0-4E9D-BE91A924DFDE}"/>
              </a:ext>
            </a:extLst>
          </p:cNvPr>
          <p:cNvSpPr/>
          <p:nvPr/>
        </p:nvSpPr>
        <p:spPr>
          <a:xfrm>
            <a:off x="5016793" y="27963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47" name="Oval 46">
            <a:extLst>
              <a:ext uri="{FF2B5EF4-FFF2-40B4-BE49-F238E27FC236}">
                <a16:creationId xmlns:a16="http://schemas.microsoft.com/office/drawing/2014/main" id="{050CAD0A-D014-295C-3EE0-638D7F76A4AA}"/>
              </a:ext>
            </a:extLst>
          </p:cNvPr>
          <p:cNvSpPr/>
          <p:nvPr/>
        </p:nvSpPr>
        <p:spPr>
          <a:xfrm>
            <a:off x="5016793" y="1845569"/>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48" name="Oval 47">
            <a:extLst>
              <a:ext uri="{FF2B5EF4-FFF2-40B4-BE49-F238E27FC236}">
                <a16:creationId xmlns:a16="http://schemas.microsoft.com/office/drawing/2014/main" id="{F750DDAC-5659-E8AF-61E8-03DC001718BC}"/>
              </a:ext>
            </a:extLst>
          </p:cNvPr>
          <p:cNvSpPr/>
          <p:nvPr/>
        </p:nvSpPr>
        <p:spPr>
          <a:xfrm>
            <a:off x="4996111" y="383212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sp>
        <p:nvSpPr>
          <p:cNvPr id="74" name="Oval 73">
            <a:extLst>
              <a:ext uri="{FF2B5EF4-FFF2-40B4-BE49-F238E27FC236}">
                <a16:creationId xmlns:a16="http://schemas.microsoft.com/office/drawing/2014/main" id="{8FB5A1CE-88DC-1A07-E78D-8E7CDB42B997}"/>
              </a:ext>
            </a:extLst>
          </p:cNvPr>
          <p:cNvSpPr/>
          <p:nvPr/>
        </p:nvSpPr>
        <p:spPr>
          <a:xfrm>
            <a:off x="6867766" y="28150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5" name="Oval 74">
            <a:extLst>
              <a:ext uri="{FF2B5EF4-FFF2-40B4-BE49-F238E27FC236}">
                <a16:creationId xmlns:a16="http://schemas.microsoft.com/office/drawing/2014/main" id="{FA3D29D0-DAA0-A5A0-3623-11467EE3B900}"/>
              </a:ext>
            </a:extLst>
          </p:cNvPr>
          <p:cNvSpPr/>
          <p:nvPr/>
        </p:nvSpPr>
        <p:spPr>
          <a:xfrm>
            <a:off x="6867766" y="1864266"/>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76" name="Oval 75">
            <a:extLst>
              <a:ext uri="{FF2B5EF4-FFF2-40B4-BE49-F238E27FC236}">
                <a16:creationId xmlns:a16="http://schemas.microsoft.com/office/drawing/2014/main" id="{C434176F-47BA-C990-1CB8-52F93F1635D2}"/>
              </a:ext>
            </a:extLst>
          </p:cNvPr>
          <p:cNvSpPr/>
          <p:nvPr/>
        </p:nvSpPr>
        <p:spPr>
          <a:xfrm>
            <a:off x="6847084" y="3850823"/>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sp>
        <p:nvSpPr>
          <p:cNvPr id="104" name="TextBox 103">
            <a:extLst>
              <a:ext uri="{FF2B5EF4-FFF2-40B4-BE49-F238E27FC236}">
                <a16:creationId xmlns:a16="http://schemas.microsoft.com/office/drawing/2014/main" id="{6D7D8174-9082-83CB-9467-C7F9ACA10B67}"/>
              </a:ext>
            </a:extLst>
          </p:cNvPr>
          <p:cNvSpPr txBox="1"/>
          <p:nvPr/>
        </p:nvSpPr>
        <p:spPr>
          <a:xfrm>
            <a:off x="8096252" y="4732905"/>
            <a:ext cx="1581150" cy="830997"/>
          </a:xfrm>
          <a:prstGeom prst="rect">
            <a:avLst/>
          </a:prstGeom>
          <a:noFill/>
        </p:spPr>
        <p:txBody>
          <a:bodyPr wrap="square">
            <a:spAutoFit/>
          </a:bodyPr>
          <a:lstStyle/>
          <a:p>
            <a:pPr algn="ctr">
              <a:buNone/>
            </a:pPr>
            <a:r>
              <a:rPr lang="en-GB" sz="2400" b="1" dirty="0"/>
              <a:t>Output layer</a:t>
            </a:r>
          </a:p>
        </p:txBody>
      </p:sp>
      <p:sp>
        <p:nvSpPr>
          <p:cNvPr id="12" name="Rectangle 11">
            <a:extLst>
              <a:ext uri="{FF2B5EF4-FFF2-40B4-BE49-F238E27FC236}">
                <a16:creationId xmlns:a16="http://schemas.microsoft.com/office/drawing/2014/main" id="{0BCB5EA2-F884-1F7F-2922-6C99D55B027D}"/>
              </a:ext>
            </a:extLst>
          </p:cNvPr>
          <p:cNvSpPr/>
          <p:nvPr/>
        </p:nvSpPr>
        <p:spPr>
          <a:xfrm>
            <a:off x="3140640" y="1821787"/>
            <a:ext cx="700428" cy="2632888"/>
          </a:xfrm>
          <a:prstGeom prst="rect">
            <a:avLst/>
          </a:prstGeom>
          <a:noFill/>
          <a:ln w="28575">
            <a:solidFill>
              <a:srgbClr val="FC68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A9651696-FF3A-BFDD-1390-DBCC3685BAFA}"/>
              </a:ext>
            </a:extLst>
          </p:cNvPr>
          <p:cNvSpPr/>
          <p:nvPr/>
        </p:nvSpPr>
        <p:spPr>
          <a:xfrm>
            <a:off x="8634479" y="2818980"/>
            <a:ext cx="647700" cy="646331"/>
          </a:xfrm>
          <a:prstGeom prst="ellipse">
            <a:avLst/>
          </a:prstGeom>
          <a:solidFill>
            <a:srgbClr val="C8E5C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cxnSp>
        <p:nvCxnSpPr>
          <p:cNvPr id="15" name="Straight Arrow Connector 14">
            <a:extLst>
              <a:ext uri="{FF2B5EF4-FFF2-40B4-BE49-F238E27FC236}">
                <a16:creationId xmlns:a16="http://schemas.microsoft.com/office/drawing/2014/main" id="{0E704D41-1140-F89A-9752-F1986C1A9C62}"/>
              </a:ext>
            </a:extLst>
          </p:cNvPr>
          <p:cNvCxnSpPr>
            <a:cxnSpLocks/>
            <a:stCxn id="14" idx="2"/>
          </p:cNvCxnSpPr>
          <p:nvPr/>
        </p:nvCxnSpPr>
        <p:spPr>
          <a:xfrm flipH="1" flipV="1">
            <a:off x="7515358" y="2219649"/>
            <a:ext cx="1119121" cy="922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3D6618A-CFD9-18F3-F847-031CEBEDB841}"/>
              </a:ext>
            </a:extLst>
          </p:cNvPr>
          <p:cNvCxnSpPr>
            <a:cxnSpLocks/>
            <a:stCxn id="14" idx="2"/>
          </p:cNvCxnSpPr>
          <p:nvPr/>
        </p:nvCxnSpPr>
        <p:spPr>
          <a:xfrm flipH="1">
            <a:off x="7486380" y="3142146"/>
            <a:ext cx="1148099" cy="9825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BED1FDB-C257-F8FB-5B54-FDE964BC61FF}"/>
              </a:ext>
            </a:extLst>
          </p:cNvPr>
          <p:cNvCxnSpPr>
            <a:cxnSpLocks/>
            <a:stCxn id="14" idx="2"/>
          </p:cNvCxnSpPr>
          <p:nvPr/>
        </p:nvCxnSpPr>
        <p:spPr>
          <a:xfrm flipH="1">
            <a:off x="7536040" y="3142146"/>
            <a:ext cx="109843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73F1A8D-5913-9F43-D309-1D4E3EF69417}"/>
              </a:ext>
            </a:extLst>
          </p:cNvPr>
          <p:cNvCxnSpPr>
            <a:cxnSpLocks/>
            <a:stCxn id="75" idx="2"/>
          </p:cNvCxnSpPr>
          <p:nvPr/>
        </p:nvCxnSpPr>
        <p:spPr>
          <a:xfrm flipH="1" flipV="1">
            <a:off x="5664493" y="2168734"/>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77804AF-A2E3-B645-F534-9CEBD3E5E7B4}"/>
              </a:ext>
            </a:extLst>
          </p:cNvPr>
          <p:cNvCxnSpPr>
            <a:cxnSpLocks/>
          </p:cNvCxnSpPr>
          <p:nvPr/>
        </p:nvCxnSpPr>
        <p:spPr>
          <a:xfrm flipH="1" flipV="1">
            <a:off x="5652518" y="3091490"/>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F5A1AB7-D28B-7591-5D1A-F1C4E4B5CE40}"/>
              </a:ext>
            </a:extLst>
          </p:cNvPr>
          <p:cNvCxnSpPr>
            <a:cxnSpLocks/>
          </p:cNvCxnSpPr>
          <p:nvPr/>
        </p:nvCxnSpPr>
        <p:spPr>
          <a:xfrm flipH="1" flipV="1">
            <a:off x="5631836" y="4173988"/>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60836CB-2B81-E327-8943-15333135BC9F}"/>
              </a:ext>
            </a:extLst>
          </p:cNvPr>
          <p:cNvCxnSpPr>
            <a:cxnSpLocks/>
            <a:endCxn id="46" idx="6"/>
          </p:cNvCxnSpPr>
          <p:nvPr/>
        </p:nvCxnSpPr>
        <p:spPr>
          <a:xfrm flipH="1">
            <a:off x="5664493" y="2208026"/>
            <a:ext cx="1214821" cy="9115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4EAF8FA8-3A4C-F255-7260-6A6898CC6711}"/>
              </a:ext>
            </a:extLst>
          </p:cNvPr>
          <p:cNvCxnSpPr>
            <a:cxnSpLocks/>
            <a:stCxn id="75" idx="2"/>
            <a:endCxn id="48" idx="6"/>
          </p:cNvCxnSpPr>
          <p:nvPr/>
        </p:nvCxnSpPr>
        <p:spPr>
          <a:xfrm flipH="1">
            <a:off x="5643811" y="2187432"/>
            <a:ext cx="1223955" cy="19678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B346714-B9E7-CD36-7C1F-D899910331C2}"/>
              </a:ext>
            </a:extLst>
          </p:cNvPr>
          <p:cNvCxnSpPr>
            <a:cxnSpLocks/>
            <a:stCxn id="74" idx="2"/>
            <a:endCxn id="47" idx="6"/>
          </p:cNvCxnSpPr>
          <p:nvPr/>
        </p:nvCxnSpPr>
        <p:spPr>
          <a:xfrm flipH="1" flipV="1">
            <a:off x="5664493" y="2168735"/>
            <a:ext cx="1203273"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F7038B22-2A8F-88A2-3FF3-BF623F1933F4}"/>
              </a:ext>
            </a:extLst>
          </p:cNvPr>
          <p:cNvCxnSpPr>
            <a:cxnSpLocks/>
            <a:stCxn id="74" idx="2"/>
            <a:endCxn id="48" idx="6"/>
          </p:cNvCxnSpPr>
          <p:nvPr/>
        </p:nvCxnSpPr>
        <p:spPr>
          <a:xfrm flipH="1">
            <a:off x="5643811" y="3138232"/>
            <a:ext cx="1223955" cy="10170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A8A8738C-DD53-6FB2-0010-4D0775130FE4}"/>
              </a:ext>
            </a:extLst>
          </p:cNvPr>
          <p:cNvCxnSpPr>
            <a:cxnSpLocks/>
            <a:stCxn id="76" idx="2"/>
          </p:cNvCxnSpPr>
          <p:nvPr/>
        </p:nvCxnSpPr>
        <p:spPr>
          <a:xfrm flipH="1" flipV="1">
            <a:off x="5686305" y="3117170"/>
            <a:ext cx="1160779" cy="10568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600BB0D-E544-745C-769A-E8D51DE079BB}"/>
              </a:ext>
            </a:extLst>
          </p:cNvPr>
          <p:cNvCxnSpPr>
            <a:cxnSpLocks/>
          </p:cNvCxnSpPr>
          <p:nvPr/>
        </p:nvCxnSpPr>
        <p:spPr>
          <a:xfrm flipH="1" flipV="1">
            <a:off x="5631836" y="2179979"/>
            <a:ext cx="1188887" cy="19659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F5EDB67A-9D84-ABDD-E5DC-134E07C38E86}"/>
              </a:ext>
            </a:extLst>
          </p:cNvPr>
          <p:cNvSpPr/>
          <p:nvPr/>
        </p:nvSpPr>
        <p:spPr>
          <a:xfrm>
            <a:off x="3167004" y="2784778"/>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N2</a:t>
            </a:r>
            <a:endParaRPr lang="en-GB" sz="1600" dirty="0"/>
          </a:p>
        </p:txBody>
      </p:sp>
      <p:sp>
        <p:nvSpPr>
          <p:cNvPr id="72" name="Oval 71">
            <a:extLst>
              <a:ext uri="{FF2B5EF4-FFF2-40B4-BE49-F238E27FC236}">
                <a16:creationId xmlns:a16="http://schemas.microsoft.com/office/drawing/2014/main" id="{F24A8C48-6ADF-6D97-9473-932AAC508684}"/>
              </a:ext>
            </a:extLst>
          </p:cNvPr>
          <p:cNvSpPr/>
          <p:nvPr/>
        </p:nvSpPr>
        <p:spPr>
          <a:xfrm>
            <a:off x="3167004" y="1833978"/>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N1</a:t>
            </a:r>
            <a:endParaRPr lang="en-GB" sz="1600" dirty="0"/>
          </a:p>
        </p:txBody>
      </p:sp>
      <p:sp>
        <p:nvSpPr>
          <p:cNvPr id="86" name="Oval 85">
            <a:extLst>
              <a:ext uri="{FF2B5EF4-FFF2-40B4-BE49-F238E27FC236}">
                <a16:creationId xmlns:a16="http://schemas.microsoft.com/office/drawing/2014/main" id="{AA368AC2-35A8-B51B-9A9F-61C7B74A4CEB}"/>
              </a:ext>
            </a:extLst>
          </p:cNvPr>
          <p:cNvSpPr/>
          <p:nvPr/>
        </p:nvSpPr>
        <p:spPr>
          <a:xfrm>
            <a:off x="3146322" y="3820535"/>
            <a:ext cx="647700" cy="646331"/>
          </a:xfrm>
          <a:prstGeom prst="ellipse">
            <a:avLst/>
          </a:prstGeom>
          <a:solidFill>
            <a:srgbClr val="FC68F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t>N3</a:t>
            </a:r>
            <a:endParaRPr lang="en-GB" sz="1600" dirty="0"/>
          </a:p>
        </p:txBody>
      </p:sp>
      <p:cxnSp>
        <p:nvCxnSpPr>
          <p:cNvPr id="91" name="Straight Arrow Connector 90">
            <a:extLst>
              <a:ext uri="{FF2B5EF4-FFF2-40B4-BE49-F238E27FC236}">
                <a16:creationId xmlns:a16="http://schemas.microsoft.com/office/drawing/2014/main" id="{81CBEF84-6FAE-5B48-D5D5-C4016A8DBBB4}"/>
              </a:ext>
            </a:extLst>
          </p:cNvPr>
          <p:cNvCxnSpPr>
            <a:cxnSpLocks/>
          </p:cNvCxnSpPr>
          <p:nvPr/>
        </p:nvCxnSpPr>
        <p:spPr>
          <a:xfrm flipH="1" flipV="1">
            <a:off x="3814704" y="2157143"/>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70BF6CD5-771A-C3D2-57DD-437DEF1A1FBB}"/>
              </a:ext>
            </a:extLst>
          </p:cNvPr>
          <p:cNvCxnSpPr>
            <a:cxnSpLocks/>
          </p:cNvCxnSpPr>
          <p:nvPr/>
        </p:nvCxnSpPr>
        <p:spPr>
          <a:xfrm flipH="1" flipV="1">
            <a:off x="3802729" y="3079899"/>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563B5A73-5805-4483-B4CE-77F8D391FE9A}"/>
              </a:ext>
            </a:extLst>
          </p:cNvPr>
          <p:cNvCxnSpPr>
            <a:cxnSpLocks/>
          </p:cNvCxnSpPr>
          <p:nvPr/>
        </p:nvCxnSpPr>
        <p:spPr>
          <a:xfrm flipH="1" flipV="1">
            <a:off x="3782047" y="4162397"/>
            <a:ext cx="1203273" cy="186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F0AB9A6A-A0C1-7B13-CB91-B7E11E9F37C5}"/>
              </a:ext>
            </a:extLst>
          </p:cNvPr>
          <p:cNvCxnSpPr>
            <a:cxnSpLocks/>
            <a:endCxn id="70" idx="6"/>
          </p:cNvCxnSpPr>
          <p:nvPr/>
        </p:nvCxnSpPr>
        <p:spPr>
          <a:xfrm flipH="1">
            <a:off x="3814704" y="2196435"/>
            <a:ext cx="1214821" cy="9115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CE4A874-3358-20A3-EDE5-DEA42DBFC97F}"/>
              </a:ext>
            </a:extLst>
          </p:cNvPr>
          <p:cNvCxnSpPr>
            <a:cxnSpLocks/>
            <a:endCxn id="86" idx="6"/>
          </p:cNvCxnSpPr>
          <p:nvPr/>
        </p:nvCxnSpPr>
        <p:spPr>
          <a:xfrm flipH="1">
            <a:off x="3794022" y="2175841"/>
            <a:ext cx="1223955" cy="19678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98AF0195-8FC3-FE20-187B-40A5466CE6F0}"/>
              </a:ext>
            </a:extLst>
          </p:cNvPr>
          <p:cNvCxnSpPr>
            <a:cxnSpLocks/>
            <a:endCxn id="72" idx="6"/>
          </p:cNvCxnSpPr>
          <p:nvPr/>
        </p:nvCxnSpPr>
        <p:spPr>
          <a:xfrm flipH="1" flipV="1">
            <a:off x="3814704" y="2157144"/>
            <a:ext cx="1203273" cy="9694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F28989BD-6922-1533-0824-B141F9E7B85F}"/>
              </a:ext>
            </a:extLst>
          </p:cNvPr>
          <p:cNvCxnSpPr>
            <a:cxnSpLocks/>
            <a:endCxn id="86" idx="6"/>
          </p:cNvCxnSpPr>
          <p:nvPr/>
        </p:nvCxnSpPr>
        <p:spPr>
          <a:xfrm flipH="1">
            <a:off x="3794022" y="3126641"/>
            <a:ext cx="1223955" cy="10170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19F0051B-44B9-4C59-EDE3-C56F2026E56B}"/>
              </a:ext>
            </a:extLst>
          </p:cNvPr>
          <p:cNvCxnSpPr>
            <a:cxnSpLocks/>
          </p:cNvCxnSpPr>
          <p:nvPr/>
        </p:nvCxnSpPr>
        <p:spPr>
          <a:xfrm flipH="1" flipV="1">
            <a:off x="3836516" y="3105579"/>
            <a:ext cx="1160779" cy="10568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6E2230C5-7B1A-2677-3884-72E4096AB66D}"/>
              </a:ext>
            </a:extLst>
          </p:cNvPr>
          <p:cNvCxnSpPr>
            <a:cxnSpLocks/>
          </p:cNvCxnSpPr>
          <p:nvPr/>
        </p:nvCxnSpPr>
        <p:spPr>
          <a:xfrm flipH="1" flipV="1">
            <a:off x="3782047" y="2168388"/>
            <a:ext cx="1188887" cy="19659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9CCC9DE-101D-893D-0686-EC27EE83D388}"/>
              </a:ext>
            </a:extLst>
          </p:cNvPr>
          <p:cNvCxnSpPr>
            <a:cxnSpLocks/>
            <a:stCxn id="86" idx="2"/>
          </p:cNvCxnSpPr>
          <p:nvPr/>
        </p:nvCxnSpPr>
        <p:spPr>
          <a:xfrm flipH="1" flipV="1">
            <a:off x="1079461" y="3584923"/>
            <a:ext cx="2066861" cy="5587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CAD69697-13BC-E6EB-48F0-BCEA61FD068E}"/>
              </a:ext>
            </a:extLst>
          </p:cNvPr>
          <p:cNvCxnSpPr>
            <a:cxnSpLocks/>
            <a:stCxn id="86" idx="2"/>
          </p:cNvCxnSpPr>
          <p:nvPr/>
        </p:nvCxnSpPr>
        <p:spPr>
          <a:xfrm flipH="1">
            <a:off x="1101583" y="4143701"/>
            <a:ext cx="2044739" cy="2911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FF32D4A6-9799-3979-0F54-5E779345B642}"/>
              </a:ext>
            </a:extLst>
          </p:cNvPr>
          <p:cNvCxnSpPr>
            <a:cxnSpLocks/>
            <a:stCxn id="72" idx="2"/>
          </p:cNvCxnSpPr>
          <p:nvPr/>
        </p:nvCxnSpPr>
        <p:spPr>
          <a:xfrm flipH="1">
            <a:off x="1101583" y="2157144"/>
            <a:ext cx="2065421" cy="22586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D7687848-C8F9-DE66-878F-0B6D088C1C23}"/>
              </a:ext>
            </a:extLst>
          </p:cNvPr>
          <p:cNvCxnSpPr>
            <a:cxnSpLocks/>
            <a:endCxn id="4" idx="6"/>
          </p:cNvCxnSpPr>
          <p:nvPr/>
        </p:nvCxnSpPr>
        <p:spPr>
          <a:xfrm flipH="1">
            <a:off x="1124530" y="2175885"/>
            <a:ext cx="2021792" cy="136754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58E0C40F-533E-CB8F-7C36-40E6BD35A0AA}"/>
              </a:ext>
            </a:extLst>
          </p:cNvPr>
          <p:cNvCxnSpPr>
            <a:cxnSpLocks/>
            <a:stCxn id="72" idx="2"/>
          </p:cNvCxnSpPr>
          <p:nvPr/>
        </p:nvCxnSpPr>
        <p:spPr>
          <a:xfrm flipH="1">
            <a:off x="1142947" y="2157144"/>
            <a:ext cx="2024057" cy="4820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8BD3278B-728B-07D0-4F2D-F8EDAA8D938A}"/>
              </a:ext>
            </a:extLst>
          </p:cNvPr>
          <p:cNvCxnSpPr>
            <a:cxnSpLocks/>
            <a:stCxn id="70" idx="2"/>
            <a:endCxn id="4" idx="6"/>
          </p:cNvCxnSpPr>
          <p:nvPr/>
        </p:nvCxnSpPr>
        <p:spPr>
          <a:xfrm flipH="1">
            <a:off x="1124530" y="3107944"/>
            <a:ext cx="2042474" cy="43548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5114AB8-DB8B-F06A-9DAD-ACBA316298B9}"/>
              </a:ext>
            </a:extLst>
          </p:cNvPr>
          <p:cNvCxnSpPr>
            <a:cxnSpLocks/>
            <a:stCxn id="70" idx="2"/>
            <a:endCxn id="5" idx="6"/>
          </p:cNvCxnSpPr>
          <p:nvPr/>
        </p:nvCxnSpPr>
        <p:spPr>
          <a:xfrm flipH="1">
            <a:off x="1124530" y="3107944"/>
            <a:ext cx="2042474" cy="13269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3A607A22-BFD2-6598-D8FF-C06E32F961A1}"/>
              </a:ext>
            </a:extLst>
          </p:cNvPr>
          <p:cNvCxnSpPr>
            <a:cxnSpLocks/>
            <a:stCxn id="70" idx="2"/>
          </p:cNvCxnSpPr>
          <p:nvPr/>
        </p:nvCxnSpPr>
        <p:spPr>
          <a:xfrm flipH="1" flipV="1">
            <a:off x="1143071" y="1759095"/>
            <a:ext cx="2023933" cy="13488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E832EA52-8382-4E1C-8137-EA194D5DAE43}"/>
              </a:ext>
            </a:extLst>
          </p:cNvPr>
          <p:cNvCxnSpPr>
            <a:cxnSpLocks/>
            <a:stCxn id="86" idx="2"/>
            <a:endCxn id="3" idx="6"/>
          </p:cNvCxnSpPr>
          <p:nvPr/>
        </p:nvCxnSpPr>
        <p:spPr>
          <a:xfrm flipH="1" flipV="1">
            <a:off x="1138718" y="2652004"/>
            <a:ext cx="2007604" cy="1491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3D1A813D-CDF0-FFE4-96E5-E3E2B8597115}"/>
              </a:ext>
            </a:extLst>
          </p:cNvPr>
          <p:cNvCxnSpPr>
            <a:cxnSpLocks/>
            <a:stCxn id="86" idx="2"/>
          </p:cNvCxnSpPr>
          <p:nvPr/>
        </p:nvCxnSpPr>
        <p:spPr>
          <a:xfrm flipH="1" flipV="1">
            <a:off x="1165091" y="1820766"/>
            <a:ext cx="1981231" cy="23229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5E47BF4-51D6-1137-DEDF-D5093AF5A641}"/>
              </a:ext>
            </a:extLst>
          </p:cNvPr>
          <p:cNvSpPr txBox="1"/>
          <p:nvPr/>
        </p:nvSpPr>
        <p:spPr>
          <a:xfrm>
            <a:off x="3187810" y="6164"/>
            <a:ext cx="6641990" cy="523220"/>
          </a:xfrm>
          <a:prstGeom prst="rect">
            <a:avLst/>
          </a:prstGeom>
          <a:noFill/>
        </p:spPr>
        <p:txBody>
          <a:bodyPr wrap="square">
            <a:spAutoFit/>
          </a:bodyPr>
          <a:lstStyle/>
          <a:p>
            <a:r>
              <a:rPr lang="en-GB" sz="2800" dirty="0">
                <a:solidFill>
                  <a:srgbClr val="92D050"/>
                </a:solidFill>
                <a:latin typeface="Consolas"/>
              </a:rPr>
              <a:t>Backpropagation (the </a:t>
            </a:r>
            <a:r>
              <a:rPr lang="en-US" sz="2800" dirty="0">
                <a:solidFill>
                  <a:srgbClr val="92D050"/>
                </a:solidFill>
                <a:latin typeface="Consolas"/>
              </a:rPr>
              <a:t>correction</a:t>
            </a:r>
            <a:r>
              <a:rPr lang="en-GB" sz="2800" dirty="0">
                <a:solidFill>
                  <a:srgbClr val="92D050"/>
                </a:solidFill>
                <a:latin typeface="Consolas"/>
              </a:rPr>
              <a:t>)</a:t>
            </a:r>
          </a:p>
        </p:txBody>
      </p:sp>
      <p:sp>
        <p:nvSpPr>
          <p:cNvPr id="7" name="TextBox 6">
            <a:extLst>
              <a:ext uri="{FF2B5EF4-FFF2-40B4-BE49-F238E27FC236}">
                <a16:creationId xmlns:a16="http://schemas.microsoft.com/office/drawing/2014/main" id="{FEF6F5F9-F9DC-6816-6BC3-CAE0205C072B}"/>
              </a:ext>
            </a:extLst>
          </p:cNvPr>
          <p:cNvSpPr txBox="1"/>
          <p:nvPr/>
        </p:nvSpPr>
        <p:spPr>
          <a:xfrm>
            <a:off x="1518929" y="4364999"/>
            <a:ext cx="1581150" cy="830997"/>
          </a:xfrm>
          <a:prstGeom prst="rect">
            <a:avLst/>
          </a:prstGeom>
          <a:noFill/>
        </p:spPr>
        <p:txBody>
          <a:bodyPr wrap="square">
            <a:spAutoFit/>
          </a:bodyPr>
          <a:lstStyle/>
          <a:p>
            <a:pPr algn="ctr">
              <a:buNone/>
            </a:pPr>
            <a:r>
              <a:rPr lang="en-GB" sz="2400" b="1" dirty="0">
                <a:solidFill>
                  <a:srgbClr val="92D050"/>
                </a:solidFill>
              </a:rPr>
              <a:t>Adjust the weights</a:t>
            </a:r>
          </a:p>
        </p:txBody>
      </p:sp>
      <p:sp>
        <p:nvSpPr>
          <p:cNvPr id="9" name="TextBox 8">
            <a:extLst>
              <a:ext uri="{FF2B5EF4-FFF2-40B4-BE49-F238E27FC236}">
                <a16:creationId xmlns:a16="http://schemas.microsoft.com/office/drawing/2014/main" id="{D3957522-BE4C-62C0-B134-5870F59B5427}"/>
              </a:ext>
            </a:extLst>
          </p:cNvPr>
          <p:cNvSpPr txBox="1"/>
          <p:nvPr/>
        </p:nvSpPr>
        <p:spPr>
          <a:xfrm>
            <a:off x="9929879" y="2289971"/>
            <a:ext cx="1828800" cy="1631216"/>
          </a:xfrm>
          <a:prstGeom prst="rect">
            <a:avLst/>
          </a:prstGeom>
          <a:noFill/>
        </p:spPr>
        <p:txBody>
          <a:bodyPr wrap="square">
            <a:spAutoFit/>
          </a:bodyPr>
          <a:lstStyle/>
          <a:p>
            <a:r>
              <a:rPr lang="en-GB" altLang="en-US" sz="2000" dirty="0">
                <a:latin typeface="Google Sans Text"/>
              </a:rPr>
              <a:t>The error is propagated </a:t>
            </a:r>
            <a:r>
              <a:rPr lang="en-GB" altLang="en-US" sz="2000" dirty="0">
                <a:solidFill>
                  <a:srgbClr val="92D050"/>
                </a:solidFill>
                <a:latin typeface="Google Sans Text"/>
              </a:rPr>
              <a:t>backward</a:t>
            </a:r>
            <a:r>
              <a:rPr lang="en-GB" altLang="en-US" sz="2000" dirty="0">
                <a:latin typeface="Google Sans Text"/>
              </a:rPr>
              <a:t> through the network </a:t>
            </a:r>
            <a:endParaRPr lang="en-GB" sz="2000" dirty="0"/>
          </a:p>
        </p:txBody>
      </p:sp>
      <p:cxnSp>
        <p:nvCxnSpPr>
          <p:cNvPr id="10" name="Straight Arrow Connector 9">
            <a:extLst>
              <a:ext uri="{FF2B5EF4-FFF2-40B4-BE49-F238E27FC236}">
                <a16:creationId xmlns:a16="http://schemas.microsoft.com/office/drawing/2014/main" id="{5C276C96-05AF-47CA-F45E-ADD12DF03BCD}"/>
              </a:ext>
            </a:extLst>
          </p:cNvPr>
          <p:cNvCxnSpPr>
            <a:cxnSpLocks/>
          </p:cNvCxnSpPr>
          <p:nvPr/>
        </p:nvCxnSpPr>
        <p:spPr>
          <a:xfrm flipH="1">
            <a:off x="9282179" y="3105579"/>
            <a:ext cx="569165" cy="70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973C3BC-B7CB-8033-0953-209ABD1F2281}"/>
              </a:ext>
            </a:extLst>
          </p:cNvPr>
          <p:cNvCxnSpPr>
            <a:cxnSpLocks/>
          </p:cNvCxnSpPr>
          <p:nvPr/>
        </p:nvCxnSpPr>
        <p:spPr>
          <a:xfrm flipH="1">
            <a:off x="1581150" y="1173062"/>
            <a:ext cx="8782050"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1404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3B0F5C-F7CE-4A52-D847-A02C50BF8F4D}"/>
              </a:ext>
            </a:extLst>
          </p:cNvPr>
          <p:cNvSpPr>
            <a:spLocks noChangeArrowheads="1"/>
          </p:cNvSpPr>
          <p:nvPr/>
        </p:nvSpPr>
        <p:spPr bwMode="auto">
          <a:xfrm>
            <a:off x="76200" y="762000"/>
            <a:ext cx="12115800"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514350" lvl="0" indent="-514350" eaLnBrk="0" fontAlgn="base" hangingPunct="0">
              <a:spcBef>
                <a:spcPct val="0"/>
              </a:spcBef>
              <a:spcAft>
                <a:spcPts val="1200"/>
              </a:spcAft>
              <a:buFont typeface="+mj-lt"/>
              <a:buAutoNum type="arabicPeriod"/>
            </a:pPr>
            <a:r>
              <a:rPr kumimoji="0" lang="en-US" altLang="en-US" sz="2600" b="1" i="0" u="none" strike="noStrike" cap="none" normalizeH="0" baseline="0" dirty="0">
                <a:ln>
                  <a:noFill/>
                </a:ln>
                <a:solidFill>
                  <a:srgbClr val="92D050"/>
                </a:solidFill>
                <a:effectLst/>
                <a:latin typeface="Google Sans Text"/>
              </a:rPr>
              <a:t>Prediction </a:t>
            </a:r>
            <a:r>
              <a:rPr kumimoji="0" lang="en-US" altLang="en-US" sz="2600" i="0" u="none" strike="noStrike" cap="none" normalizeH="0" baseline="0" dirty="0">
                <a:ln>
                  <a:noFill/>
                </a:ln>
                <a:solidFill>
                  <a:srgbClr val="92D050"/>
                </a:solidFill>
                <a:effectLst/>
                <a:latin typeface="Google Sans Text"/>
              </a:rPr>
              <a:t>(</a:t>
            </a:r>
            <a:r>
              <a:rPr lang="en-US" altLang="en-US" sz="2600" dirty="0">
                <a:solidFill>
                  <a:srgbClr val="92D050"/>
                </a:solidFill>
                <a:latin typeface="Google Sans Text"/>
              </a:rPr>
              <a:t>forward pass</a:t>
            </a:r>
            <a:r>
              <a:rPr kumimoji="0" lang="en-US" altLang="en-US" sz="2600" i="0" u="none" strike="noStrike" cap="none" normalizeH="0" baseline="0" dirty="0">
                <a:ln>
                  <a:noFill/>
                </a:ln>
                <a:solidFill>
                  <a:srgbClr val="92D050"/>
                </a:solidFill>
                <a:effectLst/>
                <a:latin typeface="Google Sans Text"/>
              </a:rPr>
              <a:t>): </a:t>
            </a:r>
            <a:r>
              <a:rPr lang="en-GB" altLang="en-US" sz="2600" dirty="0">
                <a:latin typeface="Google Sans Text"/>
              </a:rPr>
              <a:t>The ANN predicts a price using the current weights and biases by propagating the input features forward through all layers.</a:t>
            </a:r>
            <a:endParaRPr kumimoji="0" lang="en-US" altLang="en-US" sz="2600" b="0" i="0" u="none" strike="noStrike" cap="none" normalizeH="0" baseline="0" dirty="0">
              <a:ln>
                <a:noFill/>
              </a:ln>
              <a:solidFill>
                <a:schemeClr val="tx1"/>
              </a:solidFill>
              <a:effectLst/>
              <a:latin typeface="Google Sans Text"/>
            </a:endParaRPr>
          </a:p>
          <a:p>
            <a:pPr marL="514350" lvl="0" indent="-514350" eaLnBrk="0" fontAlgn="base" hangingPunct="0">
              <a:spcBef>
                <a:spcPct val="0"/>
              </a:spcBef>
              <a:spcAft>
                <a:spcPts val="1200"/>
              </a:spcAft>
              <a:buFont typeface="+mj-lt"/>
              <a:buAutoNum type="arabicPeriod"/>
            </a:pPr>
            <a:r>
              <a:rPr kumimoji="0" lang="en-US" altLang="en-US" sz="2600" b="1" i="0" u="none" strike="noStrike" cap="none" normalizeH="0" baseline="0" dirty="0">
                <a:ln>
                  <a:noFill/>
                </a:ln>
                <a:solidFill>
                  <a:srgbClr val="92D050"/>
                </a:solidFill>
                <a:effectLst/>
                <a:latin typeface="Google Sans Text"/>
              </a:rPr>
              <a:t>Loss Calculation:</a:t>
            </a:r>
            <a:r>
              <a:rPr kumimoji="0" lang="en-US" altLang="en-US" sz="2600" b="0" i="0" u="none" strike="noStrike" cap="none" normalizeH="0" baseline="0" dirty="0">
                <a:ln>
                  <a:noFill/>
                </a:ln>
                <a:solidFill>
                  <a:srgbClr val="92D050"/>
                </a:solidFill>
                <a:effectLst/>
                <a:latin typeface="Google Sans Text"/>
              </a:rPr>
              <a:t> </a:t>
            </a:r>
            <a:r>
              <a:rPr lang="en-GB" altLang="en-US" sz="2600" dirty="0">
                <a:latin typeface="Google Sans Text"/>
              </a:rPr>
              <a:t>The </a:t>
            </a:r>
            <a:r>
              <a:rPr lang="en-GB" altLang="en-US" sz="2600" dirty="0">
                <a:solidFill>
                  <a:srgbClr val="92D050"/>
                </a:solidFill>
                <a:latin typeface="Google Sans Text"/>
              </a:rPr>
              <a:t>Loss Function </a:t>
            </a:r>
            <a:r>
              <a:rPr lang="en-GB" altLang="en-US" sz="2600" dirty="0">
                <a:latin typeface="Google Sans Text"/>
              </a:rPr>
              <a:t>(e.g., Mean Squared Error, MSE) measures how far the prediction is from the true value. The goal of training is to minimize this value.</a:t>
            </a:r>
            <a:endParaRPr kumimoji="0" lang="en-US" altLang="en-US" sz="2600" b="0" i="0" u="none" strike="noStrike" cap="none" normalizeH="0" baseline="0" dirty="0">
              <a:ln>
                <a:noFill/>
              </a:ln>
              <a:solidFill>
                <a:schemeClr val="tx1"/>
              </a:solidFill>
              <a:effectLst/>
              <a:latin typeface="Google Sans Text"/>
            </a:endParaRPr>
          </a:p>
          <a:p>
            <a:pPr marL="514350" lvl="0" indent="-514350" eaLnBrk="0" fontAlgn="base" hangingPunct="0">
              <a:spcBef>
                <a:spcPct val="0"/>
              </a:spcBef>
              <a:spcAft>
                <a:spcPts val="1200"/>
              </a:spcAft>
              <a:buFont typeface="+mj-lt"/>
              <a:buAutoNum type="arabicPeriod"/>
            </a:pPr>
            <a:r>
              <a:rPr kumimoji="0" lang="en-US" altLang="en-US" sz="2600" b="1" i="0" u="none" strike="noStrike" cap="none" normalizeH="0" baseline="0" dirty="0">
                <a:ln>
                  <a:noFill/>
                </a:ln>
                <a:solidFill>
                  <a:srgbClr val="92D050"/>
                </a:solidFill>
                <a:effectLst/>
                <a:latin typeface="Google Sans Text"/>
              </a:rPr>
              <a:t>Backpropagation:</a:t>
            </a:r>
            <a:r>
              <a:rPr kumimoji="0" lang="en-US" altLang="en-US" sz="2600" b="0" i="0" u="none" strike="noStrike" cap="none" normalizeH="0" baseline="0" dirty="0">
                <a:ln>
                  <a:noFill/>
                </a:ln>
                <a:solidFill>
                  <a:srgbClr val="92D050"/>
                </a:solidFill>
                <a:effectLst/>
                <a:latin typeface="Google Sans Text"/>
              </a:rPr>
              <a:t> </a:t>
            </a:r>
            <a:r>
              <a:rPr lang="en-GB" altLang="en-US" sz="2600" dirty="0">
                <a:latin typeface="Google Sans Text"/>
              </a:rPr>
              <a:t>The error is propagated </a:t>
            </a:r>
            <a:r>
              <a:rPr lang="en-GB" altLang="en-US" sz="2600" dirty="0">
                <a:solidFill>
                  <a:srgbClr val="92D050"/>
                </a:solidFill>
                <a:latin typeface="Google Sans Text"/>
              </a:rPr>
              <a:t>backward</a:t>
            </a:r>
            <a:r>
              <a:rPr lang="en-GB" altLang="en-US" sz="2600" dirty="0">
                <a:latin typeface="Google Sans Text"/>
              </a:rPr>
              <a:t> through the network using the chain rule of calculus. This computes the gradient (partial derivative) of the loss with respect to every weight and bias, revealing how much each parameter contributed to the error.</a:t>
            </a:r>
          </a:p>
          <a:p>
            <a:pPr marL="514350" lvl="0" indent="-514350" eaLnBrk="0" fontAlgn="base" hangingPunct="0">
              <a:spcBef>
                <a:spcPct val="0"/>
              </a:spcBef>
              <a:spcAft>
                <a:spcPts val="1200"/>
              </a:spcAft>
              <a:buFont typeface="+mj-lt"/>
              <a:buAutoNum type="arabicPeriod"/>
            </a:pPr>
            <a:r>
              <a:rPr lang="en-US" altLang="en-US" sz="2600" b="1" dirty="0">
                <a:solidFill>
                  <a:srgbClr val="92D050"/>
                </a:solidFill>
                <a:latin typeface="Google Sans Text"/>
              </a:rPr>
              <a:t>Gradient Descent </a:t>
            </a:r>
            <a:r>
              <a:rPr kumimoji="0" lang="en-US" altLang="en-US" sz="2600" b="1" i="0" u="none" strike="noStrike" cap="none" normalizeH="0" baseline="0" dirty="0">
                <a:ln>
                  <a:noFill/>
                </a:ln>
                <a:solidFill>
                  <a:srgbClr val="92D050"/>
                </a:solidFill>
                <a:effectLst/>
                <a:latin typeface="Google Sans Text"/>
              </a:rPr>
              <a:t>Optimization:</a:t>
            </a:r>
            <a:r>
              <a:rPr kumimoji="0" lang="en-US" altLang="en-US" sz="2600" b="0" i="0" u="none" strike="noStrike" cap="none" normalizeH="0" baseline="0" dirty="0">
                <a:ln>
                  <a:noFill/>
                </a:ln>
                <a:solidFill>
                  <a:schemeClr val="tx1"/>
                </a:solidFill>
                <a:effectLst/>
                <a:latin typeface="Google Sans Text"/>
              </a:rPr>
              <a:t> </a:t>
            </a:r>
            <a:r>
              <a:rPr lang="en-GB" altLang="en-US" sz="2600" dirty="0">
                <a:latin typeface="Google Sans Text"/>
              </a:rPr>
              <a:t>Gradient Descent algorithm used to find the optimal weights and biases that minimize the Loss function. It iteratively adjusts (updates) the weights and biases in the direction that reduces the loss more rapidly.</a:t>
            </a:r>
          </a:p>
          <a:p>
            <a:pPr marL="514350" lvl="0" indent="-514350" eaLnBrk="0" fontAlgn="base" hangingPunct="0">
              <a:spcBef>
                <a:spcPct val="0"/>
              </a:spcBef>
              <a:spcAft>
                <a:spcPts val="1200"/>
              </a:spcAft>
              <a:buFont typeface="+mj-lt"/>
              <a:buAutoNum type="arabicPeriod"/>
            </a:pPr>
            <a:r>
              <a:rPr lang="en-GB" altLang="en-US" sz="2600" b="1" dirty="0">
                <a:solidFill>
                  <a:srgbClr val="92D050"/>
                </a:solidFill>
                <a:latin typeface="Google Sans Text"/>
              </a:rPr>
              <a:t>Iteration (Epochs &amp; Batches): </a:t>
            </a:r>
            <a:r>
              <a:rPr lang="en-GB" altLang="en-US" sz="2600" dirty="0">
                <a:latin typeface="Google Sans Text"/>
              </a:rPr>
              <a:t>Steps 1–4 repeat across mini-batches of training data for multiple epochs until the loss converges to a minimum.</a:t>
            </a:r>
            <a:endParaRPr kumimoji="0" lang="en-US" altLang="en-US" sz="2600" b="0" i="0" u="none" strike="noStrike" cap="none" normalizeH="0" baseline="0" dirty="0">
              <a:ln>
                <a:noFill/>
              </a:ln>
              <a:solidFill>
                <a:schemeClr val="tx1"/>
              </a:solidFill>
              <a:effectLst/>
              <a:latin typeface="Google Sans Text"/>
            </a:endParaRPr>
          </a:p>
        </p:txBody>
      </p:sp>
      <p:sp>
        <p:nvSpPr>
          <p:cNvPr id="5" name="TextBox 4">
            <a:extLst>
              <a:ext uri="{FF2B5EF4-FFF2-40B4-BE49-F238E27FC236}">
                <a16:creationId xmlns:a16="http://schemas.microsoft.com/office/drawing/2014/main" id="{10A27C63-2E04-862F-EEF4-B12DB980E41E}"/>
              </a:ext>
            </a:extLst>
          </p:cNvPr>
          <p:cNvSpPr txBox="1"/>
          <p:nvPr/>
        </p:nvSpPr>
        <p:spPr>
          <a:xfrm>
            <a:off x="0" y="-121087"/>
            <a:ext cx="12115800" cy="707886"/>
          </a:xfrm>
          <a:prstGeom prst="rect">
            <a:avLst/>
          </a:prstGeom>
          <a:noFill/>
        </p:spPr>
        <p:txBody>
          <a:bodyPr wrap="square">
            <a:spAutoFit/>
          </a:bodyPr>
          <a:lstStyle/>
          <a:p>
            <a:r>
              <a:rPr lang="en-GB" sz="4000" dirty="0">
                <a:solidFill>
                  <a:srgbClr val="92D050"/>
                </a:solidFill>
                <a:latin typeface="Consolas"/>
              </a:rPr>
              <a:t>Learning process </a:t>
            </a:r>
          </a:p>
        </p:txBody>
      </p:sp>
    </p:spTree>
    <p:extLst>
      <p:ext uri="{BB962C8B-B14F-4D97-AF65-F5344CB8AC3E}">
        <p14:creationId xmlns:p14="http://schemas.microsoft.com/office/powerpoint/2010/main" val="1548708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B94452-FC14-B311-8F02-B67C7D8A185F}"/>
              </a:ext>
            </a:extLst>
          </p:cNvPr>
          <p:cNvPicPr>
            <a:picLocks noChangeAspect="1"/>
          </p:cNvPicPr>
          <p:nvPr/>
        </p:nvPicPr>
        <p:blipFill>
          <a:blip r:embed="rId2"/>
          <a:stretch>
            <a:fillRect/>
          </a:stretch>
        </p:blipFill>
        <p:spPr>
          <a:xfrm>
            <a:off x="1447800" y="838200"/>
            <a:ext cx="9847874" cy="5529340"/>
          </a:xfrm>
          <a:prstGeom prst="rect">
            <a:avLst/>
          </a:prstGeom>
        </p:spPr>
      </p:pic>
      <p:sp>
        <p:nvSpPr>
          <p:cNvPr id="4" name="TextBox 3">
            <a:extLst>
              <a:ext uri="{FF2B5EF4-FFF2-40B4-BE49-F238E27FC236}">
                <a16:creationId xmlns:a16="http://schemas.microsoft.com/office/drawing/2014/main" id="{8DF10191-99F5-9B63-A2CA-F1F58ACDC2F8}"/>
              </a:ext>
            </a:extLst>
          </p:cNvPr>
          <p:cNvSpPr txBox="1"/>
          <p:nvPr/>
        </p:nvSpPr>
        <p:spPr>
          <a:xfrm>
            <a:off x="3124200" y="152400"/>
            <a:ext cx="6641990" cy="523220"/>
          </a:xfrm>
          <a:prstGeom prst="rect">
            <a:avLst/>
          </a:prstGeom>
          <a:noFill/>
        </p:spPr>
        <p:txBody>
          <a:bodyPr wrap="square">
            <a:spAutoFit/>
          </a:bodyPr>
          <a:lstStyle/>
          <a:p>
            <a:r>
              <a:rPr lang="en-GB" sz="2800" dirty="0">
                <a:solidFill>
                  <a:srgbClr val="92D050"/>
                </a:solidFill>
                <a:latin typeface="Consolas"/>
              </a:rPr>
              <a:t>Schematic representation of MNN</a:t>
            </a:r>
          </a:p>
        </p:txBody>
      </p:sp>
      <p:sp>
        <p:nvSpPr>
          <p:cNvPr id="5" name="TextBox 4">
            <a:extLst>
              <a:ext uri="{FF2B5EF4-FFF2-40B4-BE49-F238E27FC236}">
                <a16:creationId xmlns:a16="http://schemas.microsoft.com/office/drawing/2014/main" id="{A5203DE4-B8F8-66FC-5E26-A7E0E6E94F53}"/>
              </a:ext>
            </a:extLst>
          </p:cNvPr>
          <p:cNvSpPr txBox="1"/>
          <p:nvPr/>
        </p:nvSpPr>
        <p:spPr>
          <a:xfrm>
            <a:off x="4343400" y="6463406"/>
            <a:ext cx="7696200" cy="646331"/>
          </a:xfrm>
          <a:prstGeom prst="rect">
            <a:avLst/>
          </a:prstGeom>
          <a:noFill/>
        </p:spPr>
        <p:txBody>
          <a:bodyPr wrap="square">
            <a:spAutoFit/>
          </a:bodyPr>
          <a:lstStyle/>
          <a:p>
            <a:r>
              <a:rPr lang="en-GB" dirty="0"/>
              <a:t>Source: </a:t>
            </a:r>
            <a:r>
              <a:rPr lang="en-GB" dirty="0">
                <a:hlinkClick r:id="rId3"/>
              </a:rPr>
              <a:t>https://mlsysbook.ai/book/contents/core/dl_primer/dl_primer.html</a:t>
            </a:r>
            <a:endParaRPr lang="en-GB" dirty="0"/>
          </a:p>
          <a:p>
            <a:endParaRPr lang="en-GB" dirty="0"/>
          </a:p>
        </p:txBody>
      </p:sp>
    </p:spTree>
    <p:extLst>
      <p:ext uri="{BB962C8B-B14F-4D97-AF65-F5344CB8AC3E}">
        <p14:creationId xmlns:p14="http://schemas.microsoft.com/office/powerpoint/2010/main" val="2886056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FC684B-E1CD-0D4A-42DF-5BF53AEA95C4}"/>
              </a:ext>
            </a:extLst>
          </p:cNvPr>
          <p:cNvPicPr>
            <a:picLocks noChangeAspect="1"/>
          </p:cNvPicPr>
          <p:nvPr/>
        </p:nvPicPr>
        <p:blipFill>
          <a:blip r:embed="rId3"/>
          <a:stretch>
            <a:fillRect/>
          </a:stretch>
        </p:blipFill>
        <p:spPr>
          <a:xfrm>
            <a:off x="834178" y="324116"/>
            <a:ext cx="1371719" cy="1463167"/>
          </a:xfrm>
          <a:prstGeom prst="rect">
            <a:avLst/>
          </a:prstGeom>
        </p:spPr>
      </p:pic>
      <p:sp>
        <p:nvSpPr>
          <p:cNvPr id="4" name="TextBox 3">
            <a:extLst>
              <a:ext uri="{FF2B5EF4-FFF2-40B4-BE49-F238E27FC236}">
                <a16:creationId xmlns:a16="http://schemas.microsoft.com/office/drawing/2014/main" id="{1617B30C-9E03-A133-BD19-E75446702A0D}"/>
              </a:ext>
            </a:extLst>
          </p:cNvPr>
          <p:cNvSpPr txBox="1"/>
          <p:nvPr/>
        </p:nvSpPr>
        <p:spPr>
          <a:xfrm>
            <a:off x="2514600" y="0"/>
            <a:ext cx="7556390" cy="523220"/>
          </a:xfrm>
          <a:prstGeom prst="rect">
            <a:avLst/>
          </a:prstGeom>
          <a:noFill/>
        </p:spPr>
        <p:txBody>
          <a:bodyPr wrap="square">
            <a:spAutoFit/>
          </a:bodyPr>
          <a:lstStyle/>
          <a:p>
            <a:r>
              <a:rPr lang="en-GB" sz="2800" dirty="0">
                <a:solidFill>
                  <a:srgbClr val="92D050"/>
                </a:solidFill>
                <a:latin typeface="Consolas"/>
              </a:rPr>
              <a:t>Convolutional Neural Network (CNN)</a:t>
            </a:r>
          </a:p>
        </p:txBody>
      </p:sp>
      <p:pic>
        <p:nvPicPr>
          <p:cNvPr id="10" name="Picture 9">
            <a:extLst>
              <a:ext uri="{FF2B5EF4-FFF2-40B4-BE49-F238E27FC236}">
                <a16:creationId xmlns:a16="http://schemas.microsoft.com/office/drawing/2014/main" id="{EEF198F4-AC11-0B70-0DF4-983A90C4FC3B}"/>
              </a:ext>
            </a:extLst>
          </p:cNvPr>
          <p:cNvPicPr>
            <a:picLocks noChangeAspect="1"/>
          </p:cNvPicPr>
          <p:nvPr/>
        </p:nvPicPr>
        <p:blipFill>
          <a:blip r:embed="rId4"/>
          <a:stretch>
            <a:fillRect/>
          </a:stretch>
        </p:blipFill>
        <p:spPr>
          <a:xfrm>
            <a:off x="228600" y="3124200"/>
            <a:ext cx="2899503" cy="2197844"/>
          </a:xfrm>
          <a:prstGeom prst="rect">
            <a:avLst/>
          </a:prstGeom>
        </p:spPr>
      </p:pic>
      <p:sp>
        <p:nvSpPr>
          <p:cNvPr id="11" name="Right Brace 10">
            <a:extLst>
              <a:ext uri="{FF2B5EF4-FFF2-40B4-BE49-F238E27FC236}">
                <a16:creationId xmlns:a16="http://schemas.microsoft.com/office/drawing/2014/main" id="{2DD9B9E7-D13A-2805-FDB8-695369B8C315}"/>
              </a:ext>
            </a:extLst>
          </p:cNvPr>
          <p:cNvSpPr/>
          <p:nvPr/>
        </p:nvSpPr>
        <p:spPr>
          <a:xfrm rot="16200000">
            <a:off x="1623604" y="2538002"/>
            <a:ext cx="410454" cy="1371542"/>
          </a:xfrm>
          <a:prstGeom prst="rightBrace">
            <a:avLst>
              <a:gd name="adj1" fmla="val 47484"/>
              <a:gd name="adj2" fmla="val 5087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TextBox 12">
            <a:extLst>
              <a:ext uri="{FF2B5EF4-FFF2-40B4-BE49-F238E27FC236}">
                <a16:creationId xmlns:a16="http://schemas.microsoft.com/office/drawing/2014/main" id="{96B3C7F7-63E1-CD6A-200A-74A5C5F90FA9}"/>
              </a:ext>
            </a:extLst>
          </p:cNvPr>
          <p:cNvSpPr txBox="1"/>
          <p:nvPr/>
        </p:nvSpPr>
        <p:spPr>
          <a:xfrm>
            <a:off x="1520038" y="2649214"/>
            <a:ext cx="994562" cy="369332"/>
          </a:xfrm>
          <a:prstGeom prst="rect">
            <a:avLst/>
          </a:prstGeom>
          <a:noFill/>
        </p:spPr>
        <p:txBody>
          <a:bodyPr wrap="square">
            <a:spAutoFit/>
          </a:bodyPr>
          <a:lstStyle/>
          <a:p>
            <a:r>
              <a:rPr lang="en-GB" sz="1800" b="1" dirty="0">
                <a:solidFill>
                  <a:srgbClr val="92D050"/>
                </a:solidFill>
                <a:latin typeface="Consolas"/>
              </a:rPr>
              <a:t>CNN</a:t>
            </a:r>
            <a:endParaRPr lang="en-GB" b="1" dirty="0"/>
          </a:p>
        </p:txBody>
      </p:sp>
      <p:cxnSp>
        <p:nvCxnSpPr>
          <p:cNvPr id="15" name="Straight Arrow Connector 14">
            <a:extLst>
              <a:ext uri="{FF2B5EF4-FFF2-40B4-BE49-F238E27FC236}">
                <a16:creationId xmlns:a16="http://schemas.microsoft.com/office/drawing/2014/main" id="{7FBDE182-343B-6510-296D-7AF3A625D968}"/>
              </a:ext>
            </a:extLst>
          </p:cNvPr>
          <p:cNvCxnSpPr/>
          <p:nvPr/>
        </p:nvCxnSpPr>
        <p:spPr>
          <a:xfrm>
            <a:off x="1143059" y="5181600"/>
            <a:ext cx="0" cy="381000"/>
          </a:xfrm>
          <a:prstGeom prst="straightConnector1">
            <a:avLst/>
          </a:prstGeom>
          <a:ln w="44450">
            <a:solidFill>
              <a:srgbClr val="FC68F1"/>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F3234F5D-9209-4FF8-6562-992787BDF0D1}"/>
              </a:ext>
            </a:extLst>
          </p:cNvPr>
          <p:cNvPicPr>
            <a:picLocks noChangeAspect="1"/>
          </p:cNvPicPr>
          <p:nvPr/>
        </p:nvPicPr>
        <p:blipFill>
          <a:blip r:embed="rId5"/>
          <a:stretch>
            <a:fillRect/>
          </a:stretch>
        </p:blipFill>
        <p:spPr>
          <a:xfrm>
            <a:off x="533400" y="5562600"/>
            <a:ext cx="1539373" cy="655377"/>
          </a:xfrm>
          <a:prstGeom prst="rect">
            <a:avLst/>
          </a:prstGeom>
        </p:spPr>
      </p:pic>
      <p:pic>
        <p:nvPicPr>
          <p:cNvPr id="21" name="Picture 20">
            <a:extLst>
              <a:ext uri="{FF2B5EF4-FFF2-40B4-BE49-F238E27FC236}">
                <a16:creationId xmlns:a16="http://schemas.microsoft.com/office/drawing/2014/main" id="{FEBCCEF7-CBE6-BB42-DBEE-58E3ABA76E78}"/>
              </a:ext>
            </a:extLst>
          </p:cNvPr>
          <p:cNvPicPr>
            <a:picLocks noChangeAspect="1"/>
          </p:cNvPicPr>
          <p:nvPr/>
        </p:nvPicPr>
        <p:blipFill>
          <a:blip r:embed="rId6"/>
          <a:stretch>
            <a:fillRect/>
          </a:stretch>
        </p:blipFill>
        <p:spPr>
          <a:xfrm>
            <a:off x="6483266" y="599674"/>
            <a:ext cx="2565561" cy="1456637"/>
          </a:xfrm>
          <a:prstGeom prst="rect">
            <a:avLst/>
          </a:prstGeom>
        </p:spPr>
      </p:pic>
      <p:sp>
        <p:nvSpPr>
          <p:cNvPr id="22" name="TextBox 21">
            <a:extLst>
              <a:ext uri="{FF2B5EF4-FFF2-40B4-BE49-F238E27FC236}">
                <a16:creationId xmlns:a16="http://schemas.microsoft.com/office/drawing/2014/main" id="{7C29BFA7-8740-EE03-789F-E6D0269FDF50}"/>
              </a:ext>
            </a:extLst>
          </p:cNvPr>
          <p:cNvSpPr txBox="1"/>
          <p:nvPr/>
        </p:nvSpPr>
        <p:spPr>
          <a:xfrm>
            <a:off x="3155942" y="684001"/>
            <a:ext cx="1828800" cy="1323439"/>
          </a:xfrm>
          <a:prstGeom prst="rect">
            <a:avLst/>
          </a:prstGeom>
          <a:noFill/>
        </p:spPr>
        <p:txBody>
          <a:bodyPr wrap="square">
            <a:spAutoFit/>
          </a:bodyPr>
          <a:lstStyle/>
          <a:p>
            <a:r>
              <a:rPr lang="en-GB" altLang="en-US" sz="2000" dirty="0">
                <a:latin typeface="Google Sans Text"/>
              </a:rPr>
              <a:t>Zoom in a particular part and we get the window.</a:t>
            </a:r>
            <a:endParaRPr lang="en-GB" sz="2000" dirty="0"/>
          </a:p>
        </p:txBody>
      </p:sp>
      <p:pic>
        <p:nvPicPr>
          <p:cNvPr id="24" name="Picture 23">
            <a:extLst>
              <a:ext uri="{FF2B5EF4-FFF2-40B4-BE49-F238E27FC236}">
                <a16:creationId xmlns:a16="http://schemas.microsoft.com/office/drawing/2014/main" id="{40E5EE47-F981-0E32-9B5C-F2D89FAA1B4F}"/>
              </a:ext>
            </a:extLst>
          </p:cNvPr>
          <p:cNvPicPr>
            <a:picLocks noChangeAspect="1"/>
          </p:cNvPicPr>
          <p:nvPr/>
        </p:nvPicPr>
        <p:blipFill>
          <a:blip r:embed="rId7"/>
          <a:stretch>
            <a:fillRect/>
          </a:stretch>
        </p:blipFill>
        <p:spPr>
          <a:xfrm>
            <a:off x="10089582" y="668778"/>
            <a:ext cx="990600" cy="778328"/>
          </a:xfrm>
          <a:prstGeom prst="rect">
            <a:avLst/>
          </a:prstGeom>
        </p:spPr>
      </p:pic>
      <p:sp>
        <p:nvSpPr>
          <p:cNvPr id="25" name="TextBox 24">
            <a:extLst>
              <a:ext uri="{FF2B5EF4-FFF2-40B4-BE49-F238E27FC236}">
                <a16:creationId xmlns:a16="http://schemas.microsoft.com/office/drawing/2014/main" id="{EF63FE72-7252-4FF2-5BDE-8B6A27E08ED1}"/>
              </a:ext>
            </a:extLst>
          </p:cNvPr>
          <p:cNvSpPr txBox="1"/>
          <p:nvPr/>
        </p:nvSpPr>
        <p:spPr>
          <a:xfrm>
            <a:off x="9255088" y="1413557"/>
            <a:ext cx="2895600" cy="1323439"/>
          </a:xfrm>
          <a:prstGeom prst="rect">
            <a:avLst/>
          </a:prstGeom>
          <a:noFill/>
        </p:spPr>
        <p:txBody>
          <a:bodyPr wrap="square">
            <a:spAutoFit/>
          </a:bodyPr>
          <a:lstStyle/>
          <a:p>
            <a:r>
              <a:rPr lang="en-GB" altLang="en-US" sz="2000" dirty="0">
                <a:latin typeface="Google Sans Text"/>
              </a:rPr>
              <a:t>CNN could say that these two objects are the same thing through the application of filters</a:t>
            </a:r>
            <a:endParaRPr lang="en-GB" sz="2000" dirty="0"/>
          </a:p>
        </p:txBody>
      </p:sp>
      <p:pic>
        <p:nvPicPr>
          <p:cNvPr id="29" name="Picture 28">
            <a:extLst>
              <a:ext uri="{FF2B5EF4-FFF2-40B4-BE49-F238E27FC236}">
                <a16:creationId xmlns:a16="http://schemas.microsoft.com/office/drawing/2014/main" id="{6FB8F7A3-DD4E-FDAD-0555-CBCE5F4B21DD}"/>
              </a:ext>
            </a:extLst>
          </p:cNvPr>
          <p:cNvPicPr>
            <a:picLocks noChangeAspect="1"/>
          </p:cNvPicPr>
          <p:nvPr/>
        </p:nvPicPr>
        <p:blipFill>
          <a:blip r:embed="rId8"/>
          <a:stretch>
            <a:fillRect/>
          </a:stretch>
        </p:blipFill>
        <p:spPr>
          <a:xfrm>
            <a:off x="6193526" y="3248592"/>
            <a:ext cx="907995" cy="799036"/>
          </a:xfrm>
          <a:prstGeom prst="rect">
            <a:avLst/>
          </a:prstGeom>
        </p:spPr>
      </p:pic>
      <p:pic>
        <p:nvPicPr>
          <p:cNvPr id="30" name="Picture 29">
            <a:extLst>
              <a:ext uri="{FF2B5EF4-FFF2-40B4-BE49-F238E27FC236}">
                <a16:creationId xmlns:a16="http://schemas.microsoft.com/office/drawing/2014/main" id="{7FA59346-2F07-20C8-240E-A0D086240506}"/>
              </a:ext>
            </a:extLst>
          </p:cNvPr>
          <p:cNvPicPr>
            <a:picLocks noChangeAspect="1"/>
          </p:cNvPicPr>
          <p:nvPr/>
        </p:nvPicPr>
        <p:blipFill>
          <a:blip r:embed="rId9"/>
          <a:stretch>
            <a:fillRect/>
          </a:stretch>
        </p:blipFill>
        <p:spPr>
          <a:xfrm>
            <a:off x="6226183" y="3248592"/>
            <a:ext cx="875338" cy="887843"/>
          </a:xfrm>
          <a:prstGeom prst="rect">
            <a:avLst/>
          </a:prstGeom>
        </p:spPr>
      </p:pic>
      <p:pic>
        <p:nvPicPr>
          <p:cNvPr id="32" name="Picture 31">
            <a:extLst>
              <a:ext uri="{FF2B5EF4-FFF2-40B4-BE49-F238E27FC236}">
                <a16:creationId xmlns:a16="http://schemas.microsoft.com/office/drawing/2014/main" id="{215A8EB0-BB77-AD8D-7C93-3DE4538D674C}"/>
              </a:ext>
            </a:extLst>
          </p:cNvPr>
          <p:cNvPicPr>
            <a:picLocks noChangeAspect="1"/>
          </p:cNvPicPr>
          <p:nvPr/>
        </p:nvPicPr>
        <p:blipFill>
          <a:blip r:embed="rId10"/>
          <a:stretch>
            <a:fillRect/>
          </a:stretch>
        </p:blipFill>
        <p:spPr>
          <a:xfrm>
            <a:off x="6525869" y="603576"/>
            <a:ext cx="2565561" cy="1363514"/>
          </a:xfrm>
          <a:prstGeom prst="rect">
            <a:avLst/>
          </a:prstGeom>
        </p:spPr>
      </p:pic>
      <p:pic>
        <p:nvPicPr>
          <p:cNvPr id="34" name="Picture 33">
            <a:extLst>
              <a:ext uri="{FF2B5EF4-FFF2-40B4-BE49-F238E27FC236}">
                <a16:creationId xmlns:a16="http://schemas.microsoft.com/office/drawing/2014/main" id="{03277072-EDCD-E1E6-CD33-27699FB66DE4}"/>
              </a:ext>
            </a:extLst>
          </p:cNvPr>
          <p:cNvPicPr>
            <a:picLocks noChangeAspect="1"/>
          </p:cNvPicPr>
          <p:nvPr/>
        </p:nvPicPr>
        <p:blipFill>
          <a:blip r:embed="rId11"/>
          <a:stretch>
            <a:fillRect/>
          </a:stretch>
        </p:blipFill>
        <p:spPr>
          <a:xfrm>
            <a:off x="6468398" y="565214"/>
            <a:ext cx="2651336" cy="1425547"/>
          </a:xfrm>
          <a:prstGeom prst="rect">
            <a:avLst/>
          </a:prstGeom>
        </p:spPr>
      </p:pic>
      <p:pic>
        <p:nvPicPr>
          <p:cNvPr id="36" name="Picture 35">
            <a:extLst>
              <a:ext uri="{FF2B5EF4-FFF2-40B4-BE49-F238E27FC236}">
                <a16:creationId xmlns:a16="http://schemas.microsoft.com/office/drawing/2014/main" id="{B7C6B017-3D75-0A66-AF99-DB316A3AA905}"/>
              </a:ext>
            </a:extLst>
          </p:cNvPr>
          <p:cNvPicPr>
            <a:picLocks noChangeAspect="1"/>
          </p:cNvPicPr>
          <p:nvPr/>
        </p:nvPicPr>
        <p:blipFill>
          <a:blip r:embed="rId12"/>
          <a:stretch>
            <a:fillRect/>
          </a:stretch>
        </p:blipFill>
        <p:spPr>
          <a:xfrm>
            <a:off x="7572114" y="3235387"/>
            <a:ext cx="990600" cy="847514"/>
          </a:xfrm>
          <a:prstGeom prst="rect">
            <a:avLst/>
          </a:prstGeom>
        </p:spPr>
      </p:pic>
      <p:pic>
        <p:nvPicPr>
          <p:cNvPr id="38" name="Picture 37">
            <a:extLst>
              <a:ext uri="{FF2B5EF4-FFF2-40B4-BE49-F238E27FC236}">
                <a16:creationId xmlns:a16="http://schemas.microsoft.com/office/drawing/2014/main" id="{1E922845-B00E-A4E0-4A51-5D53DB024376}"/>
              </a:ext>
            </a:extLst>
          </p:cNvPr>
          <p:cNvPicPr>
            <a:picLocks noChangeAspect="1"/>
          </p:cNvPicPr>
          <p:nvPr/>
        </p:nvPicPr>
        <p:blipFill>
          <a:blip r:embed="rId13"/>
          <a:stretch>
            <a:fillRect/>
          </a:stretch>
        </p:blipFill>
        <p:spPr>
          <a:xfrm>
            <a:off x="9049074" y="3200114"/>
            <a:ext cx="792836" cy="847514"/>
          </a:xfrm>
          <a:prstGeom prst="rect">
            <a:avLst/>
          </a:prstGeom>
        </p:spPr>
      </p:pic>
      <p:sp>
        <p:nvSpPr>
          <p:cNvPr id="40" name="TextBox 39">
            <a:extLst>
              <a:ext uri="{FF2B5EF4-FFF2-40B4-BE49-F238E27FC236}">
                <a16:creationId xmlns:a16="http://schemas.microsoft.com/office/drawing/2014/main" id="{1F889882-5403-1871-B6D1-D02AD632C1F2}"/>
              </a:ext>
            </a:extLst>
          </p:cNvPr>
          <p:cNvSpPr txBox="1"/>
          <p:nvPr/>
        </p:nvSpPr>
        <p:spPr>
          <a:xfrm>
            <a:off x="6248513" y="4042380"/>
            <a:ext cx="1117027" cy="369332"/>
          </a:xfrm>
          <a:prstGeom prst="rect">
            <a:avLst/>
          </a:prstGeom>
          <a:noFill/>
        </p:spPr>
        <p:txBody>
          <a:bodyPr wrap="square">
            <a:spAutoFit/>
          </a:bodyPr>
          <a:lstStyle/>
          <a:p>
            <a:r>
              <a:rPr lang="en-US" b="1" dirty="0">
                <a:latin typeface="Google Sans Text"/>
              </a:rPr>
              <a:t>Fi</a:t>
            </a:r>
            <a:r>
              <a:rPr lang="en-GB" b="1" dirty="0" err="1">
                <a:latin typeface="Google Sans Text"/>
              </a:rPr>
              <a:t>lter</a:t>
            </a:r>
            <a:r>
              <a:rPr lang="en-GB" b="1" dirty="0">
                <a:latin typeface="Google Sans Text"/>
              </a:rPr>
              <a:t> 1</a:t>
            </a:r>
            <a:endParaRPr lang="en-GB" b="1" dirty="0"/>
          </a:p>
        </p:txBody>
      </p:sp>
      <p:sp>
        <p:nvSpPr>
          <p:cNvPr id="41" name="TextBox 40">
            <a:extLst>
              <a:ext uri="{FF2B5EF4-FFF2-40B4-BE49-F238E27FC236}">
                <a16:creationId xmlns:a16="http://schemas.microsoft.com/office/drawing/2014/main" id="{BB54BF68-A987-63D1-6A23-C36D4C3C5216}"/>
              </a:ext>
            </a:extLst>
          </p:cNvPr>
          <p:cNvSpPr txBox="1"/>
          <p:nvPr/>
        </p:nvSpPr>
        <p:spPr>
          <a:xfrm>
            <a:off x="7713064" y="4042380"/>
            <a:ext cx="1117027" cy="369332"/>
          </a:xfrm>
          <a:prstGeom prst="rect">
            <a:avLst/>
          </a:prstGeom>
          <a:noFill/>
        </p:spPr>
        <p:txBody>
          <a:bodyPr wrap="square">
            <a:spAutoFit/>
          </a:bodyPr>
          <a:lstStyle/>
          <a:p>
            <a:r>
              <a:rPr lang="en-US" b="1" dirty="0">
                <a:latin typeface="Google Sans Text"/>
              </a:rPr>
              <a:t>Fi</a:t>
            </a:r>
            <a:r>
              <a:rPr lang="en-GB" b="1" dirty="0" err="1">
                <a:latin typeface="Google Sans Text"/>
              </a:rPr>
              <a:t>lter</a:t>
            </a:r>
            <a:r>
              <a:rPr lang="en-GB" b="1" dirty="0">
                <a:latin typeface="Google Sans Text"/>
              </a:rPr>
              <a:t> 2</a:t>
            </a:r>
            <a:endParaRPr lang="en-GB" b="1" dirty="0"/>
          </a:p>
        </p:txBody>
      </p:sp>
      <p:sp>
        <p:nvSpPr>
          <p:cNvPr id="42" name="TextBox 41">
            <a:extLst>
              <a:ext uri="{FF2B5EF4-FFF2-40B4-BE49-F238E27FC236}">
                <a16:creationId xmlns:a16="http://schemas.microsoft.com/office/drawing/2014/main" id="{4F9B26F4-7A72-05E0-62B2-4F003371335F}"/>
              </a:ext>
            </a:extLst>
          </p:cNvPr>
          <p:cNvSpPr txBox="1"/>
          <p:nvPr/>
        </p:nvSpPr>
        <p:spPr>
          <a:xfrm>
            <a:off x="9049074" y="4020609"/>
            <a:ext cx="1117027" cy="369332"/>
          </a:xfrm>
          <a:prstGeom prst="rect">
            <a:avLst/>
          </a:prstGeom>
          <a:noFill/>
        </p:spPr>
        <p:txBody>
          <a:bodyPr wrap="square">
            <a:spAutoFit/>
          </a:bodyPr>
          <a:lstStyle/>
          <a:p>
            <a:r>
              <a:rPr lang="en-US" b="1" dirty="0">
                <a:latin typeface="Google Sans Text"/>
              </a:rPr>
              <a:t>Fi</a:t>
            </a:r>
            <a:r>
              <a:rPr lang="en-GB" b="1" dirty="0" err="1">
                <a:latin typeface="Google Sans Text"/>
              </a:rPr>
              <a:t>lter</a:t>
            </a:r>
            <a:r>
              <a:rPr lang="en-GB" b="1" dirty="0">
                <a:latin typeface="Google Sans Text"/>
              </a:rPr>
              <a:t> 3</a:t>
            </a:r>
            <a:endParaRPr lang="en-GB" b="1" dirty="0"/>
          </a:p>
        </p:txBody>
      </p:sp>
      <p:sp>
        <p:nvSpPr>
          <p:cNvPr id="43" name="TextBox 42">
            <a:extLst>
              <a:ext uri="{FF2B5EF4-FFF2-40B4-BE49-F238E27FC236}">
                <a16:creationId xmlns:a16="http://schemas.microsoft.com/office/drawing/2014/main" id="{952033CB-6335-5461-1F88-1D3285181728}"/>
              </a:ext>
            </a:extLst>
          </p:cNvPr>
          <p:cNvSpPr txBox="1"/>
          <p:nvPr/>
        </p:nvSpPr>
        <p:spPr>
          <a:xfrm>
            <a:off x="10165508" y="3124200"/>
            <a:ext cx="2017837" cy="1477328"/>
          </a:xfrm>
          <a:prstGeom prst="rect">
            <a:avLst/>
          </a:prstGeom>
          <a:noFill/>
        </p:spPr>
        <p:txBody>
          <a:bodyPr wrap="square">
            <a:spAutoFit/>
          </a:bodyPr>
          <a:lstStyle/>
          <a:p>
            <a:pPr marL="285750" indent="-285750">
              <a:buFont typeface="Arial" panose="020B0604020202020204" pitchFamily="34" charset="0"/>
              <a:buChar char="•"/>
            </a:pPr>
            <a:r>
              <a:rPr lang="en-US" b="1" dirty="0">
                <a:latin typeface="Google Sans Text"/>
              </a:rPr>
              <a:t>Pooling process </a:t>
            </a:r>
          </a:p>
          <a:p>
            <a:pPr marL="285750" indent="-285750">
              <a:buFont typeface="Arial" panose="020B0604020202020204" pitchFamily="34" charset="0"/>
              <a:buChar char="•"/>
            </a:pPr>
            <a:r>
              <a:rPr lang="en-US" b="1" dirty="0">
                <a:latin typeface="Google Sans Text"/>
              </a:rPr>
              <a:t>Task 1: </a:t>
            </a:r>
            <a:r>
              <a:rPr lang="en-US" dirty="0">
                <a:latin typeface="Google Sans Text"/>
              </a:rPr>
              <a:t>pattern recognition of edges and angles</a:t>
            </a:r>
            <a:endParaRPr lang="en-GB" dirty="0"/>
          </a:p>
        </p:txBody>
      </p:sp>
      <p:pic>
        <p:nvPicPr>
          <p:cNvPr id="47" name="Picture 46">
            <a:extLst>
              <a:ext uri="{FF2B5EF4-FFF2-40B4-BE49-F238E27FC236}">
                <a16:creationId xmlns:a16="http://schemas.microsoft.com/office/drawing/2014/main" id="{57B65D02-7002-20BB-EE20-04FCC5903B4D}"/>
              </a:ext>
            </a:extLst>
          </p:cNvPr>
          <p:cNvPicPr>
            <a:picLocks noChangeAspect="1"/>
          </p:cNvPicPr>
          <p:nvPr/>
        </p:nvPicPr>
        <p:blipFill>
          <a:blip r:embed="rId14"/>
          <a:stretch>
            <a:fillRect/>
          </a:stretch>
        </p:blipFill>
        <p:spPr>
          <a:xfrm>
            <a:off x="6328542" y="4586864"/>
            <a:ext cx="862031" cy="852235"/>
          </a:xfrm>
          <a:prstGeom prst="rect">
            <a:avLst/>
          </a:prstGeom>
        </p:spPr>
      </p:pic>
      <p:pic>
        <p:nvPicPr>
          <p:cNvPr id="49" name="Picture 48">
            <a:extLst>
              <a:ext uri="{FF2B5EF4-FFF2-40B4-BE49-F238E27FC236}">
                <a16:creationId xmlns:a16="http://schemas.microsoft.com/office/drawing/2014/main" id="{6D7AB019-22CD-BD2E-F4A1-4BACB7B8CEB8}"/>
              </a:ext>
            </a:extLst>
          </p:cNvPr>
          <p:cNvPicPr>
            <a:picLocks noChangeAspect="1"/>
          </p:cNvPicPr>
          <p:nvPr/>
        </p:nvPicPr>
        <p:blipFill>
          <a:blip r:embed="rId15"/>
          <a:stretch>
            <a:fillRect/>
          </a:stretch>
        </p:blipFill>
        <p:spPr>
          <a:xfrm>
            <a:off x="7838752" y="4586864"/>
            <a:ext cx="762784" cy="810960"/>
          </a:xfrm>
          <a:prstGeom prst="rect">
            <a:avLst/>
          </a:prstGeom>
        </p:spPr>
      </p:pic>
      <p:pic>
        <p:nvPicPr>
          <p:cNvPr id="51" name="Picture 50">
            <a:extLst>
              <a:ext uri="{FF2B5EF4-FFF2-40B4-BE49-F238E27FC236}">
                <a16:creationId xmlns:a16="http://schemas.microsoft.com/office/drawing/2014/main" id="{1931B9B8-79AD-B4DE-0099-C2F2539037F7}"/>
              </a:ext>
            </a:extLst>
          </p:cNvPr>
          <p:cNvPicPr>
            <a:picLocks noChangeAspect="1"/>
          </p:cNvPicPr>
          <p:nvPr/>
        </p:nvPicPr>
        <p:blipFill>
          <a:blip r:embed="rId16"/>
          <a:stretch>
            <a:fillRect/>
          </a:stretch>
        </p:blipFill>
        <p:spPr>
          <a:xfrm>
            <a:off x="9136025" y="4553076"/>
            <a:ext cx="762784" cy="832926"/>
          </a:xfrm>
          <a:prstGeom prst="rect">
            <a:avLst/>
          </a:prstGeom>
        </p:spPr>
      </p:pic>
      <p:pic>
        <p:nvPicPr>
          <p:cNvPr id="53" name="Picture 52">
            <a:extLst>
              <a:ext uri="{FF2B5EF4-FFF2-40B4-BE49-F238E27FC236}">
                <a16:creationId xmlns:a16="http://schemas.microsoft.com/office/drawing/2014/main" id="{496A97AD-F8EF-50BF-2991-C53247A2DC78}"/>
              </a:ext>
            </a:extLst>
          </p:cNvPr>
          <p:cNvPicPr>
            <a:picLocks noChangeAspect="1"/>
          </p:cNvPicPr>
          <p:nvPr/>
        </p:nvPicPr>
        <p:blipFill>
          <a:blip r:embed="rId17"/>
          <a:stretch>
            <a:fillRect/>
          </a:stretch>
        </p:blipFill>
        <p:spPr>
          <a:xfrm>
            <a:off x="6316593" y="5614251"/>
            <a:ext cx="784928" cy="723963"/>
          </a:xfrm>
          <a:prstGeom prst="rect">
            <a:avLst/>
          </a:prstGeom>
        </p:spPr>
      </p:pic>
      <p:pic>
        <p:nvPicPr>
          <p:cNvPr id="55" name="Picture 54">
            <a:extLst>
              <a:ext uri="{FF2B5EF4-FFF2-40B4-BE49-F238E27FC236}">
                <a16:creationId xmlns:a16="http://schemas.microsoft.com/office/drawing/2014/main" id="{E7A6CAD1-15EB-BA70-8D4A-BEB07A77AC89}"/>
              </a:ext>
            </a:extLst>
          </p:cNvPr>
          <p:cNvPicPr>
            <a:picLocks noChangeAspect="1"/>
          </p:cNvPicPr>
          <p:nvPr/>
        </p:nvPicPr>
        <p:blipFill>
          <a:blip r:embed="rId18"/>
          <a:stretch>
            <a:fillRect/>
          </a:stretch>
        </p:blipFill>
        <p:spPr>
          <a:xfrm>
            <a:off x="7909595" y="5642821"/>
            <a:ext cx="723963" cy="784928"/>
          </a:xfrm>
          <a:prstGeom prst="rect">
            <a:avLst/>
          </a:prstGeom>
        </p:spPr>
      </p:pic>
      <p:pic>
        <p:nvPicPr>
          <p:cNvPr id="57" name="Picture 56">
            <a:extLst>
              <a:ext uri="{FF2B5EF4-FFF2-40B4-BE49-F238E27FC236}">
                <a16:creationId xmlns:a16="http://schemas.microsoft.com/office/drawing/2014/main" id="{6B7BFB06-CF2D-C653-0F70-FD9360C58C08}"/>
              </a:ext>
            </a:extLst>
          </p:cNvPr>
          <p:cNvPicPr>
            <a:picLocks noChangeAspect="1"/>
          </p:cNvPicPr>
          <p:nvPr/>
        </p:nvPicPr>
        <p:blipFill>
          <a:blip r:embed="rId19"/>
          <a:stretch>
            <a:fillRect/>
          </a:stretch>
        </p:blipFill>
        <p:spPr>
          <a:xfrm>
            <a:off x="9306133" y="5684388"/>
            <a:ext cx="693480" cy="853514"/>
          </a:xfrm>
          <a:prstGeom prst="rect">
            <a:avLst/>
          </a:prstGeom>
        </p:spPr>
      </p:pic>
      <p:sp>
        <p:nvSpPr>
          <p:cNvPr id="59" name="TextBox 58">
            <a:extLst>
              <a:ext uri="{FF2B5EF4-FFF2-40B4-BE49-F238E27FC236}">
                <a16:creationId xmlns:a16="http://schemas.microsoft.com/office/drawing/2014/main" id="{727E2FC0-EB19-CDC8-3C95-5B0640AA53C4}"/>
              </a:ext>
            </a:extLst>
          </p:cNvPr>
          <p:cNvSpPr txBox="1"/>
          <p:nvPr/>
        </p:nvSpPr>
        <p:spPr>
          <a:xfrm>
            <a:off x="10036378" y="4639270"/>
            <a:ext cx="2405743" cy="923330"/>
          </a:xfrm>
          <a:prstGeom prst="rect">
            <a:avLst/>
          </a:prstGeom>
          <a:noFill/>
        </p:spPr>
        <p:txBody>
          <a:bodyPr wrap="square">
            <a:spAutoFit/>
          </a:bodyPr>
          <a:lstStyle/>
          <a:p>
            <a:pPr marL="285750" indent="-285750">
              <a:buFont typeface="Arial" panose="020B0604020202020204" pitchFamily="34" charset="0"/>
              <a:buChar char="•"/>
            </a:pPr>
            <a:r>
              <a:rPr lang="en-US" b="1" dirty="0">
                <a:latin typeface="Google Sans Text"/>
              </a:rPr>
              <a:t>Task 2: </a:t>
            </a:r>
            <a:r>
              <a:rPr lang="en-US" dirty="0">
                <a:latin typeface="Google Sans Text"/>
              </a:rPr>
              <a:t>pattern recognition of house components</a:t>
            </a:r>
            <a:endParaRPr lang="en-GB" dirty="0"/>
          </a:p>
        </p:txBody>
      </p:sp>
      <p:sp>
        <p:nvSpPr>
          <p:cNvPr id="60" name="TextBox 59">
            <a:extLst>
              <a:ext uri="{FF2B5EF4-FFF2-40B4-BE49-F238E27FC236}">
                <a16:creationId xmlns:a16="http://schemas.microsoft.com/office/drawing/2014/main" id="{E9EE5346-7735-A46A-EDFF-3723BFAC455C}"/>
              </a:ext>
            </a:extLst>
          </p:cNvPr>
          <p:cNvSpPr txBox="1"/>
          <p:nvPr/>
        </p:nvSpPr>
        <p:spPr>
          <a:xfrm>
            <a:off x="10133444" y="5696397"/>
            <a:ext cx="1955383" cy="923330"/>
          </a:xfrm>
          <a:prstGeom prst="rect">
            <a:avLst/>
          </a:prstGeom>
          <a:noFill/>
        </p:spPr>
        <p:txBody>
          <a:bodyPr wrap="square">
            <a:spAutoFit/>
          </a:bodyPr>
          <a:lstStyle/>
          <a:p>
            <a:pPr marL="285750" indent="-285750">
              <a:buFont typeface="Arial" panose="020B0604020202020204" pitchFamily="34" charset="0"/>
              <a:buChar char="•"/>
            </a:pPr>
            <a:r>
              <a:rPr lang="en-US" b="1" dirty="0">
                <a:latin typeface="Google Sans Text"/>
              </a:rPr>
              <a:t>Task 3: </a:t>
            </a:r>
            <a:r>
              <a:rPr lang="en-US" dirty="0">
                <a:latin typeface="Google Sans Text"/>
              </a:rPr>
              <a:t>pattern recognition of type of building</a:t>
            </a:r>
            <a:endParaRPr lang="en-GB" dirty="0"/>
          </a:p>
        </p:txBody>
      </p:sp>
      <p:cxnSp>
        <p:nvCxnSpPr>
          <p:cNvPr id="61" name="Straight Arrow Connector 60">
            <a:extLst>
              <a:ext uri="{FF2B5EF4-FFF2-40B4-BE49-F238E27FC236}">
                <a16:creationId xmlns:a16="http://schemas.microsoft.com/office/drawing/2014/main" id="{05F482C3-2BA4-591C-73A8-485E5F80C48B}"/>
              </a:ext>
            </a:extLst>
          </p:cNvPr>
          <p:cNvCxnSpPr>
            <a:cxnSpLocks/>
            <a:stCxn id="6" idx="3"/>
          </p:cNvCxnSpPr>
          <p:nvPr/>
        </p:nvCxnSpPr>
        <p:spPr>
          <a:xfrm>
            <a:off x="2248500" y="1087779"/>
            <a:ext cx="4138896" cy="4005"/>
          </a:xfrm>
          <a:prstGeom prst="straightConnector1">
            <a:avLst/>
          </a:prstGeom>
          <a:ln w="44450">
            <a:solidFill>
              <a:srgbClr val="FC68F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9B3470E-FA47-112A-625C-471F4C398443}"/>
              </a:ext>
            </a:extLst>
          </p:cNvPr>
          <p:cNvSpPr/>
          <p:nvPr/>
        </p:nvSpPr>
        <p:spPr>
          <a:xfrm>
            <a:off x="1520037" y="762000"/>
            <a:ext cx="728463" cy="651557"/>
          </a:xfrm>
          <a:prstGeom prst="rect">
            <a:avLst/>
          </a:prstGeom>
          <a:noFill/>
          <a:ln w="53975">
            <a:solidFill>
              <a:srgbClr val="C8E5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3662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P spid="22" grpId="0"/>
      <p:bldP spid="25" grpId="0"/>
      <p:bldP spid="40" grpId="0"/>
      <p:bldP spid="41" grpId="0"/>
      <p:bldP spid="42" grpId="0"/>
      <p:bldP spid="43" grpId="0"/>
      <p:bldP spid="59" grpId="0"/>
      <p:bldP spid="60" grpId="0"/>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2DB5BE-48EE-1DED-B5F5-6C2FEDA36BC6}"/>
              </a:ext>
            </a:extLst>
          </p:cNvPr>
          <p:cNvSpPr txBox="1"/>
          <p:nvPr/>
        </p:nvSpPr>
        <p:spPr>
          <a:xfrm>
            <a:off x="2514600" y="0"/>
            <a:ext cx="7556390" cy="523220"/>
          </a:xfrm>
          <a:prstGeom prst="rect">
            <a:avLst/>
          </a:prstGeom>
          <a:noFill/>
        </p:spPr>
        <p:txBody>
          <a:bodyPr wrap="square">
            <a:spAutoFit/>
          </a:bodyPr>
          <a:lstStyle/>
          <a:p>
            <a:r>
              <a:rPr lang="en-GB" sz="2800" dirty="0">
                <a:solidFill>
                  <a:srgbClr val="92D050"/>
                </a:solidFill>
                <a:latin typeface="Consolas"/>
              </a:rPr>
              <a:t>Generative Adversarial Network (GAN)</a:t>
            </a:r>
          </a:p>
        </p:txBody>
      </p:sp>
      <p:sp>
        <p:nvSpPr>
          <p:cNvPr id="3" name="Rectangle 2">
            <a:extLst>
              <a:ext uri="{FF2B5EF4-FFF2-40B4-BE49-F238E27FC236}">
                <a16:creationId xmlns:a16="http://schemas.microsoft.com/office/drawing/2014/main" id="{488AB1C2-E5F3-A838-0A1C-40A995B142AB}"/>
              </a:ext>
            </a:extLst>
          </p:cNvPr>
          <p:cNvSpPr/>
          <p:nvPr/>
        </p:nvSpPr>
        <p:spPr>
          <a:xfrm>
            <a:off x="1600200" y="1798176"/>
            <a:ext cx="1219200" cy="609600"/>
          </a:xfrm>
          <a:prstGeom prst="rect">
            <a:avLst/>
          </a:prstGeom>
          <a:solidFill>
            <a:srgbClr val="FC68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Input</a:t>
            </a:r>
            <a:endParaRPr lang="en-GB" b="1" dirty="0">
              <a:solidFill>
                <a:schemeClr val="tx1"/>
              </a:solidFill>
            </a:endParaRPr>
          </a:p>
        </p:txBody>
      </p:sp>
      <p:sp>
        <p:nvSpPr>
          <p:cNvPr id="6" name="Rectangle 5">
            <a:extLst>
              <a:ext uri="{FF2B5EF4-FFF2-40B4-BE49-F238E27FC236}">
                <a16:creationId xmlns:a16="http://schemas.microsoft.com/office/drawing/2014/main" id="{BD798845-CA83-4DBA-FA25-5880AF477DA9}"/>
              </a:ext>
            </a:extLst>
          </p:cNvPr>
          <p:cNvSpPr/>
          <p:nvPr/>
        </p:nvSpPr>
        <p:spPr>
          <a:xfrm>
            <a:off x="1600200" y="2941176"/>
            <a:ext cx="1219200" cy="609600"/>
          </a:xfrm>
          <a:prstGeom prst="rect">
            <a:avLst/>
          </a:prstGeom>
          <a:solidFill>
            <a:srgbClr val="FC68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Model</a:t>
            </a:r>
            <a:endParaRPr lang="en-GB" b="1" dirty="0">
              <a:solidFill>
                <a:schemeClr val="tx1"/>
              </a:solidFill>
            </a:endParaRPr>
          </a:p>
        </p:txBody>
      </p:sp>
      <p:sp>
        <p:nvSpPr>
          <p:cNvPr id="8" name="Rectangle 7">
            <a:extLst>
              <a:ext uri="{FF2B5EF4-FFF2-40B4-BE49-F238E27FC236}">
                <a16:creationId xmlns:a16="http://schemas.microsoft.com/office/drawing/2014/main" id="{FAC7764A-11FD-3330-A0D7-2BAB17B2836C}"/>
              </a:ext>
            </a:extLst>
          </p:cNvPr>
          <p:cNvSpPr/>
          <p:nvPr/>
        </p:nvSpPr>
        <p:spPr>
          <a:xfrm>
            <a:off x="1600200" y="4084176"/>
            <a:ext cx="1219200" cy="609600"/>
          </a:xfrm>
          <a:prstGeom prst="rect">
            <a:avLst/>
          </a:prstGeom>
          <a:solidFill>
            <a:srgbClr val="FC68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Predicted Output</a:t>
            </a:r>
            <a:endParaRPr lang="en-GB" b="1" dirty="0">
              <a:solidFill>
                <a:schemeClr val="tx1"/>
              </a:solidFill>
            </a:endParaRPr>
          </a:p>
        </p:txBody>
      </p:sp>
      <p:sp>
        <p:nvSpPr>
          <p:cNvPr id="9" name="Rectangle 8">
            <a:extLst>
              <a:ext uri="{FF2B5EF4-FFF2-40B4-BE49-F238E27FC236}">
                <a16:creationId xmlns:a16="http://schemas.microsoft.com/office/drawing/2014/main" id="{4E9C5799-9814-2290-64B6-78ACA1FA14A7}"/>
              </a:ext>
            </a:extLst>
          </p:cNvPr>
          <p:cNvSpPr/>
          <p:nvPr/>
        </p:nvSpPr>
        <p:spPr>
          <a:xfrm>
            <a:off x="3200400" y="4084176"/>
            <a:ext cx="1219200" cy="609600"/>
          </a:xfrm>
          <a:prstGeom prst="rect">
            <a:avLst/>
          </a:prstGeom>
          <a:solidFill>
            <a:srgbClr val="FC68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Expected Output</a:t>
            </a:r>
            <a:endParaRPr lang="en-GB" b="1" dirty="0">
              <a:solidFill>
                <a:schemeClr val="tx1"/>
              </a:solidFill>
            </a:endParaRPr>
          </a:p>
        </p:txBody>
      </p:sp>
      <p:sp>
        <p:nvSpPr>
          <p:cNvPr id="14" name="Rectangle 13">
            <a:extLst>
              <a:ext uri="{FF2B5EF4-FFF2-40B4-BE49-F238E27FC236}">
                <a16:creationId xmlns:a16="http://schemas.microsoft.com/office/drawing/2014/main" id="{836C017F-5E67-F384-AAF0-FB9CB709324F}"/>
              </a:ext>
            </a:extLst>
          </p:cNvPr>
          <p:cNvSpPr/>
          <p:nvPr/>
        </p:nvSpPr>
        <p:spPr>
          <a:xfrm>
            <a:off x="1676400" y="5840493"/>
            <a:ext cx="1219200" cy="609600"/>
          </a:xfrm>
          <a:prstGeom prst="rect">
            <a:avLst/>
          </a:prstGeom>
          <a:solidFill>
            <a:srgbClr val="FC68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Update</a:t>
            </a:r>
            <a:endParaRPr lang="en-GB" b="1" dirty="0">
              <a:solidFill>
                <a:schemeClr val="tx1"/>
              </a:solidFill>
            </a:endParaRPr>
          </a:p>
        </p:txBody>
      </p:sp>
      <p:cxnSp>
        <p:nvCxnSpPr>
          <p:cNvPr id="16" name="Straight Arrow Connector 15">
            <a:extLst>
              <a:ext uri="{FF2B5EF4-FFF2-40B4-BE49-F238E27FC236}">
                <a16:creationId xmlns:a16="http://schemas.microsoft.com/office/drawing/2014/main" id="{566974EE-7D5B-C8AA-4C0E-79675F062699}"/>
              </a:ext>
            </a:extLst>
          </p:cNvPr>
          <p:cNvCxnSpPr>
            <a:cxnSpLocks/>
            <a:endCxn id="6" idx="1"/>
          </p:cNvCxnSpPr>
          <p:nvPr/>
        </p:nvCxnSpPr>
        <p:spPr>
          <a:xfrm>
            <a:off x="951107" y="3245976"/>
            <a:ext cx="649093" cy="0"/>
          </a:xfrm>
          <a:prstGeom prst="straightConnector1">
            <a:avLst/>
          </a:prstGeom>
          <a:ln w="5080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C7CC99B-549B-91E4-DFEA-C5077C0BD819}"/>
              </a:ext>
            </a:extLst>
          </p:cNvPr>
          <p:cNvCxnSpPr>
            <a:cxnSpLocks/>
          </p:cNvCxnSpPr>
          <p:nvPr/>
        </p:nvCxnSpPr>
        <p:spPr>
          <a:xfrm>
            <a:off x="971550" y="3244117"/>
            <a:ext cx="0" cy="2899317"/>
          </a:xfrm>
          <a:prstGeom prst="line">
            <a:avLst/>
          </a:prstGeom>
          <a:ln w="50800">
            <a:solidFill>
              <a:srgbClr val="C8E5C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DB0E619-DE81-84ED-AB89-612DE574B952}"/>
              </a:ext>
            </a:extLst>
          </p:cNvPr>
          <p:cNvCxnSpPr>
            <a:cxnSpLocks/>
            <a:endCxn id="14" idx="1"/>
          </p:cNvCxnSpPr>
          <p:nvPr/>
        </p:nvCxnSpPr>
        <p:spPr>
          <a:xfrm>
            <a:off x="951107" y="6145293"/>
            <a:ext cx="725293" cy="0"/>
          </a:xfrm>
          <a:prstGeom prst="line">
            <a:avLst/>
          </a:prstGeom>
          <a:ln w="31750">
            <a:solidFill>
              <a:srgbClr val="FC68F1"/>
            </a:solidFill>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4E46C68-DAC2-C473-B3B5-9F0DF9225209}"/>
              </a:ext>
            </a:extLst>
          </p:cNvPr>
          <p:cNvCxnSpPr/>
          <p:nvPr/>
        </p:nvCxnSpPr>
        <p:spPr>
          <a:xfrm>
            <a:off x="2209800" y="2407776"/>
            <a:ext cx="0" cy="533400"/>
          </a:xfrm>
          <a:prstGeom prst="straightConnector1">
            <a:avLst/>
          </a:prstGeom>
          <a:ln w="5080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4B0DECC-69E4-97AA-4BEA-5F8C636655F3}"/>
              </a:ext>
            </a:extLst>
          </p:cNvPr>
          <p:cNvCxnSpPr/>
          <p:nvPr/>
        </p:nvCxnSpPr>
        <p:spPr>
          <a:xfrm>
            <a:off x="2237677" y="3550776"/>
            <a:ext cx="0" cy="533400"/>
          </a:xfrm>
          <a:prstGeom prst="straightConnector1">
            <a:avLst/>
          </a:prstGeom>
          <a:ln w="5080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2958675-1964-65DD-1624-0DB646100971}"/>
              </a:ext>
            </a:extLst>
          </p:cNvPr>
          <p:cNvCxnSpPr>
            <a:cxnSpLocks/>
          </p:cNvCxnSpPr>
          <p:nvPr/>
        </p:nvCxnSpPr>
        <p:spPr>
          <a:xfrm>
            <a:off x="2237677" y="4769976"/>
            <a:ext cx="0" cy="1066800"/>
          </a:xfrm>
          <a:prstGeom prst="straightConnector1">
            <a:avLst/>
          </a:prstGeom>
          <a:ln w="5080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87B1EEB-2A06-22D0-F689-C20502674CEE}"/>
              </a:ext>
            </a:extLst>
          </p:cNvPr>
          <p:cNvCxnSpPr>
            <a:cxnSpLocks/>
          </p:cNvCxnSpPr>
          <p:nvPr/>
        </p:nvCxnSpPr>
        <p:spPr>
          <a:xfrm flipH="1">
            <a:off x="2942526" y="4769976"/>
            <a:ext cx="876300" cy="1059365"/>
          </a:xfrm>
          <a:prstGeom prst="straightConnector1">
            <a:avLst/>
          </a:prstGeom>
          <a:ln w="5080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4429E2A-0058-34CF-5F3F-CBFA9E1A29C5}"/>
              </a:ext>
            </a:extLst>
          </p:cNvPr>
          <p:cNvCxnSpPr>
            <a:cxnSpLocks/>
          </p:cNvCxnSpPr>
          <p:nvPr/>
        </p:nvCxnSpPr>
        <p:spPr>
          <a:xfrm>
            <a:off x="971550" y="6145293"/>
            <a:ext cx="725293" cy="0"/>
          </a:xfrm>
          <a:prstGeom prst="line">
            <a:avLst/>
          </a:prstGeom>
          <a:ln w="50800">
            <a:solidFill>
              <a:srgbClr val="C8E5C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3FDE91C-AF6C-B09E-EFD0-C1FF7F5E799F}"/>
              </a:ext>
            </a:extLst>
          </p:cNvPr>
          <p:cNvSpPr txBox="1"/>
          <p:nvPr/>
        </p:nvSpPr>
        <p:spPr>
          <a:xfrm>
            <a:off x="1551876" y="773077"/>
            <a:ext cx="1828800" cy="830997"/>
          </a:xfrm>
          <a:prstGeom prst="rect">
            <a:avLst/>
          </a:prstGeom>
          <a:noFill/>
        </p:spPr>
        <p:txBody>
          <a:bodyPr wrap="square">
            <a:spAutoFit/>
          </a:bodyPr>
          <a:lstStyle/>
          <a:p>
            <a:r>
              <a:rPr lang="en-GB" altLang="en-US" sz="2400" b="1" dirty="0">
                <a:latin typeface="Google Sans Text"/>
              </a:rPr>
              <a:t>Supervised Learning</a:t>
            </a:r>
            <a:endParaRPr lang="en-GB" sz="2400" b="1" dirty="0"/>
          </a:p>
        </p:txBody>
      </p:sp>
      <p:sp>
        <p:nvSpPr>
          <p:cNvPr id="35" name="TextBox 34">
            <a:extLst>
              <a:ext uri="{FF2B5EF4-FFF2-40B4-BE49-F238E27FC236}">
                <a16:creationId xmlns:a16="http://schemas.microsoft.com/office/drawing/2014/main" id="{362CFD11-C1DA-EFDA-1F4E-29F6122D6130}"/>
              </a:ext>
            </a:extLst>
          </p:cNvPr>
          <p:cNvSpPr txBox="1"/>
          <p:nvPr/>
        </p:nvSpPr>
        <p:spPr>
          <a:xfrm>
            <a:off x="7391400" y="538014"/>
            <a:ext cx="4343400" cy="830997"/>
          </a:xfrm>
          <a:prstGeom prst="rect">
            <a:avLst/>
          </a:prstGeom>
          <a:noFill/>
        </p:spPr>
        <p:txBody>
          <a:bodyPr wrap="square">
            <a:spAutoFit/>
          </a:bodyPr>
          <a:lstStyle/>
          <a:p>
            <a:r>
              <a:rPr lang="en-GB" altLang="en-US" sz="2400" b="1" dirty="0">
                <a:latin typeface="Google Sans Text"/>
              </a:rPr>
              <a:t>Unsupervised Learning </a:t>
            </a:r>
          </a:p>
          <a:p>
            <a:r>
              <a:rPr lang="en-GB" altLang="en-US" sz="2400" b="1" dirty="0">
                <a:latin typeface="Google Sans Text"/>
              </a:rPr>
              <a:t>(it effectively supervised itself)</a:t>
            </a:r>
            <a:endParaRPr lang="en-GB" sz="2400" b="1" dirty="0"/>
          </a:p>
        </p:txBody>
      </p:sp>
      <p:sp>
        <p:nvSpPr>
          <p:cNvPr id="36" name="Rectangle 35">
            <a:extLst>
              <a:ext uri="{FF2B5EF4-FFF2-40B4-BE49-F238E27FC236}">
                <a16:creationId xmlns:a16="http://schemas.microsoft.com/office/drawing/2014/main" id="{C1B92BEE-0AB3-57E0-91B0-4B3041EE9D4D}"/>
              </a:ext>
            </a:extLst>
          </p:cNvPr>
          <p:cNvSpPr/>
          <p:nvPr/>
        </p:nvSpPr>
        <p:spPr>
          <a:xfrm>
            <a:off x="8686800" y="1568762"/>
            <a:ext cx="1219200" cy="609600"/>
          </a:xfrm>
          <a:prstGeom prst="rect">
            <a:avLst/>
          </a:prstGeom>
          <a:solidFill>
            <a:srgbClr val="FC68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Generator</a:t>
            </a:r>
            <a:endParaRPr lang="en-GB" b="1" dirty="0">
              <a:solidFill>
                <a:schemeClr val="tx1"/>
              </a:solidFill>
            </a:endParaRPr>
          </a:p>
        </p:txBody>
      </p:sp>
      <p:sp>
        <p:nvSpPr>
          <p:cNvPr id="37" name="Rectangle 36">
            <a:extLst>
              <a:ext uri="{FF2B5EF4-FFF2-40B4-BE49-F238E27FC236}">
                <a16:creationId xmlns:a16="http://schemas.microsoft.com/office/drawing/2014/main" id="{3AF2FB06-89A8-85EF-F4EA-3224C7C3559B}"/>
              </a:ext>
            </a:extLst>
          </p:cNvPr>
          <p:cNvSpPr/>
          <p:nvPr/>
        </p:nvSpPr>
        <p:spPr>
          <a:xfrm>
            <a:off x="8373176" y="4509623"/>
            <a:ext cx="1862253" cy="609600"/>
          </a:xfrm>
          <a:prstGeom prst="rect">
            <a:avLst/>
          </a:prstGeom>
          <a:solidFill>
            <a:srgbClr val="FC68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Discriminator</a:t>
            </a:r>
            <a:endParaRPr lang="en-GB" b="1" dirty="0">
              <a:solidFill>
                <a:schemeClr val="tx1"/>
              </a:solidFill>
            </a:endParaRPr>
          </a:p>
        </p:txBody>
      </p:sp>
      <p:cxnSp>
        <p:nvCxnSpPr>
          <p:cNvPr id="38" name="Straight Arrow Connector 37">
            <a:extLst>
              <a:ext uri="{FF2B5EF4-FFF2-40B4-BE49-F238E27FC236}">
                <a16:creationId xmlns:a16="http://schemas.microsoft.com/office/drawing/2014/main" id="{B51507DC-3D18-0E31-A074-BA2FCA13EE77}"/>
              </a:ext>
            </a:extLst>
          </p:cNvPr>
          <p:cNvCxnSpPr/>
          <p:nvPr/>
        </p:nvCxnSpPr>
        <p:spPr>
          <a:xfrm>
            <a:off x="9296400" y="2102976"/>
            <a:ext cx="0" cy="533400"/>
          </a:xfrm>
          <a:prstGeom prst="straightConnector1">
            <a:avLst/>
          </a:prstGeom>
          <a:ln w="50800">
            <a:solidFill>
              <a:srgbClr val="C8E5C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921E8D7-5C11-A062-DEB6-5EEBDD8BB773}"/>
              </a:ext>
            </a:extLst>
          </p:cNvPr>
          <p:cNvSpPr/>
          <p:nvPr/>
        </p:nvSpPr>
        <p:spPr>
          <a:xfrm>
            <a:off x="8500018" y="2634517"/>
            <a:ext cx="1592763" cy="6096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Creates fake samples</a:t>
            </a:r>
            <a:endParaRPr lang="en-GB" b="1" dirty="0">
              <a:solidFill>
                <a:schemeClr val="tx1"/>
              </a:solidFill>
            </a:endParaRPr>
          </a:p>
        </p:txBody>
      </p:sp>
      <p:sp>
        <p:nvSpPr>
          <p:cNvPr id="40" name="Rectangle 39">
            <a:extLst>
              <a:ext uri="{FF2B5EF4-FFF2-40B4-BE49-F238E27FC236}">
                <a16:creationId xmlns:a16="http://schemas.microsoft.com/office/drawing/2014/main" id="{0BE68238-2CC8-ADBE-F5B2-9AD80D02AEBA}"/>
              </a:ext>
            </a:extLst>
          </p:cNvPr>
          <p:cNvSpPr/>
          <p:nvPr/>
        </p:nvSpPr>
        <p:spPr>
          <a:xfrm>
            <a:off x="8500018" y="5516219"/>
            <a:ext cx="1592763" cy="609600"/>
          </a:xfrm>
          <a:prstGeom prst="rect">
            <a:avLst/>
          </a:prstGeom>
          <a:solidFill>
            <a:srgbClr val="0419D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Real</a:t>
            </a:r>
          </a:p>
          <a:p>
            <a:pPr algn="ctr"/>
            <a:r>
              <a:rPr lang="en-US" b="1" dirty="0">
                <a:solidFill>
                  <a:schemeClr val="tx1"/>
                </a:solidFill>
              </a:rPr>
              <a:t>samples</a:t>
            </a:r>
            <a:endParaRPr lang="en-GB" b="1" dirty="0">
              <a:solidFill>
                <a:schemeClr val="tx1"/>
              </a:solidFill>
            </a:endParaRPr>
          </a:p>
        </p:txBody>
      </p:sp>
      <p:cxnSp>
        <p:nvCxnSpPr>
          <p:cNvPr id="41" name="Straight Arrow Connector 40">
            <a:extLst>
              <a:ext uri="{FF2B5EF4-FFF2-40B4-BE49-F238E27FC236}">
                <a16:creationId xmlns:a16="http://schemas.microsoft.com/office/drawing/2014/main" id="{895BCACB-E42F-E45A-073B-35BBECDF7073}"/>
              </a:ext>
            </a:extLst>
          </p:cNvPr>
          <p:cNvCxnSpPr>
            <a:cxnSpLocks/>
            <a:stCxn id="40" idx="0"/>
            <a:endCxn id="37" idx="2"/>
          </p:cNvCxnSpPr>
          <p:nvPr/>
        </p:nvCxnSpPr>
        <p:spPr>
          <a:xfrm flipV="1">
            <a:off x="9296400" y="5119223"/>
            <a:ext cx="7903" cy="396996"/>
          </a:xfrm>
          <a:prstGeom prst="straightConnector1">
            <a:avLst/>
          </a:prstGeom>
          <a:ln w="50800">
            <a:solidFill>
              <a:srgbClr val="C8E5C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72B4197-0BF3-CF86-19BE-FF87CD457757}"/>
              </a:ext>
            </a:extLst>
          </p:cNvPr>
          <p:cNvCxnSpPr>
            <a:cxnSpLocks/>
            <a:endCxn id="37" idx="0"/>
          </p:cNvCxnSpPr>
          <p:nvPr/>
        </p:nvCxnSpPr>
        <p:spPr>
          <a:xfrm>
            <a:off x="9304302" y="3219799"/>
            <a:ext cx="1" cy="1289824"/>
          </a:xfrm>
          <a:prstGeom prst="straightConnector1">
            <a:avLst/>
          </a:prstGeom>
          <a:ln w="50800">
            <a:solidFill>
              <a:srgbClr val="C8E5C1"/>
            </a:solidFill>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4ED9B239-4078-1FC1-7ABB-7FF77AC84BDA}"/>
              </a:ext>
            </a:extLst>
          </p:cNvPr>
          <p:cNvSpPr/>
          <p:nvPr/>
        </p:nvSpPr>
        <p:spPr>
          <a:xfrm>
            <a:off x="8569250" y="6253808"/>
            <a:ext cx="1532824" cy="5380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Domain</a:t>
            </a:r>
            <a:endParaRPr lang="en-GB" b="1" dirty="0"/>
          </a:p>
        </p:txBody>
      </p:sp>
      <p:sp>
        <p:nvSpPr>
          <p:cNvPr id="50" name="TextBox 49">
            <a:extLst>
              <a:ext uri="{FF2B5EF4-FFF2-40B4-BE49-F238E27FC236}">
                <a16:creationId xmlns:a16="http://schemas.microsoft.com/office/drawing/2014/main" id="{DCE6ECCA-BD0B-CF4F-91D8-2BB8BE09E310}"/>
              </a:ext>
            </a:extLst>
          </p:cNvPr>
          <p:cNvSpPr txBox="1"/>
          <p:nvPr/>
        </p:nvSpPr>
        <p:spPr>
          <a:xfrm>
            <a:off x="8002737" y="1724194"/>
            <a:ext cx="994562" cy="369332"/>
          </a:xfrm>
          <a:prstGeom prst="rect">
            <a:avLst/>
          </a:prstGeom>
          <a:noFill/>
        </p:spPr>
        <p:txBody>
          <a:bodyPr wrap="square">
            <a:spAutoFit/>
          </a:bodyPr>
          <a:lstStyle/>
          <a:p>
            <a:r>
              <a:rPr lang="en-GB" sz="1800" b="1" dirty="0">
                <a:solidFill>
                  <a:srgbClr val="92D050"/>
                </a:solidFill>
                <a:latin typeface="Consolas"/>
              </a:rPr>
              <a:t>CNN</a:t>
            </a:r>
            <a:endParaRPr lang="en-GB" b="1" dirty="0"/>
          </a:p>
        </p:txBody>
      </p:sp>
      <p:sp>
        <p:nvSpPr>
          <p:cNvPr id="51" name="TextBox 50">
            <a:extLst>
              <a:ext uri="{FF2B5EF4-FFF2-40B4-BE49-F238E27FC236}">
                <a16:creationId xmlns:a16="http://schemas.microsoft.com/office/drawing/2014/main" id="{23C5F1B0-FED9-953E-4E22-DE0128DF99EA}"/>
              </a:ext>
            </a:extLst>
          </p:cNvPr>
          <p:cNvSpPr txBox="1"/>
          <p:nvPr/>
        </p:nvSpPr>
        <p:spPr>
          <a:xfrm>
            <a:off x="7738948" y="4629757"/>
            <a:ext cx="994562" cy="369332"/>
          </a:xfrm>
          <a:prstGeom prst="rect">
            <a:avLst/>
          </a:prstGeom>
          <a:noFill/>
        </p:spPr>
        <p:txBody>
          <a:bodyPr wrap="square">
            <a:spAutoFit/>
          </a:bodyPr>
          <a:lstStyle/>
          <a:p>
            <a:r>
              <a:rPr lang="en-GB" sz="1800" b="1" dirty="0">
                <a:solidFill>
                  <a:srgbClr val="92D050"/>
                </a:solidFill>
                <a:latin typeface="Consolas"/>
              </a:rPr>
              <a:t>CNN</a:t>
            </a:r>
            <a:endParaRPr lang="en-GB" b="1" dirty="0"/>
          </a:p>
        </p:txBody>
      </p:sp>
    </p:spTree>
    <p:extLst>
      <p:ext uri="{BB962C8B-B14F-4D97-AF65-F5344CB8AC3E}">
        <p14:creationId xmlns:p14="http://schemas.microsoft.com/office/powerpoint/2010/main" val="2662604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Lst>
  </p:timing>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901026.potx" id="{FD85E87A-7813-4F67-9E59-69B5487A1910}" vid="{BDF94C36-3ACF-4CF1-939F-F4211E6D666F}"/>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technology circuit board design presentation (widescreen)</Template>
  <TotalTime>6003</TotalTime>
  <Words>1431</Words>
  <Application>Microsoft Office PowerPoint</Application>
  <PresentationFormat>Widescreen</PresentationFormat>
  <Paragraphs>558</Paragraphs>
  <Slides>33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Arial</vt:lpstr>
      <vt:lpstr>Cambria Math</vt:lpstr>
      <vt:lpstr>Candara</vt:lpstr>
      <vt:lpstr>Consolas</vt:lpstr>
      <vt:lpstr>Google Sans Text</vt:lpstr>
      <vt:lpstr>Tech Computer 16x9</vt:lpstr>
      <vt:lpstr>Deep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Konstantinos Bougioukas</dc:creator>
  <cp:lastModifiedBy>Konstantinos Bougioukas</cp:lastModifiedBy>
  <cp:revision>511</cp:revision>
  <dcterms:created xsi:type="dcterms:W3CDTF">2026-02-07T19:38:03Z</dcterms:created>
  <dcterms:modified xsi:type="dcterms:W3CDTF">2026-03-18T11:42:20Z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